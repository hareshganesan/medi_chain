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465D5C-0019-5A96-5143-AA747D65204C}">
          <p14:sldIdLst>
            <p14:sldId id="256"/>
            <p14:sldId id="257"/>
            <p14:sldId id="258"/>
          </p14:sldIdLst>
        </p14:section>
        <p14:section name="Design" id="{58B7F3E2-DFA5-933D-F6A0-A6FA8F841B11}">
          <p14:sldIdLst>
            <p14:sldId id="259"/>
            <p14:sldId id="260"/>
            <p14:sldId id="261"/>
            <p14:sldId id="262"/>
            <p14:sldId id="263"/>
          </p14:sldIdLst>
        </p14:section>
        <p14:section name="Implementation" id="{F98010A4-4797-1DB8-9E55-E8ECB8870C6F}">
          <p14:sldIdLst>
            <p14:sldId id="264"/>
            <p14:sldId id="265"/>
            <p14:sldId id="266"/>
            <p14:sldId id="267"/>
            <p14:sldId id="268"/>
          </p14:sldIdLst>
        </p14:section>
        <p14:section name="Testing" id="{F482C4B4-24F8-8138-10A0-60B5C7ADF1CB}">
          <p14:sldIdLst>
            <p14:sldId id="269"/>
            <p14:sldId id="270"/>
          </p14:sldIdLst>
        </p14:section>
        <p14:section name="Results" id="{E21A0ABB-54AA-E768-4076-970B0FCF7E9F}">
          <p14:sldIdLst>
            <p14:sldId id="271"/>
            <p14:sldId id="272"/>
            <p14:sldId id="273"/>
            <p14:sldId id="274"/>
          </p14:sldIdLst>
        </p14:section>
        <p14:section name="Conclusion" id="{F09185B3-7A62-C304-C445-B3E85902EDA9}">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34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Share of keys</c:v>
                </c:pt>
              </c:strCache>
            </c:strRef>
          </c:tx>
          <c:spPr>
            <a:solidFill>
              <a:schemeClr val="accent1"/>
            </a:solidFill>
            <a:ln w="9525" cap="flat">
              <a:solidFill>
                <a:srgbClr val="F9F9F9"/>
              </a:solidFill>
              <a:prstDash val="solid"/>
              <a:round/>
            </a:ln>
            <a:effectLst/>
          </c:spPr>
          <c:dPt>
            <c:idx val="0"/>
            <c:bubble3D val="0"/>
            <c:spPr>
              <a:solidFill>
                <a:srgbClr val="0F9488"/>
              </a:solidFill>
              <a:effectLst/>
            </c:spPr>
            <c:extLst>
              <c:ext xmlns:c16="http://schemas.microsoft.com/office/drawing/2014/chart" uri="{C3380CC4-5D6E-409C-BE32-E72D297353CC}">
                <c16:uniqueId val="{00000001-F360-4B98-87E6-E36B9918FA23}"/>
              </c:ext>
            </c:extLst>
          </c:dPt>
          <c:dPt>
            <c:idx val="1"/>
            <c:bubble3D val="0"/>
            <c:spPr>
              <a:solidFill>
                <a:srgbClr val="6366F1"/>
              </a:solidFill>
              <a:effectLst/>
            </c:spPr>
            <c:extLst>
              <c:ext xmlns:c16="http://schemas.microsoft.com/office/drawing/2014/chart" uri="{C3380CC4-5D6E-409C-BE32-E72D297353CC}">
                <c16:uniqueId val="{00000003-F360-4B98-87E6-E36B9918FA23}"/>
              </c:ext>
            </c:extLst>
          </c:dPt>
          <c:dLbls>
            <c:dLbl>
              <c:idx val="0"/>
              <c:numFmt formatCode="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360-4B98-87E6-E36B9918FA23}"/>
                </c:ext>
              </c:extLst>
            </c:dLbl>
            <c:dLbl>
              <c:idx val="1"/>
              <c:numFmt formatCode="0%" sourceLinked="0"/>
              <c:spPr/>
              <c:txPr>
                <a:bodyPr/>
                <a:lstStyle/>
                <a:p>
                  <a:pPr>
                    <a:defRPr sz="13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360-4B98-87E6-E36B9918FA23}"/>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shard-a</c:v>
                </c:pt>
                <c:pt idx="1">
                  <c:v>shard-b</c:v>
                </c:pt>
              </c:strCache>
            </c:strRef>
          </c:cat>
          <c:val>
            <c:numRef>
              <c:f>Sheet1!$B$2:$B$3</c:f>
              <c:numCache>
                <c:formatCode>General</c:formatCode>
                <c:ptCount val="2"/>
                <c:pt idx="0">
                  <c:v>50.8</c:v>
                </c:pt>
                <c:pt idx="1">
                  <c:v>49.2</c:v>
                </c:pt>
              </c:numCache>
            </c:numRef>
          </c:val>
          <c:extLst>
            <c:ext xmlns:c16="http://schemas.microsoft.com/office/drawing/2014/chart" uri="{C3380CC4-5D6E-409C-BE32-E72D297353CC}">
              <c16:uniqueId val="{00000004-F360-4B98-87E6-E36B9918FA23}"/>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Tests</c:v>
                </c:pt>
              </c:strCache>
            </c:strRef>
          </c:tx>
          <c:spPr>
            <a:solidFill>
              <a:srgbClr val="0F9488"/>
            </a:solidFill>
            <a:effectLst/>
          </c:spPr>
          <c:invertIfNegative val="0"/>
          <c:dLbls>
            <c:numFmt formatCode="#,##0" sourceLinked="0"/>
            <c:spPr>
              <a:noFill/>
              <a:ln>
                <a:noFill/>
              </a:ln>
              <a:effectLst/>
            </c:spPr>
            <c:txPr>
              <a:bodyPr/>
              <a:lstStyle/>
              <a:p>
                <a:pPr>
                  <a:defRPr sz="1300" b="1" i="0" u="none" strike="noStrike">
                    <a:solidFill>
                      <a:srgbClr val="0C1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End-to-end (browser)</c:v>
                </c:pt>
                <c:pt idx="1">
                  <c:v>Chaos</c:v>
                </c:pt>
                <c:pt idx="2">
                  <c:v>System &amp; security</c:v>
                </c:pt>
                <c:pt idx="3">
                  <c:v>Integration</c:v>
                </c:pt>
                <c:pt idx="4">
                  <c:v>Unit</c:v>
                </c:pt>
              </c:strCache>
            </c:strRef>
          </c:cat>
          <c:val>
            <c:numRef>
              <c:f>Sheet1!$B$2:$B$6</c:f>
              <c:numCache>
                <c:formatCode>General</c:formatCode>
                <c:ptCount val="5"/>
                <c:pt idx="0">
                  <c:v>12</c:v>
                </c:pt>
                <c:pt idx="1">
                  <c:v>3</c:v>
                </c:pt>
                <c:pt idx="2">
                  <c:v>41</c:v>
                </c:pt>
                <c:pt idx="3">
                  <c:v>28</c:v>
                </c:pt>
                <c:pt idx="4">
                  <c:v>197</c:v>
                </c:pt>
              </c:numCache>
            </c:numRef>
          </c:val>
          <c:extLst>
            <c:ext xmlns:c16="http://schemas.microsoft.com/office/drawing/2014/chart" uri="{C3380CC4-5D6E-409C-BE32-E72D297353CC}">
              <c16:uniqueId val="{00000000-CF34-4F3E-817B-5CCD9A4917F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0C1222"/>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First run</c:v>
                </c:pt>
              </c:strCache>
            </c:strRef>
          </c:tx>
          <c:spPr>
            <a:solidFill>
              <a:srgbClr val="B6C0CF"/>
            </a:solidFill>
            <a:effectLst/>
          </c:spPr>
          <c:invertIfNegative val="0"/>
          <c:dLbls>
            <c:numFmt formatCode="0.0&quot;%&quot;" sourceLinked="0"/>
            <c:spPr>
              <a:noFill/>
              <a:ln>
                <a:noFill/>
              </a:ln>
              <a:effectLst/>
            </c:spPr>
            <c:txPr>
              <a:bodyPr/>
              <a:lstStyle/>
              <a:p>
                <a:pPr>
                  <a:defRPr sz="1000" b="0" i="0" u="none" strike="noStrike">
                    <a:solidFill>
                      <a:srgbClr val="0C1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consistent-hash</c:v>
                </c:pt>
                <c:pt idx="1">
                  <c:v>circuit-breaker</c:v>
                </c:pt>
                <c:pt idx="2">
                  <c:v>lru-cache</c:v>
                </c:pt>
                <c:pt idx="3">
                  <c:v>kv-state-machine</c:v>
                </c:pt>
                <c:pt idx="4">
                  <c:v>hash-chain</c:v>
                </c:pt>
                <c:pt idx="5">
                  <c:v>rate-limiter</c:v>
                </c:pt>
                <c:pt idx="6">
                  <c:v>rbac</c:v>
                </c:pt>
                <c:pt idx="7">
                  <c:v>Overall</c:v>
                </c:pt>
              </c:strCache>
            </c:strRef>
          </c:cat>
          <c:val>
            <c:numRef>
              <c:f>Sheet1!$B$2:$B$9</c:f>
              <c:numCache>
                <c:formatCode>General</c:formatCode>
                <c:ptCount val="8"/>
                <c:pt idx="0">
                  <c:v>80.8</c:v>
                </c:pt>
                <c:pt idx="1">
                  <c:v>81.8</c:v>
                </c:pt>
                <c:pt idx="2">
                  <c:v>87.5</c:v>
                </c:pt>
                <c:pt idx="3">
                  <c:v>80.7</c:v>
                </c:pt>
                <c:pt idx="4">
                  <c:v>83</c:v>
                </c:pt>
                <c:pt idx="5">
                  <c:v>81.400000000000006</c:v>
                </c:pt>
                <c:pt idx="6">
                  <c:v>92</c:v>
                </c:pt>
                <c:pt idx="7">
                  <c:v>84.4</c:v>
                </c:pt>
              </c:numCache>
            </c:numRef>
          </c:val>
          <c:extLst>
            <c:ext xmlns:c16="http://schemas.microsoft.com/office/drawing/2014/chart" uri="{C3380CC4-5D6E-409C-BE32-E72D297353CC}">
              <c16:uniqueId val="{00000000-A7E7-4265-87C1-12430E40BB2D}"/>
            </c:ext>
          </c:extLst>
        </c:ser>
        <c:ser>
          <c:idx val="1"/>
          <c:order val="1"/>
          <c:tx>
            <c:strRef>
              <c:f>Sheet1!$C$1</c:f>
              <c:strCache>
                <c:ptCount val="1"/>
                <c:pt idx="0">
                  <c:v>After hardening</c:v>
                </c:pt>
              </c:strCache>
            </c:strRef>
          </c:tx>
          <c:spPr>
            <a:solidFill>
              <a:srgbClr val="0F9488"/>
            </a:solidFill>
            <a:effectLst/>
          </c:spPr>
          <c:invertIfNegative val="0"/>
          <c:dLbls>
            <c:numFmt formatCode="0.0&quot;%&quot;" sourceLinked="0"/>
            <c:spPr>
              <a:noFill/>
              <a:ln>
                <a:noFill/>
              </a:ln>
              <a:effectLst/>
            </c:spPr>
            <c:txPr>
              <a:bodyPr/>
              <a:lstStyle/>
              <a:p>
                <a:pPr>
                  <a:defRPr sz="1000" b="0" i="0" u="none" strike="noStrike">
                    <a:solidFill>
                      <a:srgbClr val="0C122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consistent-hash</c:v>
                </c:pt>
                <c:pt idx="1">
                  <c:v>circuit-breaker</c:v>
                </c:pt>
                <c:pt idx="2">
                  <c:v>lru-cache</c:v>
                </c:pt>
                <c:pt idx="3">
                  <c:v>kv-state-machine</c:v>
                </c:pt>
                <c:pt idx="4">
                  <c:v>hash-chain</c:v>
                </c:pt>
                <c:pt idx="5">
                  <c:v>rate-limiter</c:v>
                </c:pt>
                <c:pt idx="6">
                  <c:v>rbac</c:v>
                </c:pt>
                <c:pt idx="7">
                  <c:v>Overall</c:v>
                </c:pt>
              </c:strCache>
            </c:strRef>
          </c:cat>
          <c:val>
            <c:numRef>
              <c:f>Sheet1!$C$2:$C$9</c:f>
              <c:numCache>
                <c:formatCode>General</c:formatCode>
                <c:ptCount val="8"/>
                <c:pt idx="0">
                  <c:v>88.5</c:v>
                </c:pt>
                <c:pt idx="1">
                  <c:v>92.4</c:v>
                </c:pt>
                <c:pt idx="2">
                  <c:v>97.5</c:v>
                </c:pt>
                <c:pt idx="3">
                  <c:v>97.9</c:v>
                </c:pt>
                <c:pt idx="4">
                  <c:v>100</c:v>
                </c:pt>
                <c:pt idx="5">
                  <c:v>100</c:v>
                </c:pt>
                <c:pt idx="6">
                  <c:v>100</c:v>
                </c:pt>
                <c:pt idx="7">
                  <c:v>96.5</c:v>
                </c:pt>
              </c:numCache>
            </c:numRef>
          </c:val>
          <c:extLst>
            <c:ext xmlns:c16="http://schemas.microsoft.com/office/drawing/2014/chart" uri="{C3380CC4-5D6E-409C-BE32-E72D297353CC}">
              <c16:uniqueId val="{00000001-A7E7-4265-87C1-12430E40BB2D}"/>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1222"/>
                </a:solidFill>
                <a:latin typeface="+mn-lt"/>
              </a:defRPr>
            </a:pPr>
            <a:endParaRPr lang="en-US"/>
          </a:p>
        </c:txPr>
        <c:crossAx val="2094734552"/>
        <c:crosses val="autoZero"/>
        <c:auto val="1"/>
        <c:lblAlgn val="ctr"/>
        <c:lblOffset val="100"/>
        <c:noMultiLvlLbl val="1"/>
      </c:catAx>
      <c:valAx>
        <c:axId val="2094734552"/>
        <c:scaling>
          <c:orientation val="minMax"/>
          <c:max val="108"/>
          <c:min val="70"/>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48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MediChain is a working implementation of the distributed healthcare records architecture from our proposal. Eleven real processes start with one command; patient data lives in two shards of three Raft replicas each. The headline result: under a chaos test that kills leaders, not a single acknowledged write was lost.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centralized model routes every hospital through one server and one database. That makes it a single point of failure, a bottleneck, and one big target, and its logs can be edited. Our goal is availability under failure, no lost or duplicated writes, and patient-controlled access.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weakness of the centralized model is replaced by a specific distributed mechanism: Raft for failover and durability, consistent hashing for scale, majority quorums for partitions, consent-based access control, field encryption and a hash-chained audit log.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box is a separate operating-system process talking HTTP, so a crash is real. Clients only talk to the gateway, which authenticates, checks policy, and routes by hashing the patient ID to the home shard. Each shard is a 3-replica Raft group that commits when 2 of 3 store a write. Security events go to the event bus, which feeds the audit ledger and the live notifications. The supervisor is our mini Kubernetes: it starts and kills processes for the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Raft: replicas start as followers. If a follower stops hearing heartbeats it first runs PreVote, so a node coming back from a partition cannot disrupt a healthy cluster. A candidate needs a majority of votes, and only a candidate with an up-to-date log can win, so committed data is never lost. Writes go to the leader, are logged durably, replicated, and committed once a majority has them. Check-quorum makes an isolated leader step down, and lease reads give linearizable reads.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 IDs are hashed onto a ring with 150 virtual nodes per shard, so each shard owns about half the key space. All keys of one patient land on the same shard. Adding a shard moves only about one fifth of keys, versus about eighty percent with hash mod N; that was measured in test TC-HASH-10. Reads that drive access decisions are linearizable; the directory uses eventually consistent follower reads.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Raft handles consensus inside a shard; the gateway makes failover invisible to users. It tracks the leader, follows redirects, retries other replicas with exponential backoff and jitter, and skips dead replicas with circuit breakers. A heartbeat failure detector updates the topology. Each shard is CP: without a majority it refuses writes. The whole system degrades gracefully when one shard is down.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Passwords are bcrypt-hashed with lockout. Tokens are RS256, so only the auth service can sign them. Authorization combines role and patient consent, tested with a 28-row decision table. Admins are deliberately denied clinical data. Break-glass lets an emergency doctor in for 30 minutes, with a reason, and the patient is alerted in real time. Sensitive fields are encrypted before they are replicated, and every access lands in a hash-chained ledger.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proposal named production tools. To keep the project runnable on any laptop with one command, each one is implemented in miniature with the same semantics. That also makes every mechanism visible and testable. The whole system is about 8,100 lines of JavaScript including tests.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Rohit is the treating doctor. The patient list comes from both shards queried in parallel. Opening Hemanth shows the full record, and the inspector strip shows which shard and replica served it, whether it was a cache hit, the consistency level and latency. That makes the distributed system visible in the UI.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consent model working end to end. Dr. Varun, the emergency doctor, has no consent, so he is denied, and the denial is audited. He uses break-glass with a clinical reason and gets 30 minutes of access. Hemanth sees a red alert immediately through server-sent events, and the whole trail is in the hash-chained ledger.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moment. Start write traffic in the chaos lab, then kill the shard-a leader. The node goes grey; about one election timeout later another node becomes leader with a higher term. The chart shows one tall orange bar, the stall, but zero failed writes. Restarting the dead node replays its write-ahead log and it rejoins as a follower.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security event is appended to a hash chain: each entry includes the hash of the previous one, like a blockchain without mining. The Tamper button simulates an insider editing an entry. Verify re-hashes the chain and pinpoints the exact block. Patients see a Ledger verified badge on their access history.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IEEE 829: a test plan, a catalogue of 184 named test cases, and a traceability matrix where every requirement is covered at two or more levels. 197 unit tests, 69 integration, system and security tests, 3 chaos tests and 12 browser end-to-end tests against the real 11-process cluster. Every change had to pass three full runs in a row to catch flaky tests.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syllabus technique is applied to a real risk. Equivalence partitioning and boundary values for input validation, for example heart rate 19, 20, 250 and 251. A 28-row decision table for the access policy. State-transition tests for the circuit breaker and Raft. Property-based tests for consistent hashing. Fault injection for Raft. OWASP-style security tests. And mutation testing to measure the strength of the tests themselves.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281 tests pass: 98.4 percent line coverage, 89 percent branch coverage, a 96.5 percent mutation score, and the chaos test lost and duplicated nothing. Load testing showed zero client errors even while a leader was killed. Testing found 14 defects, all fixed.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shows code ran; mutation testing shows whether the tests notice a bug. Stryker injected 486 small bugs. The first run scored 84 percent despite 98 percent coverage. The survivors exposed a property test that verified nothing, clock assumptions, untested boundaries, and a real circuit-breaker design flaw. Fifteen targeted tests raised the score to 96.5 percent.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chaos test is in the style of Jepsen: concurrent clients write while a nemesis kills and restarts leaders and partitions a follower. All 75 writes were acknowledged, none lost or duplicated, and the replicas ended byte-identical. The load test shows caching makes reads several times faster than majority-committed writes, and killing the leader mid-run only raises tail latency to about a second, with zero errors.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serious defect: names written in Tamil were rejected because the validation pattern allowed letters but not the combining vowel signs Indic scripts use, so real patients could not register. Others include a stale read after break-glass, an idempotency reporting bug, and a circuit-breaker flaw found only by mutation testing. The full list of 14 is in the test report.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MediChain stays available when servers fail, keeps patient data private and every access verifiable, and the testing proves both. Next steps would be log compaction, dynamic membership, multiple gateways, MFA and deployment on Kubernetes.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can show it live: npm start brings up all 11 processes. Log in as dr.varun for the break-glass flow, hemanth to see the patient alert, and admin for the chaos lab where we kill a leader.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17320"/>
            <a:ext cx="6949440" cy="1097280"/>
          </a:xfrm>
          <a:prstGeom prst="rect">
            <a:avLst/>
          </a:prstGeom>
          <a:noFill/>
          <a:ln/>
        </p:spPr>
        <p:txBody>
          <a:bodyPr wrap="square" rtlCol="0"/>
          <a:lstStyle>
            <a:lvl1pPr marL="0" indent="0" algn="l">
              <a:buNone/>
              <a:defRPr lang="en-US" sz="6000"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731520" y="2606040"/>
            <a:ext cx="6766560" cy="1005840"/>
          </a:xfrm>
          <a:prstGeom prst="rect">
            <a:avLst/>
          </a:prstGeom>
          <a:noFill/>
          <a:ln/>
        </p:spPr>
        <p:txBody>
          <a:bodyPr wrap="square" rtlCol="0"/>
          <a:lstStyle>
            <a:lvl1pPr marL="0" indent="0" algn="l">
              <a:buNone/>
              <a:defRPr lang="en-US" sz="2200" dirty="0">
                <a:solidFill>
                  <a:schemeClr val="bg1"/>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lvl1pPr marL="0" indent="0" algn="l">
              <a:buNone/>
              <a:defRPr lang="en-US" sz="3000" dirty="0">
                <a:solidFill>
                  <a:schemeClr val="tx1"/>
                </a:solidFill>
              </a:defRPr>
            </a:lvl1pPr>
          </a:lstStyle>
          <a:p>
            <a:pPr marL="0" indent="0" algn="l">
              <a:buNone/>
            </a:pPr>
            <a:endParaRPr lang="en-US" sz="3000" dirty="0"/>
          </a:p>
        </p:txBody>
      </p:sp>
      <p:sp>
        <p:nvSpPr>
          <p:cNvPr id="3" name="Text 0"/>
          <p:cNvSpPr txBox="1"/>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tx2"/>
                </a:solidFill>
              </a:rPr>
              <a:t>MediChain · Distributed Healthcare Records</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Light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lvl1pPr marL="0" indent="0" algn="l">
              <a:buNone/>
              <a:defRPr lang="en-US" sz="3000" dirty="0">
                <a:solidFill>
                  <a:schemeClr val="tx1"/>
                </a:solidFill>
              </a:defRPr>
            </a:lvl1pPr>
          </a:lstStyle>
          <a:p>
            <a:pPr marL="0" indent="0" algn="l">
              <a:buNone/>
            </a:pPr>
            <a:endParaRPr lang="en-US" sz="3000" dirty="0"/>
          </a:p>
        </p:txBody>
      </p:sp>
      <p:sp>
        <p:nvSpPr>
          <p:cNvPr id="3" name="Text 0"/>
          <p:cNvSpPr txBox="1"/>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tx2"/>
                </a:solidFill>
              </a:rPr>
              <a:t>MediChain · Distributed Healthcare Records</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rtlCol="0"/>
          <a:lstStyle>
            <a:lvl1pPr marL="0" indent="0" algn="l">
              <a:buNone/>
              <a:defRPr lang="en-US" sz="3000" dirty="0">
                <a:solidFill>
                  <a:schemeClr val="bg1"/>
                </a:solidFill>
              </a:defRPr>
            </a:lvl1pPr>
          </a:lstStyle>
          <a:p>
            <a:pPr marL="0" indent="0" algn="l">
              <a:buNone/>
            </a:pPr>
            <a:endParaRPr lang="en-US" sz="3000" dirty="0"/>
          </a:p>
        </p:txBody>
      </p:sp>
      <p:sp>
        <p:nvSpPr>
          <p:cNvPr id="3" name="Text 0"/>
          <p:cNvSpPr txBox="1"/>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bg1">
                    <a:alpha val="65000"/>
                  </a:schemeClr>
                </a:solidFill>
              </a:rPr>
              <a:t>MediChain · Distributed Healthcare Records</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3CCDD"/>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17320"/>
            <a:ext cx="6949440" cy="1097280"/>
          </a:xfrm>
          <a:prstGeom prst="rect">
            <a:avLst/>
          </a:prstGeom>
          <a:noFill/>
          <a:ln/>
        </p:spPr>
        <p:txBody>
          <a:bodyPr wrap="square" lIns="0" tIns="0" rIns="0" bIns="0" rtlCol="0" anchor="b"/>
          <a:lstStyle/>
          <a:p>
            <a:pPr marL="0" indent="0" algn="l">
              <a:buNone/>
            </a:pPr>
            <a:r>
              <a:rPr lang="en-US" sz="6000" dirty="0">
                <a:solidFill>
                  <a:schemeClr val="bg1"/>
                </a:solidFill>
              </a:rPr>
              <a:t>MediChain</a:t>
            </a:r>
            <a:endParaRPr lang="en-US" sz="6000" dirty="0"/>
          </a:p>
        </p:txBody>
      </p:sp>
      <p:sp>
        <p:nvSpPr>
          <p:cNvPr id="3" name="Text 0"/>
          <p:cNvSpPr>
            <a:spLocks noGrp="1"/>
          </p:cNvSpPr>
          <p:nvPr>
            <p:ph type="body" idx="101" hasCustomPrompt="1"/>
          </p:nvPr>
        </p:nvSpPr>
        <p:spPr>
          <a:xfrm>
            <a:off x="731520" y="2606040"/>
            <a:ext cx="6766560" cy="1005840"/>
          </a:xfrm>
          <a:prstGeom prst="rect">
            <a:avLst/>
          </a:prstGeom>
          <a:noFill/>
          <a:ln/>
        </p:spPr>
        <p:txBody>
          <a:bodyPr wrap="square" lIns="0" tIns="0" rIns="0" bIns="0" rtlCol="0" anchor="t"/>
          <a:lstStyle/>
          <a:p>
            <a:pPr marL="0" indent="0" algn="l">
              <a:buNone/>
            </a:pPr>
            <a:r>
              <a:rPr lang="en-US" sz="2200" dirty="0">
                <a:solidFill>
                  <a:schemeClr val="bg1"/>
                </a:solidFill>
              </a:rPr>
              <a:t>Secure &amp; performance-optimized distributed healthcare records system</a:t>
            </a:r>
            <a:endParaRPr lang="en-US" sz="2200" dirty="0"/>
          </a:p>
        </p:txBody>
      </p:sp>
      <p:sp>
        <p:nvSpPr>
          <p:cNvPr id="4" name="pill-1"/>
          <p:cNvSpPr txBox="1"/>
          <p:nvPr/>
        </p:nvSpPr>
        <p:spPr>
          <a:xfrm>
            <a:off x="731520" y="3840480"/>
            <a:ext cx="1508760" cy="329184"/>
          </a:xfrm>
          <a:prstGeom prst="roundRect">
            <a:avLst>
              <a:gd name="adj" fmla="val 47222"/>
            </a:avLst>
          </a:prstGeom>
          <a:solidFill>
            <a:schemeClr val="bg1">
              <a:alpha val="15000"/>
            </a:schemeClr>
          </a:solidFill>
          <a:ln w="12700">
            <a:solidFill>
              <a:schemeClr val="bg1">
                <a:alpha val="35000"/>
              </a:schemeClr>
            </a:solidFill>
          </a:ln>
        </p:spPr>
        <p:txBody>
          <a:bodyPr wrap="square" lIns="0" tIns="0" rIns="0" bIns="0" rtlCol="0" anchor="ctr"/>
          <a:lstStyle/>
          <a:p>
            <a:pPr marL="0" indent="0" algn="ctr">
              <a:buNone/>
            </a:pPr>
            <a:r>
              <a:rPr lang="en-US" sz="1200" dirty="0">
                <a:solidFill>
                  <a:schemeClr val="bg1"/>
                </a:solidFill>
              </a:rPr>
              <a:t>Raft consensus</a:t>
            </a:r>
            <a:endParaRPr lang="en-US" sz="1200" dirty="0"/>
          </a:p>
        </p:txBody>
      </p:sp>
      <p:sp>
        <p:nvSpPr>
          <p:cNvPr id="5" name="pill-2"/>
          <p:cNvSpPr txBox="1"/>
          <p:nvPr/>
        </p:nvSpPr>
        <p:spPr>
          <a:xfrm>
            <a:off x="2377440" y="3840480"/>
            <a:ext cx="1508760" cy="329184"/>
          </a:xfrm>
          <a:prstGeom prst="roundRect">
            <a:avLst>
              <a:gd name="adj" fmla="val 47222"/>
            </a:avLst>
          </a:prstGeom>
          <a:solidFill>
            <a:schemeClr val="bg1">
              <a:alpha val="15000"/>
            </a:schemeClr>
          </a:solidFill>
          <a:ln w="12700">
            <a:solidFill>
              <a:schemeClr val="bg1">
                <a:alpha val="35000"/>
              </a:schemeClr>
            </a:solidFill>
          </a:ln>
        </p:spPr>
        <p:txBody>
          <a:bodyPr wrap="square" lIns="0" tIns="0" rIns="0" bIns="0" rtlCol="0" anchor="ctr"/>
          <a:lstStyle/>
          <a:p>
            <a:pPr marL="0" indent="0" algn="ctr">
              <a:buNone/>
            </a:pPr>
            <a:r>
              <a:rPr lang="en-US" sz="1200" dirty="0">
                <a:solidFill>
                  <a:schemeClr val="bg1"/>
                </a:solidFill>
              </a:rPr>
              <a:t>Sharding</a:t>
            </a:r>
            <a:endParaRPr lang="en-US" sz="1200" dirty="0"/>
          </a:p>
        </p:txBody>
      </p:sp>
      <p:sp>
        <p:nvSpPr>
          <p:cNvPr id="6" name="pill-3"/>
          <p:cNvSpPr txBox="1"/>
          <p:nvPr/>
        </p:nvSpPr>
        <p:spPr>
          <a:xfrm>
            <a:off x="4023360" y="3840480"/>
            <a:ext cx="1508760" cy="329184"/>
          </a:xfrm>
          <a:prstGeom prst="roundRect">
            <a:avLst>
              <a:gd name="adj" fmla="val 47222"/>
            </a:avLst>
          </a:prstGeom>
          <a:solidFill>
            <a:schemeClr val="bg1">
              <a:alpha val="15000"/>
            </a:schemeClr>
          </a:solidFill>
          <a:ln w="12700">
            <a:solidFill>
              <a:schemeClr val="bg1">
                <a:alpha val="35000"/>
              </a:schemeClr>
            </a:solidFill>
          </a:ln>
        </p:spPr>
        <p:txBody>
          <a:bodyPr wrap="square" lIns="0" tIns="0" rIns="0" bIns="0" rtlCol="0" anchor="ctr"/>
          <a:lstStyle/>
          <a:p>
            <a:pPr marL="0" indent="0" algn="ctr">
              <a:buNone/>
            </a:pPr>
            <a:r>
              <a:rPr lang="en-US" sz="1200" dirty="0">
                <a:solidFill>
                  <a:schemeClr val="bg1"/>
                </a:solidFill>
              </a:rPr>
              <a:t>AES-256-GCM</a:t>
            </a:r>
            <a:endParaRPr lang="en-US" sz="1200" dirty="0"/>
          </a:p>
        </p:txBody>
      </p:sp>
      <p:sp>
        <p:nvSpPr>
          <p:cNvPr id="7" name="pill-4"/>
          <p:cNvSpPr txBox="1"/>
          <p:nvPr/>
        </p:nvSpPr>
        <p:spPr>
          <a:xfrm>
            <a:off x="5669280" y="3840480"/>
            <a:ext cx="1508760" cy="329184"/>
          </a:xfrm>
          <a:prstGeom prst="roundRect">
            <a:avLst>
              <a:gd name="adj" fmla="val 47222"/>
            </a:avLst>
          </a:prstGeom>
          <a:solidFill>
            <a:schemeClr val="bg1">
              <a:alpha val="15000"/>
            </a:schemeClr>
          </a:solidFill>
          <a:ln w="12700">
            <a:solidFill>
              <a:schemeClr val="bg1">
                <a:alpha val="35000"/>
              </a:schemeClr>
            </a:solidFill>
          </a:ln>
        </p:spPr>
        <p:txBody>
          <a:bodyPr wrap="square" lIns="0" tIns="0" rIns="0" bIns="0" rtlCol="0" anchor="ctr"/>
          <a:lstStyle/>
          <a:p>
            <a:pPr marL="0" indent="0" algn="ctr">
              <a:buNone/>
            </a:pPr>
            <a:r>
              <a:rPr lang="en-US" sz="1200" dirty="0">
                <a:solidFill>
                  <a:schemeClr val="bg1"/>
                </a:solidFill>
              </a:rPr>
              <a:t>Hash-chained audit</a:t>
            </a:r>
            <a:endParaRPr lang="en-US" sz="1200" dirty="0"/>
          </a:p>
        </p:txBody>
      </p:sp>
      <p:sp>
        <p:nvSpPr>
          <p:cNvPr id="8" name="text-5"/>
          <p:cNvSpPr txBox="1"/>
          <p:nvPr/>
        </p:nvSpPr>
        <p:spPr>
          <a:xfrm>
            <a:off x="731520" y="4800600"/>
            <a:ext cx="6949440" cy="320040"/>
          </a:xfrm>
          <a:prstGeom prst="rect">
            <a:avLst/>
          </a:prstGeom>
          <a:noFill/>
          <a:ln/>
        </p:spPr>
        <p:txBody>
          <a:bodyPr wrap="square" lIns="0" tIns="0" rIns="0" bIns="0" rtlCol="0" anchor="t"/>
          <a:lstStyle/>
          <a:p>
            <a:pPr marL="0" indent="0">
              <a:buNone/>
            </a:pPr>
            <a:r>
              <a:rPr lang="en-US" sz="1500" dirty="0">
                <a:solidFill>
                  <a:schemeClr val="bg1">
                    <a:alpha val="80000"/>
                  </a:schemeClr>
                </a:solidFill>
              </a:rPr>
              <a:t>Distributed Systems and Applications  ·  Software Testing</a:t>
            </a:r>
            <a:endParaRPr lang="en-US" sz="1500" dirty="0"/>
          </a:p>
        </p:txBody>
      </p:sp>
      <p:sp>
        <p:nvSpPr>
          <p:cNvPr id="9" name="text-6"/>
          <p:cNvSpPr txBox="1"/>
          <p:nvPr/>
        </p:nvSpPr>
        <p:spPr>
          <a:xfrm>
            <a:off x="731520" y="5138928"/>
            <a:ext cx="2240280" cy="329184"/>
          </a:xfrm>
          <a:prstGeom prst="rect">
            <a:avLst/>
          </a:prstGeom>
          <a:noFill/>
          <a:ln/>
        </p:spPr>
        <p:txBody>
          <a:bodyPr wrap="square" lIns="0" tIns="0" rIns="0" bIns="0" rtlCol="0" anchor="t"/>
          <a:lstStyle/>
          <a:p>
            <a:pPr marL="0" indent="0">
              <a:buNone/>
            </a:pPr>
            <a:r>
              <a:rPr lang="en-US" sz="1600" b="1" dirty="0">
                <a:solidFill>
                  <a:schemeClr val="bg1"/>
                </a:solidFill>
              </a:rPr>
              <a:t>N. Sankkarshana</a:t>
            </a:r>
            <a:endParaRPr lang="en-US" sz="1600" dirty="0"/>
          </a:p>
        </p:txBody>
      </p:sp>
      <p:sp>
        <p:nvSpPr>
          <p:cNvPr id="10" name="text-7"/>
          <p:cNvSpPr txBox="1"/>
          <p:nvPr/>
        </p:nvSpPr>
        <p:spPr>
          <a:xfrm>
            <a:off x="731520" y="5468112"/>
            <a:ext cx="2240280" cy="274320"/>
          </a:xfrm>
          <a:prstGeom prst="rect">
            <a:avLst/>
          </a:prstGeom>
          <a:noFill/>
          <a:ln/>
        </p:spPr>
        <p:txBody>
          <a:bodyPr wrap="square" lIns="0" tIns="0" rIns="0" bIns="0" rtlCol="0" anchor="t"/>
          <a:lstStyle/>
          <a:p>
            <a:pPr marL="0" indent="0">
              <a:buNone/>
            </a:pPr>
            <a:r>
              <a:rPr lang="en-US" sz="1150" dirty="0">
                <a:solidFill>
                  <a:schemeClr val="bg1">
                    <a:alpha val="75000"/>
                  </a:schemeClr>
                </a:solidFill>
              </a:rPr>
              <a:t>CH.EN.U4CCE23023</a:t>
            </a:r>
            <a:endParaRPr lang="en-US" sz="1150" dirty="0"/>
          </a:p>
        </p:txBody>
      </p:sp>
      <p:sp>
        <p:nvSpPr>
          <p:cNvPr id="11" name="text-8"/>
          <p:cNvSpPr txBox="1"/>
          <p:nvPr/>
        </p:nvSpPr>
        <p:spPr>
          <a:xfrm>
            <a:off x="3063240" y="5138928"/>
            <a:ext cx="2240280" cy="329184"/>
          </a:xfrm>
          <a:prstGeom prst="rect">
            <a:avLst/>
          </a:prstGeom>
          <a:noFill/>
          <a:ln/>
        </p:spPr>
        <p:txBody>
          <a:bodyPr wrap="square" lIns="0" tIns="0" rIns="0" bIns="0" rtlCol="0" anchor="t"/>
          <a:lstStyle/>
          <a:p>
            <a:pPr marL="0" indent="0">
              <a:buNone/>
            </a:pPr>
            <a:r>
              <a:rPr lang="en-US" sz="1600" b="1" dirty="0">
                <a:solidFill>
                  <a:schemeClr val="bg1"/>
                </a:solidFill>
              </a:rPr>
              <a:t>Ganesan P.V</a:t>
            </a:r>
            <a:endParaRPr lang="en-US" sz="1600" dirty="0"/>
          </a:p>
        </p:txBody>
      </p:sp>
      <p:sp>
        <p:nvSpPr>
          <p:cNvPr id="12" name="text-9"/>
          <p:cNvSpPr txBox="1"/>
          <p:nvPr/>
        </p:nvSpPr>
        <p:spPr>
          <a:xfrm>
            <a:off x="3063240" y="5468112"/>
            <a:ext cx="2240280" cy="274320"/>
          </a:xfrm>
          <a:prstGeom prst="rect">
            <a:avLst/>
          </a:prstGeom>
          <a:noFill/>
          <a:ln/>
        </p:spPr>
        <p:txBody>
          <a:bodyPr wrap="square" lIns="0" tIns="0" rIns="0" bIns="0" rtlCol="0" anchor="t"/>
          <a:lstStyle/>
          <a:p>
            <a:pPr marL="0" indent="0">
              <a:buNone/>
            </a:pPr>
            <a:r>
              <a:rPr lang="en-US" sz="1150" dirty="0">
                <a:solidFill>
                  <a:schemeClr val="bg1">
                    <a:alpha val="75000"/>
                  </a:schemeClr>
                </a:solidFill>
              </a:rPr>
              <a:t>CH.EN.U4CCE23008</a:t>
            </a:r>
            <a:endParaRPr lang="en-US" sz="1150" dirty="0"/>
          </a:p>
        </p:txBody>
      </p:sp>
      <p:sp>
        <p:nvSpPr>
          <p:cNvPr id="13" name="text-10"/>
          <p:cNvSpPr txBox="1"/>
          <p:nvPr/>
        </p:nvSpPr>
        <p:spPr>
          <a:xfrm>
            <a:off x="5394960" y="5138928"/>
            <a:ext cx="2240280" cy="329184"/>
          </a:xfrm>
          <a:prstGeom prst="rect">
            <a:avLst/>
          </a:prstGeom>
          <a:noFill/>
          <a:ln/>
        </p:spPr>
        <p:txBody>
          <a:bodyPr wrap="square" lIns="0" tIns="0" rIns="0" bIns="0" rtlCol="0" anchor="t"/>
          <a:lstStyle/>
          <a:p>
            <a:pPr marL="0" indent="0">
              <a:buNone/>
            </a:pPr>
            <a:r>
              <a:rPr lang="en-US" sz="1600" b="1" dirty="0">
                <a:solidFill>
                  <a:schemeClr val="bg1"/>
                </a:solidFill>
              </a:rPr>
              <a:t>Hemanth S</a:t>
            </a:r>
            <a:endParaRPr lang="en-US" sz="1600" dirty="0"/>
          </a:p>
        </p:txBody>
      </p:sp>
      <p:sp>
        <p:nvSpPr>
          <p:cNvPr id="14" name="text-11"/>
          <p:cNvSpPr txBox="1"/>
          <p:nvPr/>
        </p:nvSpPr>
        <p:spPr>
          <a:xfrm>
            <a:off x="5394960" y="5468112"/>
            <a:ext cx="2240280" cy="274320"/>
          </a:xfrm>
          <a:prstGeom prst="rect">
            <a:avLst/>
          </a:prstGeom>
          <a:noFill/>
          <a:ln/>
        </p:spPr>
        <p:txBody>
          <a:bodyPr wrap="square" lIns="0" tIns="0" rIns="0" bIns="0" rtlCol="0" anchor="t"/>
          <a:lstStyle/>
          <a:p>
            <a:pPr marL="0" indent="0">
              <a:buNone/>
            </a:pPr>
            <a:r>
              <a:rPr lang="en-US" sz="1150" dirty="0">
                <a:solidFill>
                  <a:schemeClr val="bg1">
                    <a:alpha val="75000"/>
                  </a:schemeClr>
                </a:solidFill>
              </a:rPr>
              <a:t>CH.EN.U4CCE23013</a:t>
            </a:r>
            <a:endParaRPr lang="en-US" sz="1150" dirty="0"/>
          </a:p>
        </p:txBody>
      </p:sp>
      <p:sp>
        <p:nvSpPr>
          <p:cNvPr id="15" name="text-12"/>
          <p:cNvSpPr txBox="1"/>
          <p:nvPr/>
        </p:nvSpPr>
        <p:spPr>
          <a:xfrm>
            <a:off x="731520" y="5897880"/>
            <a:ext cx="7132320" cy="320040"/>
          </a:xfrm>
          <a:prstGeom prst="rect">
            <a:avLst/>
          </a:prstGeom>
          <a:noFill/>
          <a:ln/>
        </p:spPr>
        <p:txBody>
          <a:bodyPr wrap="square" lIns="0" tIns="0" rIns="0" bIns="0" rtlCol="0" anchor="t"/>
          <a:lstStyle/>
          <a:p>
            <a:pPr marL="0" indent="0">
              <a:buNone/>
            </a:pPr>
            <a:r>
              <a:rPr lang="en-US" sz="1200" dirty="0">
                <a:solidFill>
                  <a:schemeClr val="bg1">
                    <a:alpha val="70000"/>
                  </a:schemeClr>
                </a:solidFill>
              </a:rPr>
              <a:t>B.Tech Computer &amp; Communication Engineering  ·  Amrita Vishwa Vidyapeetham, Chennai</a:t>
            </a:r>
            <a:endParaRPr lang="en-US" sz="1200" dirty="0"/>
          </a:p>
        </p:txBody>
      </p:sp>
      <p:sp>
        <p:nvSpPr>
          <p:cNvPr id="16" name="cluster-card-13"/>
          <p:cNvSpPr/>
          <p:nvPr/>
        </p:nvSpPr>
        <p:spPr>
          <a:xfrm>
            <a:off x="8001000" y="1325880"/>
            <a:ext cx="3657600" cy="4343400"/>
          </a:xfrm>
          <a:prstGeom prst="roundRect">
            <a:avLst>
              <a:gd name="adj" fmla="val 5500"/>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17" name="text-14"/>
          <p:cNvSpPr txBox="1"/>
          <p:nvPr/>
        </p:nvSpPr>
        <p:spPr>
          <a:xfrm>
            <a:off x="8275320" y="1554480"/>
            <a:ext cx="2743200" cy="274320"/>
          </a:xfrm>
          <a:prstGeom prst="rect">
            <a:avLst/>
          </a:prstGeom>
          <a:noFill/>
          <a:ln/>
        </p:spPr>
        <p:txBody>
          <a:bodyPr wrap="square" lIns="0" tIns="0" rIns="0" bIns="0" rtlCol="0" anchor="t"/>
          <a:lstStyle/>
          <a:p>
            <a:pPr marL="0" indent="0">
              <a:buNone/>
            </a:pPr>
            <a:r>
              <a:rPr lang="en-US" sz="1100" b="1" kern="0" spc="200" dirty="0">
                <a:solidFill>
                  <a:schemeClr val="bg1">
                    <a:alpha val="65000"/>
                  </a:schemeClr>
                </a:solidFill>
              </a:rPr>
              <a:t>LIVE CLUSTER</a:t>
            </a:r>
            <a:endParaRPr lang="en-US" sz="1100" dirty="0"/>
          </a:p>
        </p:txBody>
      </p:sp>
      <p:sp>
        <p:nvSpPr>
          <p:cNvPr id="18" name="connector-15"/>
          <p:cNvSpPr/>
          <p:nvPr/>
        </p:nvSpPr>
        <p:spPr>
          <a:xfrm flipH="1">
            <a:off x="8412480" y="2468880"/>
            <a:ext cx="502920" cy="822960"/>
          </a:xfrm>
          <a:prstGeom prst="line">
            <a:avLst/>
          </a:prstGeom>
          <a:noFill/>
          <a:ln w="19050">
            <a:solidFill>
              <a:srgbClr val="F59E0B"/>
            </a:solidFill>
            <a:prstDash val="dash"/>
          </a:ln>
        </p:spPr>
      </p:sp>
      <p:sp>
        <p:nvSpPr>
          <p:cNvPr id="19" name="connector-16"/>
          <p:cNvSpPr/>
          <p:nvPr/>
        </p:nvSpPr>
        <p:spPr>
          <a:xfrm>
            <a:off x="8915400" y="2468880"/>
            <a:ext cx="502920" cy="822960"/>
          </a:xfrm>
          <a:prstGeom prst="line">
            <a:avLst/>
          </a:prstGeom>
          <a:noFill/>
          <a:ln w="19050">
            <a:solidFill>
              <a:srgbClr val="F59E0B"/>
            </a:solidFill>
            <a:prstDash val="dash"/>
          </a:ln>
        </p:spPr>
      </p:sp>
      <p:sp>
        <p:nvSpPr>
          <p:cNvPr id="20" name="node-17"/>
          <p:cNvSpPr txBox="1"/>
          <p:nvPr/>
        </p:nvSpPr>
        <p:spPr>
          <a:xfrm>
            <a:off x="8613648" y="2167128"/>
            <a:ext cx="603504" cy="603504"/>
          </a:xfrm>
          <a:prstGeom prst="ellipse">
            <a:avLst/>
          </a:prstGeom>
          <a:solidFill>
            <a:srgbClr val="1A2140"/>
          </a:solidFill>
          <a:ln w="25400">
            <a:solidFill>
              <a:srgbClr val="F59E0B"/>
            </a:solidFill>
          </a:ln>
        </p:spPr>
        <p:txBody>
          <a:bodyPr wrap="square" lIns="0" tIns="0" rIns="0" bIns="0" rtlCol="0" anchor="ctr"/>
          <a:lstStyle/>
          <a:p>
            <a:pPr marL="0" indent="0" algn="ctr">
              <a:buNone/>
            </a:pPr>
            <a:r>
              <a:rPr lang="en-US" sz="1200" b="1" dirty="0">
                <a:solidFill>
                  <a:schemeClr val="bg1"/>
                </a:solidFill>
              </a:rPr>
              <a:t>a1</a:t>
            </a:r>
            <a:endParaRPr lang="en-US" sz="1200" dirty="0"/>
          </a:p>
        </p:txBody>
      </p:sp>
      <p:sp>
        <p:nvSpPr>
          <p:cNvPr id="21" name="node-18"/>
          <p:cNvSpPr txBox="1"/>
          <p:nvPr/>
        </p:nvSpPr>
        <p:spPr>
          <a:xfrm>
            <a:off x="8183880" y="3063240"/>
            <a:ext cx="457200" cy="457200"/>
          </a:xfrm>
          <a:prstGeom prst="ellipse">
            <a:avLst/>
          </a:prstGeom>
          <a:solidFill>
            <a:srgbClr val="1A2140"/>
          </a:solidFill>
          <a:ln w="25400">
            <a:solidFill>
              <a:srgbClr val="2DD4BF"/>
            </a:solidFill>
          </a:ln>
        </p:spPr>
        <p:txBody>
          <a:bodyPr wrap="square" lIns="0" tIns="0" rIns="0" bIns="0" rtlCol="0" anchor="ctr"/>
          <a:lstStyle/>
          <a:p>
            <a:pPr marL="0" indent="0" algn="ctr">
              <a:buNone/>
            </a:pPr>
            <a:r>
              <a:rPr lang="en-US" sz="1200" b="1" dirty="0">
                <a:solidFill>
                  <a:schemeClr val="bg1"/>
                </a:solidFill>
              </a:rPr>
              <a:t>a2</a:t>
            </a:r>
            <a:endParaRPr lang="en-US" sz="1200" dirty="0"/>
          </a:p>
        </p:txBody>
      </p:sp>
      <p:sp>
        <p:nvSpPr>
          <p:cNvPr id="22" name="node-19"/>
          <p:cNvSpPr txBox="1"/>
          <p:nvPr/>
        </p:nvSpPr>
        <p:spPr>
          <a:xfrm>
            <a:off x="9189720" y="3063240"/>
            <a:ext cx="457200" cy="457200"/>
          </a:xfrm>
          <a:prstGeom prst="ellipse">
            <a:avLst/>
          </a:prstGeom>
          <a:solidFill>
            <a:srgbClr val="1A2140"/>
          </a:solidFill>
          <a:ln w="25400">
            <a:solidFill>
              <a:srgbClr val="2DD4BF"/>
            </a:solidFill>
          </a:ln>
        </p:spPr>
        <p:txBody>
          <a:bodyPr wrap="square" lIns="0" tIns="0" rIns="0" bIns="0" rtlCol="0" anchor="ctr"/>
          <a:lstStyle/>
          <a:p>
            <a:pPr marL="0" indent="0" algn="ctr">
              <a:buNone/>
            </a:pPr>
            <a:r>
              <a:rPr lang="en-US" sz="1200" b="1" dirty="0">
                <a:solidFill>
                  <a:schemeClr val="bg1"/>
                </a:solidFill>
              </a:rPr>
              <a:t>a3</a:t>
            </a:r>
            <a:endParaRPr lang="en-US" sz="1200" dirty="0"/>
          </a:p>
        </p:txBody>
      </p:sp>
      <p:sp>
        <p:nvSpPr>
          <p:cNvPr id="23" name="text-20"/>
          <p:cNvSpPr txBox="1"/>
          <p:nvPr/>
        </p:nvSpPr>
        <p:spPr>
          <a:xfrm>
            <a:off x="8183880" y="3657600"/>
            <a:ext cx="1463040" cy="274320"/>
          </a:xfrm>
          <a:prstGeom prst="rect">
            <a:avLst/>
          </a:prstGeom>
          <a:noFill/>
          <a:ln/>
        </p:spPr>
        <p:txBody>
          <a:bodyPr wrap="square" lIns="0" tIns="0" rIns="0" bIns="0" rtlCol="0" anchor="t"/>
          <a:lstStyle/>
          <a:p>
            <a:pPr marL="0" indent="0" algn="ctr">
              <a:buNone/>
            </a:pPr>
            <a:r>
              <a:rPr lang="en-US" sz="1100" dirty="0">
                <a:solidFill>
                  <a:schemeClr val="bg1">
                    <a:alpha val="70000"/>
                  </a:schemeClr>
                </a:solidFill>
              </a:rPr>
              <a:t>shard-a</a:t>
            </a:r>
            <a:endParaRPr lang="en-US" sz="1100" dirty="0"/>
          </a:p>
        </p:txBody>
      </p:sp>
      <p:sp>
        <p:nvSpPr>
          <p:cNvPr id="24" name="connector-21"/>
          <p:cNvSpPr/>
          <p:nvPr/>
        </p:nvSpPr>
        <p:spPr>
          <a:xfrm flipH="1">
            <a:off x="10241280" y="2468880"/>
            <a:ext cx="502920" cy="822960"/>
          </a:xfrm>
          <a:prstGeom prst="line">
            <a:avLst/>
          </a:prstGeom>
          <a:noFill/>
          <a:ln w="19050">
            <a:solidFill>
              <a:srgbClr val="F59E0B"/>
            </a:solidFill>
            <a:prstDash val="dash"/>
          </a:ln>
        </p:spPr>
      </p:sp>
      <p:sp>
        <p:nvSpPr>
          <p:cNvPr id="25" name="connector-22"/>
          <p:cNvSpPr/>
          <p:nvPr/>
        </p:nvSpPr>
        <p:spPr>
          <a:xfrm>
            <a:off x="10744200" y="2468880"/>
            <a:ext cx="502920" cy="822960"/>
          </a:xfrm>
          <a:prstGeom prst="line">
            <a:avLst/>
          </a:prstGeom>
          <a:noFill/>
          <a:ln w="19050">
            <a:solidFill>
              <a:srgbClr val="F59E0B"/>
            </a:solidFill>
            <a:prstDash val="dash"/>
          </a:ln>
        </p:spPr>
      </p:sp>
      <p:sp>
        <p:nvSpPr>
          <p:cNvPr id="26" name="node-23"/>
          <p:cNvSpPr txBox="1"/>
          <p:nvPr/>
        </p:nvSpPr>
        <p:spPr>
          <a:xfrm>
            <a:off x="10442448" y="2167128"/>
            <a:ext cx="603504" cy="603504"/>
          </a:xfrm>
          <a:prstGeom prst="ellipse">
            <a:avLst/>
          </a:prstGeom>
          <a:solidFill>
            <a:srgbClr val="1A2140"/>
          </a:solidFill>
          <a:ln w="25400">
            <a:solidFill>
              <a:srgbClr val="F59E0B"/>
            </a:solidFill>
          </a:ln>
        </p:spPr>
        <p:txBody>
          <a:bodyPr wrap="square" lIns="0" tIns="0" rIns="0" bIns="0" rtlCol="0" anchor="ctr"/>
          <a:lstStyle/>
          <a:p>
            <a:pPr marL="0" indent="0" algn="ctr">
              <a:buNone/>
            </a:pPr>
            <a:r>
              <a:rPr lang="en-US" sz="1200" b="1" dirty="0">
                <a:solidFill>
                  <a:schemeClr val="bg1"/>
                </a:solidFill>
              </a:rPr>
              <a:t>b1</a:t>
            </a:r>
            <a:endParaRPr lang="en-US" sz="1200" dirty="0"/>
          </a:p>
        </p:txBody>
      </p:sp>
      <p:sp>
        <p:nvSpPr>
          <p:cNvPr id="27" name="node-24"/>
          <p:cNvSpPr txBox="1"/>
          <p:nvPr/>
        </p:nvSpPr>
        <p:spPr>
          <a:xfrm>
            <a:off x="10012680" y="3063240"/>
            <a:ext cx="457200" cy="457200"/>
          </a:xfrm>
          <a:prstGeom prst="ellipse">
            <a:avLst/>
          </a:prstGeom>
          <a:solidFill>
            <a:srgbClr val="1A2140"/>
          </a:solidFill>
          <a:ln w="25400">
            <a:solidFill>
              <a:srgbClr val="818CF8"/>
            </a:solidFill>
          </a:ln>
        </p:spPr>
        <p:txBody>
          <a:bodyPr wrap="square" lIns="0" tIns="0" rIns="0" bIns="0" rtlCol="0" anchor="ctr"/>
          <a:lstStyle/>
          <a:p>
            <a:pPr marL="0" indent="0" algn="ctr">
              <a:buNone/>
            </a:pPr>
            <a:r>
              <a:rPr lang="en-US" sz="1200" b="1" dirty="0">
                <a:solidFill>
                  <a:schemeClr val="bg1"/>
                </a:solidFill>
              </a:rPr>
              <a:t>b2</a:t>
            </a:r>
            <a:endParaRPr lang="en-US" sz="1200" dirty="0"/>
          </a:p>
        </p:txBody>
      </p:sp>
      <p:sp>
        <p:nvSpPr>
          <p:cNvPr id="28" name="node-25"/>
          <p:cNvSpPr txBox="1"/>
          <p:nvPr/>
        </p:nvSpPr>
        <p:spPr>
          <a:xfrm>
            <a:off x="11018520" y="3063240"/>
            <a:ext cx="457200" cy="457200"/>
          </a:xfrm>
          <a:prstGeom prst="ellipse">
            <a:avLst/>
          </a:prstGeom>
          <a:solidFill>
            <a:srgbClr val="1A2140"/>
          </a:solidFill>
          <a:ln w="25400">
            <a:solidFill>
              <a:srgbClr val="818CF8"/>
            </a:solidFill>
          </a:ln>
        </p:spPr>
        <p:txBody>
          <a:bodyPr wrap="square" lIns="0" tIns="0" rIns="0" bIns="0" rtlCol="0" anchor="ctr"/>
          <a:lstStyle/>
          <a:p>
            <a:pPr marL="0" indent="0" algn="ctr">
              <a:buNone/>
            </a:pPr>
            <a:r>
              <a:rPr lang="en-US" sz="1200" b="1" dirty="0">
                <a:solidFill>
                  <a:schemeClr val="bg1"/>
                </a:solidFill>
              </a:rPr>
              <a:t>b3</a:t>
            </a:r>
            <a:endParaRPr lang="en-US" sz="1200" dirty="0"/>
          </a:p>
        </p:txBody>
      </p:sp>
      <p:sp>
        <p:nvSpPr>
          <p:cNvPr id="29" name="text-26"/>
          <p:cNvSpPr txBox="1"/>
          <p:nvPr/>
        </p:nvSpPr>
        <p:spPr>
          <a:xfrm>
            <a:off x="10012680" y="3657600"/>
            <a:ext cx="1463040" cy="274320"/>
          </a:xfrm>
          <a:prstGeom prst="rect">
            <a:avLst/>
          </a:prstGeom>
          <a:noFill/>
          <a:ln/>
        </p:spPr>
        <p:txBody>
          <a:bodyPr wrap="square" lIns="0" tIns="0" rIns="0" bIns="0" rtlCol="0" anchor="t"/>
          <a:lstStyle/>
          <a:p>
            <a:pPr marL="0" indent="0" algn="ctr">
              <a:buNone/>
            </a:pPr>
            <a:r>
              <a:rPr lang="en-US" sz="1100" dirty="0">
                <a:solidFill>
                  <a:schemeClr val="bg1">
                    <a:alpha val="70000"/>
                  </a:schemeClr>
                </a:solidFill>
              </a:rPr>
              <a:t>shard-b</a:t>
            </a:r>
            <a:endParaRPr lang="en-US" sz="1100" dirty="0"/>
          </a:p>
        </p:txBody>
      </p:sp>
      <p:sp>
        <p:nvSpPr>
          <p:cNvPr id="30" name="text-27"/>
          <p:cNvSpPr txBox="1"/>
          <p:nvPr/>
        </p:nvSpPr>
        <p:spPr>
          <a:xfrm>
            <a:off x="8275320" y="4160520"/>
            <a:ext cx="3200400" cy="384048"/>
          </a:xfrm>
          <a:prstGeom prst="rect">
            <a:avLst/>
          </a:prstGeom>
          <a:noFill/>
          <a:ln/>
        </p:spPr>
        <p:txBody>
          <a:bodyPr wrap="square" lIns="0" tIns="0" rIns="0" bIns="0" rtlCol="0" anchor="ctr"/>
          <a:lstStyle/>
          <a:p>
            <a:pPr marL="0" indent="0">
              <a:buNone/>
            </a:pPr>
            <a:r>
              <a:rPr lang="en-US" sz="1800" b="1" dirty="0">
                <a:solidFill>
                  <a:srgbClr val="5EEAD4"/>
                </a:solidFill>
              </a:rPr>
              <a:t>11  </a:t>
            </a:r>
            <a:r>
              <a:rPr lang="en-US" sz="1300" dirty="0">
                <a:solidFill>
                  <a:schemeClr val="bg1"/>
                </a:solidFill>
              </a:rPr>
              <a:t>OS processes, one command</a:t>
            </a:r>
            <a:endParaRPr lang="en-US" sz="1400" dirty="0"/>
          </a:p>
        </p:txBody>
      </p:sp>
      <p:sp>
        <p:nvSpPr>
          <p:cNvPr id="31" name="text-28"/>
          <p:cNvSpPr txBox="1"/>
          <p:nvPr/>
        </p:nvSpPr>
        <p:spPr>
          <a:xfrm>
            <a:off x="8275320" y="4572000"/>
            <a:ext cx="3200400" cy="384048"/>
          </a:xfrm>
          <a:prstGeom prst="rect">
            <a:avLst/>
          </a:prstGeom>
          <a:noFill/>
          <a:ln/>
        </p:spPr>
        <p:txBody>
          <a:bodyPr wrap="square" lIns="0" tIns="0" rIns="0" bIns="0" rtlCol="0" anchor="ctr"/>
          <a:lstStyle/>
          <a:p>
            <a:pPr marL="0" indent="0">
              <a:buNone/>
            </a:pPr>
            <a:r>
              <a:rPr lang="en-US" sz="1800" b="1" dirty="0">
                <a:solidFill>
                  <a:srgbClr val="5EEAD4"/>
                </a:solidFill>
              </a:rPr>
              <a:t>2 × 3  </a:t>
            </a:r>
            <a:r>
              <a:rPr lang="en-US" sz="1300" dirty="0">
                <a:solidFill>
                  <a:schemeClr val="bg1"/>
                </a:solidFill>
              </a:rPr>
              <a:t>shards × Raft replicas</a:t>
            </a:r>
            <a:endParaRPr lang="en-US" sz="1400" dirty="0"/>
          </a:p>
        </p:txBody>
      </p:sp>
      <p:sp>
        <p:nvSpPr>
          <p:cNvPr id="32" name="text-29"/>
          <p:cNvSpPr txBox="1"/>
          <p:nvPr/>
        </p:nvSpPr>
        <p:spPr>
          <a:xfrm>
            <a:off x="8275320" y="4983480"/>
            <a:ext cx="3200400" cy="384048"/>
          </a:xfrm>
          <a:prstGeom prst="rect">
            <a:avLst/>
          </a:prstGeom>
          <a:noFill/>
          <a:ln/>
        </p:spPr>
        <p:txBody>
          <a:bodyPr wrap="square" lIns="0" tIns="0" rIns="0" bIns="0" rtlCol="0" anchor="ctr"/>
          <a:lstStyle/>
          <a:p>
            <a:pPr marL="0" indent="0">
              <a:buNone/>
            </a:pPr>
            <a:r>
              <a:rPr lang="en-US" sz="1800" b="1" dirty="0">
                <a:solidFill>
                  <a:srgbClr val="5EEAD4"/>
                </a:solidFill>
              </a:rPr>
              <a:t>0  </a:t>
            </a:r>
            <a:r>
              <a:rPr lang="en-US" sz="1300" dirty="0">
                <a:solidFill>
                  <a:schemeClr val="bg1"/>
                </a:solidFill>
              </a:rPr>
              <a:t>writes lost under chaos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A single database can't keep health records safe</a:t>
            </a:r>
            <a:endParaRPr lang="en-US" sz="3000" dirty="0"/>
          </a:p>
        </p:txBody>
      </p:sp>
      <p:sp>
        <p:nvSpPr>
          <p:cNvPr id="3" name="glass-30"/>
          <p:cNvSpPr/>
          <p:nvPr/>
        </p:nvSpPr>
        <p:spPr>
          <a:xfrm>
            <a:off x="548640" y="1463040"/>
            <a:ext cx="2560320" cy="2423160"/>
          </a:xfrm>
          <a:prstGeom prst="roundRect">
            <a:avLst>
              <a:gd name="adj" fmla="val 830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4" name="icon-unplug-rose-31" descr="C:\Users\hares\AppData\Local\Temp\claude\C--Users-hares-Downloads-distributed-proj\b8b70322-b8bd-48b7-a531-3815c955f6d1\scratchpad\deck\assets\icon-unplug-rose.png"/>
          <p:cNvPicPr>
            <a:picLocks noChangeAspect="1"/>
          </p:cNvPicPr>
          <p:nvPr/>
        </p:nvPicPr>
        <p:blipFill>
          <a:blip r:embed="rId3"/>
          <a:stretch>
            <a:fillRect/>
          </a:stretch>
        </p:blipFill>
        <p:spPr>
          <a:xfrm>
            <a:off x="804672" y="1737360"/>
            <a:ext cx="566928" cy="566928"/>
          </a:xfrm>
          <a:prstGeom prst="rect">
            <a:avLst/>
          </a:prstGeom>
        </p:spPr>
      </p:pic>
      <p:sp>
        <p:nvSpPr>
          <p:cNvPr id="5" name="text-32"/>
          <p:cNvSpPr txBox="1"/>
          <p:nvPr/>
        </p:nvSpPr>
        <p:spPr>
          <a:xfrm>
            <a:off x="1508760" y="169164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Single point of failure</a:t>
            </a:r>
            <a:endParaRPr lang="en-US" sz="1600" dirty="0"/>
          </a:p>
        </p:txBody>
      </p:sp>
      <p:sp>
        <p:nvSpPr>
          <p:cNvPr id="6" name="text-33"/>
          <p:cNvSpPr txBox="1"/>
          <p:nvPr/>
        </p:nvSpPr>
        <p:spPr>
          <a:xfrm>
            <a:off x="804672" y="2560320"/>
            <a:ext cx="2048256" cy="1188720"/>
          </a:xfrm>
          <a:prstGeom prst="rect">
            <a:avLst/>
          </a:prstGeom>
          <a:noFill/>
          <a:ln/>
        </p:spPr>
        <p:txBody>
          <a:bodyPr wrap="square" lIns="0" tIns="0" rIns="0" bIns="0" rtlCol="0" anchor="t"/>
          <a:lstStyle/>
          <a:p>
            <a:pPr marL="0" indent="0">
              <a:buNone/>
            </a:pPr>
            <a:r>
              <a:rPr lang="en-US" sz="1300" dirty="0">
                <a:solidFill>
                  <a:schemeClr val="tx2"/>
                </a:solidFill>
              </a:rPr>
              <a:t>One crashed server halts record access for every hospital.</a:t>
            </a:r>
            <a:endParaRPr lang="en-US" sz="1300" dirty="0"/>
          </a:p>
        </p:txBody>
      </p:sp>
      <p:sp>
        <p:nvSpPr>
          <p:cNvPr id="7" name="glass-34"/>
          <p:cNvSpPr/>
          <p:nvPr/>
        </p:nvSpPr>
        <p:spPr>
          <a:xfrm>
            <a:off x="3383280" y="1463040"/>
            <a:ext cx="2560320" cy="2423160"/>
          </a:xfrm>
          <a:prstGeom prst="roundRect">
            <a:avLst>
              <a:gd name="adj" fmla="val 830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8" name="icon-gauge-amber-35" descr="C:\Users\hares\AppData\Local\Temp\claude\C--Users-hares-Downloads-distributed-proj\b8b70322-b8bd-48b7-a531-3815c955f6d1\scratchpad\deck\assets\icon-gauge-amber.png"/>
          <p:cNvPicPr>
            <a:picLocks noChangeAspect="1"/>
          </p:cNvPicPr>
          <p:nvPr/>
        </p:nvPicPr>
        <p:blipFill>
          <a:blip r:embed="rId4"/>
          <a:stretch>
            <a:fillRect/>
          </a:stretch>
        </p:blipFill>
        <p:spPr>
          <a:xfrm>
            <a:off x="3639312" y="1737360"/>
            <a:ext cx="566928" cy="566928"/>
          </a:xfrm>
          <a:prstGeom prst="rect">
            <a:avLst/>
          </a:prstGeom>
        </p:spPr>
      </p:pic>
      <p:sp>
        <p:nvSpPr>
          <p:cNvPr id="9" name="text-36"/>
          <p:cNvSpPr txBox="1"/>
          <p:nvPr/>
        </p:nvSpPr>
        <p:spPr>
          <a:xfrm>
            <a:off x="4343400" y="169164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Can't scale out</a:t>
            </a:r>
            <a:endParaRPr lang="en-US" sz="1600" dirty="0"/>
          </a:p>
        </p:txBody>
      </p:sp>
      <p:sp>
        <p:nvSpPr>
          <p:cNvPr id="10" name="text-37"/>
          <p:cNvSpPr txBox="1"/>
          <p:nvPr/>
        </p:nvSpPr>
        <p:spPr>
          <a:xfrm>
            <a:off x="3639312" y="2560320"/>
            <a:ext cx="2048256" cy="1188720"/>
          </a:xfrm>
          <a:prstGeom prst="rect">
            <a:avLst/>
          </a:prstGeom>
          <a:noFill/>
          <a:ln/>
        </p:spPr>
        <p:txBody>
          <a:bodyPr wrap="square" lIns="0" tIns="0" rIns="0" bIns="0" rtlCol="0" anchor="t"/>
          <a:lstStyle/>
          <a:p>
            <a:pPr marL="0" indent="0">
              <a:buNone/>
            </a:pPr>
            <a:r>
              <a:rPr lang="en-US" sz="1300" dirty="0">
                <a:solidFill>
                  <a:schemeClr val="tx2"/>
                </a:solidFill>
              </a:rPr>
              <a:t>One machine caps concurrent access from thousands of clinics.</a:t>
            </a:r>
            <a:endParaRPr lang="en-US" sz="1300" dirty="0"/>
          </a:p>
        </p:txBody>
      </p:sp>
      <p:sp>
        <p:nvSpPr>
          <p:cNvPr id="11" name="glass-38"/>
          <p:cNvSpPr/>
          <p:nvPr/>
        </p:nvSpPr>
        <p:spPr>
          <a:xfrm>
            <a:off x="6217920" y="1463040"/>
            <a:ext cx="2560320" cy="2423160"/>
          </a:xfrm>
          <a:prstGeom prst="roundRect">
            <a:avLst>
              <a:gd name="adj" fmla="val 830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2" name="icon-shieldalert-violet-39" descr="C:\Users\hares\AppData\Local\Temp\claude\C--Users-hares-Downloads-distributed-proj\b8b70322-b8bd-48b7-a531-3815c955f6d1\scratchpad\deck\assets\icon-shieldalert-violet.png"/>
          <p:cNvPicPr>
            <a:picLocks noChangeAspect="1"/>
          </p:cNvPicPr>
          <p:nvPr/>
        </p:nvPicPr>
        <p:blipFill>
          <a:blip r:embed="rId5"/>
          <a:stretch>
            <a:fillRect/>
          </a:stretch>
        </p:blipFill>
        <p:spPr>
          <a:xfrm>
            <a:off x="6473952" y="1737360"/>
            <a:ext cx="566928" cy="566928"/>
          </a:xfrm>
          <a:prstGeom prst="rect">
            <a:avLst/>
          </a:prstGeom>
        </p:spPr>
      </p:pic>
      <p:sp>
        <p:nvSpPr>
          <p:cNvPr id="13" name="text-40"/>
          <p:cNvSpPr txBox="1"/>
          <p:nvPr/>
        </p:nvSpPr>
        <p:spPr>
          <a:xfrm>
            <a:off x="7178040" y="169164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Weak access control</a:t>
            </a:r>
            <a:endParaRPr lang="en-US" sz="1600" dirty="0"/>
          </a:p>
        </p:txBody>
      </p:sp>
      <p:sp>
        <p:nvSpPr>
          <p:cNvPr id="14" name="text-41"/>
          <p:cNvSpPr txBox="1"/>
          <p:nvPr/>
        </p:nvSpPr>
        <p:spPr>
          <a:xfrm>
            <a:off x="6473952" y="2560320"/>
            <a:ext cx="2048256" cy="1188720"/>
          </a:xfrm>
          <a:prstGeom prst="rect">
            <a:avLst/>
          </a:prstGeom>
          <a:noFill/>
          <a:ln/>
        </p:spPr>
        <p:txBody>
          <a:bodyPr wrap="square" lIns="0" tIns="0" rIns="0" bIns="0" rtlCol="0" anchor="t"/>
          <a:lstStyle/>
          <a:p>
            <a:pPr marL="0" indent="0">
              <a:buNone/>
            </a:pPr>
            <a:r>
              <a:rPr lang="en-US" sz="1300" dirty="0">
                <a:solidFill>
                  <a:schemeClr val="tx2"/>
                </a:solidFill>
              </a:rPr>
              <a:t>Role-only rules ignore patient consent and emergencies.</a:t>
            </a:r>
            <a:endParaRPr lang="en-US" sz="1300" dirty="0"/>
          </a:p>
        </p:txBody>
      </p:sp>
      <p:sp>
        <p:nvSpPr>
          <p:cNvPr id="15" name="glass-42"/>
          <p:cNvSpPr/>
          <p:nvPr/>
        </p:nvSpPr>
        <p:spPr>
          <a:xfrm>
            <a:off x="9052560" y="1463040"/>
            <a:ext cx="2560320" cy="2423160"/>
          </a:xfrm>
          <a:prstGeom prst="roundRect">
            <a:avLst>
              <a:gd name="adj" fmla="val 830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6" name="icon-history-indigo-43" descr="C:\Users\hares\AppData\Local\Temp\claude\C--Users-hares-Downloads-distributed-proj\b8b70322-b8bd-48b7-a531-3815c955f6d1\scratchpad\deck\assets\icon-history-indigo.png"/>
          <p:cNvPicPr>
            <a:picLocks noChangeAspect="1"/>
          </p:cNvPicPr>
          <p:nvPr/>
        </p:nvPicPr>
        <p:blipFill>
          <a:blip r:embed="rId6"/>
          <a:stretch>
            <a:fillRect/>
          </a:stretch>
        </p:blipFill>
        <p:spPr>
          <a:xfrm>
            <a:off x="9308592" y="1737360"/>
            <a:ext cx="566928" cy="566928"/>
          </a:xfrm>
          <a:prstGeom prst="rect">
            <a:avLst/>
          </a:prstGeom>
        </p:spPr>
      </p:pic>
      <p:sp>
        <p:nvSpPr>
          <p:cNvPr id="17" name="text-44"/>
          <p:cNvSpPr txBox="1"/>
          <p:nvPr/>
        </p:nvSpPr>
        <p:spPr>
          <a:xfrm>
            <a:off x="10012680" y="169164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Editable history</a:t>
            </a:r>
            <a:endParaRPr lang="en-US" sz="1600" dirty="0"/>
          </a:p>
        </p:txBody>
      </p:sp>
      <p:sp>
        <p:nvSpPr>
          <p:cNvPr id="18" name="text-45"/>
          <p:cNvSpPr txBox="1"/>
          <p:nvPr/>
        </p:nvSpPr>
        <p:spPr>
          <a:xfrm>
            <a:off x="9308592" y="2560320"/>
            <a:ext cx="2048256" cy="1188720"/>
          </a:xfrm>
          <a:prstGeom prst="rect">
            <a:avLst/>
          </a:prstGeom>
          <a:noFill/>
          <a:ln/>
        </p:spPr>
        <p:txBody>
          <a:bodyPr wrap="square" lIns="0" tIns="0" rIns="0" bIns="0" rtlCol="0" anchor="t"/>
          <a:lstStyle/>
          <a:p>
            <a:pPr marL="0" indent="0">
              <a:buNone/>
            </a:pPr>
            <a:r>
              <a:rPr lang="en-US" sz="1300" dirty="0">
                <a:solidFill>
                  <a:schemeClr val="tx2"/>
                </a:solidFill>
              </a:rPr>
              <a:t>Logs can be changed later, so access can't be proven.</a:t>
            </a:r>
            <a:endParaRPr lang="en-US" sz="1300" dirty="0"/>
          </a:p>
        </p:txBody>
      </p:sp>
      <p:sp>
        <p:nvSpPr>
          <p:cNvPr id="19" name="goal-46"/>
          <p:cNvSpPr/>
          <p:nvPr/>
        </p:nvSpPr>
        <p:spPr>
          <a:xfrm>
            <a:off x="548640" y="4206240"/>
            <a:ext cx="11064240" cy="1920240"/>
          </a:xfrm>
          <a:prstGeom prst="roundRect">
            <a:avLst>
              <a:gd name="adj" fmla="val 10476"/>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20" name="icon-hospital-teal-47" descr="C:\Users\hares\AppData\Local\Temp\claude\C--Users-hares-Downloads-distributed-proj\b8b70322-b8bd-48b7-a531-3815c955f6d1\scratchpad\deck\assets\icon-hospital-teal.png"/>
          <p:cNvPicPr>
            <a:picLocks noChangeAspect="1"/>
          </p:cNvPicPr>
          <p:nvPr/>
        </p:nvPicPr>
        <p:blipFill>
          <a:blip r:embed="rId7"/>
          <a:stretch>
            <a:fillRect/>
          </a:stretch>
        </p:blipFill>
        <p:spPr>
          <a:xfrm>
            <a:off x="868680" y="4526280"/>
            <a:ext cx="685800" cy="685800"/>
          </a:xfrm>
          <a:prstGeom prst="rect">
            <a:avLst/>
          </a:prstGeom>
        </p:spPr>
      </p:pic>
      <p:sp>
        <p:nvSpPr>
          <p:cNvPr id="21" name="text-48"/>
          <p:cNvSpPr txBox="1"/>
          <p:nvPr/>
        </p:nvSpPr>
        <p:spPr>
          <a:xfrm>
            <a:off x="1783080" y="4526280"/>
            <a:ext cx="548640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PROJECT GOAL</a:t>
            </a:r>
            <a:endParaRPr lang="en-US" sz="1100" dirty="0"/>
          </a:p>
        </p:txBody>
      </p:sp>
      <p:sp>
        <p:nvSpPr>
          <p:cNvPr id="22" name="text-49"/>
          <p:cNvSpPr txBox="1"/>
          <p:nvPr/>
        </p:nvSpPr>
        <p:spPr>
          <a:xfrm>
            <a:off x="1783080" y="4846320"/>
            <a:ext cx="9509760" cy="1005840"/>
          </a:xfrm>
          <a:prstGeom prst="rect">
            <a:avLst/>
          </a:prstGeom>
          <a:noFill/>
          <a:ln/>
        </p:spPr>
        <p:txBody>
          <a:bodyPr wrap="square" lIns="0" tIns="0" rIns="0" bIns="0" rtlCol="0" anchor="t"/>
          <a:lstStyle/>
          <a:p>
            <a:pPr marL="0" indent="0">
              <a:buNone/>
            </a:pPr>
            <a:r>
              <a:rPr lang="en-US" sz="1900" dirty="0">
                <a:solidFill>
                  <a:schemeClr val="tx1"/>
                </a:solidFill>
              </a:rPr>
              <a:t>A records system that stays available when servers fail, never loses or duplicates an acknowledged write, and lets patients control who reads their data.</a:t>
            </a:r>
            <a:endParaRPr lang="en-US" sz="19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From one central server to a fault-tolerant cluster</a:t>
            </a:r>
            <a:endParaRPr lang="en-US" sz="3000" dirty="0"/>
          </a:p>
        </p:txBody>
      </p:sp>
      <p:sp>
        <p:nvSpPr>
          <p:cNvPr id="3" name="comparison-50"/>
          <p:cNvSpPr/>
          <p:nvPr/>
        </p:nvSpPr>
        <p:spPr>
          <a:xfrm>
            <a:off x="548640" y="1417320"/>
            <a:ext cx="1106424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10515600" cy="4096512"/>
        </p:xfrm>
        <a:graphic>
          <a:graphicData uri="http://schemas.openxmlformats.org/drawingml/2006/table">
            <a:tbl>
              <a:tblPr/>
              <a:tblGrid>
                <a:gridCol w="21031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12064">
                <a:tc>
                  <a:txBody>
                    <a:bodyPr/>
                    <a:lstStyle/>
                    <a:p>
                      <a:pPr marL="0" indent="0">
                        <a:buNone/>
                      </a:pPr>
                      <a:r>
                        <a:rPr lang="en-US" sz="1200" b="1" dirty="0">
                          <a:solidFill>
                            <a:schemeClr val="tx2"/>
                          </a:solidFill>
                        </a:rPr>
                        <a:t>Concern</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Centralized system</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MediChain</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0"/>
                  </a:ext>
                </a:extLst>
              </a:tr>
              <a:tr h="512064">
                <a:tc>
                  <a:txBody>
                    <a:bodyPr/>
                    <a:lstStyle/>
                    <a:p>
                      <a:pPr marL="0" indent="0">
                        <a:buNone/>
                      </a:pPr>
                      <a:r>
                        <a:rPr lang="en-US" sz="1350" b="1" dirty="0">
                          <a:solidFill>
                            <a:schemeClr val="tx1"/>
                          </a:solidFill>
                        </a:rPr>
                        <a:t>Server failure</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dirty="0">
                          <a:solidFill>
                            <a:schemeClr val="tx2"/>
                          </a:solidFill>
                        </a:rPr>
                        <a:t>Total downtime</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b="1" dirty="0">
                          <a:solidFill>
                            <a:schemeClr val="accent1"/>
                          </a:solidFill>
                        </a:rPr>
                        <a:t>Raft elects a new leader in about 1–2 s; writes continue</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350" b="1" dirty="0">
                          <a:solidFill>
                            <a:schemeClr val="tx1"/>
                          </a:solidFill>
                        </a:rPr>
                        <a:t>Durability</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dirty="0">
                          <a:solidFill>
                            <a:schemeClr val="tx2"/>
                          </a:solidFill>
                        </a:rPr>
                        <a:t>Lost if the disk fails before backup</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b="1" dirty="0">
                          <a:solidFill>
                            <a:schemeClr val="accent1"/>
                          </a:solidFill>
                        </a:rPr>
                        <a:t>Stored on a majority of replicas before it is acknowledged</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350" b="1" dirty="0">
                          <a:solidFill>
                            <a:schemeClr val="tx1"/>
                          </a:solidFill>
                        </a:rPr>
                        <a:t>Scaling</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dirty="0">
                          <a:solidFill>
                            <a:schemeClr val="tx2"/>
                          </a:solidFill>
                        </a:rPr>
                        <a:t>Vertical only, capped by one machine</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b="1" dirty="0">
                          <a:solidFill>
                            <a:schemeClr val="accent1"/>
                          </a:solidFill>
                        </a:rPr>
                        <a:t>Horizontal: patients sharded by consistent hashing</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350" b="1" dirty="0">
                          <a:solidFill>
                            <a:schemeClr val="tx1"/>
                          </a:solidFill>
                        </a:rPr>
                        <a:t>Network partition</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dirty="0">
                          <a:solidFill>
                            <a:schemeClr val="tx2"/>
                          </a:solidFill>
                        </a:rPr>
                        <a:t>Undefined behaviour</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b="1" dirty="0">
                          <a:solidFill>
                            <a:schemeClr val="accent1"/>
                          </a:solidFill>
                        </a:rPr>
                        <a:t>Minority side refuses writes; no split-brain</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350" b="1" dirty="0">
                          <a:solidFill>
                            <a:schemeClr val="tx1"/>
                          </a:solidFill>
                        </a:rPr>
                        <a:t>Access control</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dirty="0">
                          <a:solidFill>
                            <a:schemeClr val="tx2"/>
                          </a:solidFill>
                        </a:rPr>
                        <a:t>Role only</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b="1" dirty="0">
                          <a:solidFill>
                            <a:schemeClr val="accent1"/>
                          </a:solidFill>
                        </a:rPr>
                        <a:t>Role + patient consent + time-limited emergency override</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350" b="1" dirty="0">
                          <a:solidFill>
                            <a:schemeClr val="tx1"/>
                          </a:solidFill>
                        </a:rPr>
                        <a:t>Data at rest</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dirty="0">
                          <a:solidFill>
                            <a:schemeClr val="tx2"/>
                          </a:solidFill>
                        </a:rPr>
                        <a:t>Plaintext identifiers</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b="1" dirty="0">
                          <a:solidFill>
                            <a:schemeClr val="accent1"/>
                          </a:solidFill>
                        </a:rPr>
                        <a:t>AES-256-GCM field-level encryption</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6"/>
                  </a:ext>
                </a:extLst>
              </a:tr>
              <a:tr h="512064">
                <a:tc>
                  <a:txBody>
                    <a:bodyPr/>
                    <a:lstStyle/>
                    <a:p>
                      <a:pPr marL="0" indent="0">
                        <a:buNone/>
                      </a:pPr>
                      <a:r>
                        <a:rPr lang="en-US" sz="1350" b="1" dirty="0">
                          <a:solidFill>
                            <a:schemeClr val="tx1"/>
                          </a:solidFill>
                        </a:rPr>
                        <a:t>Auditing</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dirty="0">
                          <a:solidFill>
                            <a:schemeClr val="tx2"/>
                          </a:solidFill>
                        </a:rPr>
                        <a:t>Editable logs</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50" b="1" dirty="0">
                          <a:solidFill>
                            <a:schemeClr val="accent1"/>
                          </a:solidFill>
                        </a:rPr>
                        <a:t>SHA-256 hash-chained ledger; edits are detected</a:t>
                      </a:r>
                      <a:endParaRPr lang="en-US" sz="13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Architecture: every request passes the gateway</a:t>
            </a:r>
            <a:endParaRPr lang="en-US" sz="3000" dirty="0"/>
          </a:p>
        </p:txBody>
      </p:sp>
      <p:sp>
        <p:nvSpPr>
          <p:cNvPr id="3" name="glass-51"/>
          <p:cNvSpPr/>
          <p:nvPr/>
        </p:nvSpPr>
        <p:spPr>
          <a:xfrm>
            <a:off x="548640" y="1371600"/>
            <a:ext cx="3383280" cy="548640"/>
          </a:xfrm>
          <a:prstGeom prst="roundRect">
            <a:avLst>
              <a:gd name="adj" fmla="val 36667"/>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4" name="text-52"/>
          <p:cNvSpPr txBox="1"/>
          <p:nvPr/>
        </p:nvSpPr>
        <p:spPr>
          <a:xfrm>
            <a:off x="548640" y="1371600"/>
            <a:ext cx="3383280" cy="548640"/>
          </a:xfrm>
          <a:prstGeom prst="rect">
            <a:avLst/>
          </a:prstGeom>
          <a:noFill/>
          <a:ln/>
        </p:spPr>
        <p:txBody>
          <a:bodyPr wrap="square" lIns="0" tIns="0" rIns="0" bIns="0" rtlCol="0" anchor="ctr"/>
          <a:lstStyle/>
          <a:p>
            <a:pPr marL="0" indent="0" algn="ctr">
              <a:buNone/>
            </a:pPr>
            <a:r>
              <a:rPr lang="en-US" sz="1500" b="1" dirty="0">
                <a:solidFill>
                  <a:schemeClr val="tx1"/>
                </a:solidFill>
              </a:rPr>
              <a:t>Clinician portal</a:t>
            </a:r>
            <a:endParaRPr lang="en-US" sz="1500" dirty="0"/>
          </a:p>
        </p:txBody>
      </p:sp>
      <p:sp>
        <p:nvSpPr>
          <p:cNvPr id="5" name="glass-53"/>
          <p:cNvSpPr/>
          <p:nvPr/>
        </p:nvSpPr>
        <p:spPr>
          <a:xfrm>
            <a:off x="4389120" y="1371600"/>
            <a:ext cx="3383280" cy="548640"/>
          </a:xfrm>
          <a:prstGeom prst="roundRect">
            <a:avLst>
              <a:gd name="adj" fmla="val 36667"/>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6" name="text-54"/>
          <p:cNvSpPr txBox="1"/>
          <p:nvPr/>
        </p:nvSpPr>
        <p:spPr>
          <a:xfrm>
            <a:off x="4389120" y="1371600"/>
            <a:ext cx="3383280" cy="548640"/>
          </a:xfrm>
          <a:prstGeom prst="rect">
            <a:avLst/>
          </a:prstGeom>
          <a:noFill/>
          <a:ln/>
        </p:spPr>
        <p:txBody>
          <a:bodyPr wrap="square" lIns="0" tIns="0" rIns="0" bIns="0" rtlCol="0" anchor="ctr"/>
          <a:lstStyle/>
          <a:p>
            <a:pPr marL="0" indent="0" algn="ctr">
              <a:buNone/>
            </a:pPr>
            <a:r>
              <a:rPr lang="en-US" sz="1500" b="1" dirty="0">
                <a:solidFill>
                  <a:schemeClr val="tx1"/>
                </a:solidFill>
              </a:rPr>
              <a:t>Patient portal</a:t>
            </a:r>
            <a:endParaRPr lang="en-US" sz="1500" dirty="0"/>
          </a:p>
        </p:txBody>
      </p:sp>
      <p:sp>
        <p:nvSpPr>
          <p:cNvPr id="7" name="glass-55"/>
          <p:cNvSpPr/>
          <p:nvPr/>
        </p:nvSpPr>
        <p:spPr>
          <a:xfrm>
            <a:off x="8229600" y="1371600"/>
            <a:ext cx="3383280" cy="548640"/>
          </a:xfrm>
          <a:prstGeom prst="roundRect">
            <a:avLst>
              <a:gd name="adj" fmla="val 36667"/>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8" name="text-56"/>
          <p:cNvSpPr txBox="1"/>
          <p:nvPr/>
        </p:nvSpPr>
        <p:spPr>
          <a:xfrm>
            <a:off x="8229600" y="1371600"/>
            <a:ext cx="3383280" cy="548640"/>
          </a:xfrm>
          <a:prstGeom prst="rect">
            <a:avLst/>
          </a:prstGeom>
          <a:noFill/>
          <a:ln/>
        </p:spPr>
        <p:txBody>
          <a:bodyPr wrap="square" lIns="0" tIns="0" rIns="0" bIns="0" rtlCol="0" anchor="ctr"/>
          <a:lstStyle/>
          <a:p>
            <a:pPr marL="0" indent="0" algn="ctr">
              <a:buNone/>
            </a:pPr>
            <a:r>
              <a:rPr lang="en-US" sz="1500" b="1" dirty="0">
                <a:solidFill>
                  <a:schemeClr val="tx1"/>
                </a:solidFill>
              </a:rPr>
              <a:t>Operations console</a:t>
            </a:r>
            <a:endParaRPr lang="en-US" sz="1500" dirty="0"/>
          </a:p>
        </p:txBody>
      </p:sp>
      <p:sp>
        <p:nvSpPr>
          <p:cNvPr id="9" name="connector-57"/>
          <p:cNvSpPr/>
          <p:nvPr/>
        </p:nvSpPr>
        <p:spPr>
          <a:xfrm>
            <a:off x="2240280" y="1920240"/>
            <a:ext cx="0" cy="320040"/>
          </a:xfrm>
          <a:prstGeom prst="line">
            <a:avLst/>
          </a:prstGeom>
          <a:noFill/>
          <a:ln w="15875">
            <a:solidFill>
              <a:schemeClr val="tx2"/>
            </a:solidFill>
            <a:prstDash val="solid"/>
            <a:tailEnd type="triangle"/>
          </a:ln>
        </p:spPr>
      </p:sp>
      <p:sp>
        <p:nvSpPr>
          <p:cNvPr id="10" name="connector-58"/>
          <p:cNvSpPr/>
          <p:nvPr/>
        </p:nvSpPr>
        <p:spPr>
          <a:xfrm>
            <a:off x="6080760" y="1920240"/>
            <a:ext cx="0" cy="320040"/>
          </a:xfrm>
          <a:prstGeom prst="line">
            <a:avLst/>
          </a:prstGeom>
          <a:noFill/>
          <a:ln w="15875">
            <a:solidFill>
              <a:schemeClr val="tx2"/>
            </a:solidFill>
            <a:prstDash val="solid"/>
            <a:tailEnd type="triangle"/>
          </a:ln>
        </p:spPr>
      </p:sp>
      <p:sp>
        <p:nvSpPr>
          <p:cNvPr id="11" name="connector-59"/>
          <p:cNvSpPr/>
          <p:nvPr/>
        </p:nvSpPr>
        <p:spPr>
          <a:xfrm>
            <a:off x="9921240" y="1920240"/>
            <a:ext cx="0" cy="320040"/>
          </a:xfrm>
          <a:prstGeom prst="line">
            <a:avLst/>
          </a:prstGeom>
          <a:noFill/>
          <a:ln w="15875">
            <a:solidFill>
              <a:schemeClr val="tx2"/>
            </a:solidFill>
            <a:prstDash val="solid"/>
            <a:tailEnd type="triangle"/>
          </a:ln>
        </p:spPr>
      </p:sp>
      <p:sp>
        <p:nvSpPr>
          <p:cNvPr id="12" name="gateway-60"/>
          <p:cNvSpPr/>
          <p:nvPr/>
        </p:nvSpPr>
        <p:spPr>
          <a:xfrm>
            <a:off x="548640" y="2240280"/>
            <a:ext cx="11064240" cy="914400"/>
          </a:xfrm>
          <a:prstGeom prst="roundRect">
            <a:avLst>
              <a:gd name="adj" fmla="val 22000"/>
            </a:avLst>
          </a:prstGeom>
          <a:solidFill>
            <a:schemeClr val="accent1">
              <a:alpha val="18000"/>
            </a:schemeClr>
          </a:solidFill>
          <a:ln w="22225">
            <a:solidFill>
              <a:schemeClr val="accent1"/>
            </a:solidFill>
            <a:prstDash val="solid"/>
          </a:ln>
          <a:effectLst>
            <a:outerShdw blurRad="228600" dist="50800" dir="5400000" algn="bl" rotWithShape="0">
              <a:srgbClr val="1E293B">
                <a:alpha val="10000"/>
              </a:srgbClr>
            </a:outerShdw>
          </a:effectLst>
        </p:spPr>
      </p:sp>
      <p:sp>
        <p:nvSpPr>
          <p:cNvPr id="13" name="text-61"/>
          <p:cNvSpPr txBox="1"/>
          <p:nvPr/>
        </p:nvSpPr>
        <p:spPr>
          <a:xfrm>
            <a:off x="548640" y="2331720"/>
            <a:ext cx="11064240" cy="347472"/>
          </a:xfrm>
          <a:prstGeom prst="rect">
            <a:avLst/>
          </a:prstGeom>
          <a:noFill/>
          <a:ln/>
        </p:spPr>
        <p:txBody>
          <a:bodyPr wrap="square" lIns="0" tIns="0" rIns="0" bIns="0" rtlCol="0" anchor="t"/>
          <a:lstStyle/>
          <a:p>
            <a:pPr marL="0" indent="0" algn="ctr">
              <a:buNone/>
            </a:pPr>
            <a:r>
              <a:rPr lang="en-US" sz="1700" b="1" dirty="0">
                <a:solidFill>
                  <a:schemeClr val="tx1"/>
                </a:solidFill>
              </a:rPr>
              <a:t>API gateway</a:t>
            </a:r>
            <a:endParaRPr lang="en-US" sz="1700" dirty="0"/>
          </a:p>
        </p:txBody>
      </p:sp>
      <p:sp>
        <p:nvSpPr>
          <p:cNvPr id="14" name="text-62"/>
          <p:cNvSpPr txBox="1"/>
          <p:nvPr/>
        </p:nvSpPr>
        <p:spPr>
          <a:xfrm>
            <a:off x="548640" y="2724912"/>
            <a:ext cx="11064240" cy="320040"/>
          </a:xfrm>
          <a:prstGeom prst="rect">
            <a:avLst/>
          </a:prstGeom>
          <a:noFill/>
          <a:ln/>
        </p:spPr>
        <p:txBody>
          <a:bodyPr wrap="square" lIns="0" tIns="0" rIns="0" bIns="0" rtlCol="0" anchor="t"/>
          <a:lstStyle/>
          <a:p>
            <a:pPr marL="0" indent="0" algn="ctr">
              <a:buNone/>
            </a:pPr>
            <a:r>
              <a:rPr lang="en-US" sz="1300" dirty="0">
                <a:solidFill>
                  <a:schemeClr val="tx1"/>
                </a:solidFill>
              </a:rPr>
              <a:t>JWT check  ·  RBAC + consent  ·  rate limits  ·  cache  ·  circuit breakers  ·  routing by patient-ID hash</a:t>
            </a:r>
            <a:endParaRPr lang="en-US" sz="1300" dirty="0"/>
          </a:p>
        </p:txBody>
      </p:sp>
      <p:sp>
        <p:nvSpPr>
          <p:cNvPr id="15" name="connector-63"/>
          <p:cNvSpPr/>
          <p:nvPr/>
        </p:nvSpPr>
        <p:spPr>
          <a:xfrm>
            <a:off x="1554480" y="3154680"/>
            <a:ext cx="0" cy="365760"/>
          </a:xfrm>
          <a:prstGeom prst="line">
            <a:avLst/>
          </a:prstGeom>
          <a:noFill/>
          <a:ln w="15875">
            <a:solidFill>
              <a:schemeClr val="tx2"/>
            </a:solidFill>
            <a:prstDash val="solid"/>
            <a:tailEnd type="triangle"/>
          </a:ln>
        </p:spPr>
      </p:sp>
      <p:sp>
        <p:nvSpPr>
          <p:cNvPr id="16" name="connector-64"/>
          <p:cNvSpPr/>
          <p:nvPr/>
        </p:nvSpPr>
        <p:spPr>
          <a:xfrm>
            <a:off x="4297680" y="3154680"/>
            <a:ext cx="0" cy="365760"/>
          </a:xfrm>
          <a:prstGeom prst="line">
            <a:avLst/>
          </a:prstGeom>
          <a:noFill/>
          <a:ln w="15875">
            <a:solidFill>
              <a:schemeClr val="tx2"/>
            </a:solidFill>
            <a:prstDash val="solid"/>
            <a:tailEnd type="triangle"/>
          </a:ln>
        </p:spPr>
      </p:sp>
      <p:sp>
        <p:nvSpPr>
          <p:cNvPr id="17" name="connector-65"/>
          <p:cNvSpPr/>
          <p:nvPr/>
        </p:nvSpPr>
        <p:spPr>
          <a:xfrm>
            <a:off x="7498080" y="3154680"/>
            <a:ext cx="0" cy="365760"/>
          </a:xfrm>
          <a:prstGeom prst="line">
            <a:avLst/>
          </a:prstGeom>
          <a:noFill/>
          <a:ln w="15875">
            <a:solidFill>
              <a:schemeClr val="tx2"/>
            </a:solidFill>
            <a:prstDash val="solid"/>
            <a:tailEnd type="triangle"/>
          </a:ln>
        </p:spPr>
      </p:sp>
      <p:sp>
        <p:nvSpPr>
          <p:cNvPr id="18" name="connector-66"/>
          <p:cNvSpPr/>
          <p:nvPr/>
        </p:nvSpPr>
        <p:spPr>
          <a:xfrm>
            <a:off x="10424160" y="3154680"/>
            <a:ext cx="0" cy="365760"/>
          </a:xfrm>
          <a:prstGeom prst="line">
            <a:avLst/>
          </a:prstGeom>
          <a:noFill/>
          <a:ln w="15875">
            <a:solidFill>
              <a:schemeClr val="tx2"/>
            </a:solidFill>
            <a:prstDash val="solid"/>
            <a:tailEnd type="triangle"/>
          </a:ln>
        </p:spPr>
      </p:sp>
      <p:sp>
        <p:nvSpPr>
          <p:cNvPr id="19" name="glass-67"/>
          <p:cNvSpPr/>
          <p:nvPr/>
        </p:nvSpPr>
        <p:spPr>
          <a:xfrm>
            <a:off x="548640" y="3520440"/>
            <a:ext cx="2011680" cy="1325880"/>
          </a:xfrm>
          <a:prstGeom prst="roundRect">
            <a:avLst>
              <a:gd name="adj" fmla="val 1517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20" name="text-68"/>
          <p:cNvSpPr txBox="1"/>
          <p:nvPr/>
        </p:nvSpPr>
        <p:spPr>
          <a:xfrm>
            <a:off x="548640" y="3648456"/>
            <a:ext cx="2011680" cy="365760"/>
          </a:xfrm>
          <a:prstGeom prst="rect">
            <a:avLst/>
          </a:prstGeom>
          <a:noFill/>
          <a:ln/>
        </p:spPr>
        <p:txBody>
          <a:bodyPr wrap="square" lIns="0" tIns="0" rIns="0" bIns="0" rtlCol="0" anchor="t"/>
          <a:lstStyle/>
          <a:p>
            <a:pPr marL="0" indent="0" algn="ctr">
              <a:buNone/>
            </a:pPr>
            <a:r>
              <a:rPr lang="en-US" sz="1500" b="1" dirty="0">
                <a:solidFill>
                  <a:schemeClr val="tx1"/>
                </a:solidFill>
              </a:rPr>
              <a:t>Auth service</a:t>
            </a:r>
            <a:endParaRPr lang="en-US" sz="1500" dirty="0"/>
          </a:p>
        </p:txBody>
      </p:sp>
      <p:sp>
        <p:nvSpPr>
          <p:cNvPr id="21" name="text-69"/>
          <p:cNvSpPr txBox="1"/>
          <p:nvPr/>
        </p:nvSpPr>
        <p:spPr>
          <a:xfrm>
            <a:off x="685800" y="4023360"/>
            <a:ext cx="1737360" cy="777240"/>
          </a:xfrm>
          <a:prstGeom prst="rect">
            <a:avLst/>
          </a:prstGeom>
          <a:noFill/>
          <a:ln/>
        </p:spPr>
        <p:txBody>
          <a:bodyPr wrap="square" lIns="0" tIns="0" rIns="0" bIns="0" rtlCol="0" anchor="t"/>
          <a:lstStyle/>
          <a:p>
            <a:pPr marL="0" indent="0" algn="ctr">
              <a:buNone/>
            </a:pPr>
            <a:r>
              <a:rPr lang="en-US" sz="1200" dirty="0">
                <a:solidFill>
                  <a:schemeClr val="tx2"/>
                </a:solidFill>
              </a:rPr>
              <a:t>bcrypt · lockout · RS256 tokens</a:t>
            </a:r>
            <a:endParaRPr lang="en-US" sz="1200" dirty="0"/>
          </a:p>
        </p:txBody>
      </p:sp>
      <p:sp>
        <p:nvSpPr>
          <p:cNvPr id="22" name="glass-70"/>
          <p:cNvSpPr/>
          <p:nvPr/>
        </p:nvSpPr>
        <p:spPr>
          <a:xfrm>
            <a:off x="2834640" y="3520440"/>
            <a:ext cx="2926080" cy="1325880"/>
          </a:xfrm>
          <a:prstGeom prst="roundRect">
            <a:avLst>
              <a:gd name="adj" fmla="val 1517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23" name="text-71"/>
          <p:cNvSpPr txBox="1"/>
          <p:nvPr/>
        </p:nvSpPr>
        <p:spPr>
          <a:xfrm>
            <a:off x="2834640" y="3630168"/>
            <a:ext cx="2926080" cy="320040"/>
          </a:xfrm>
          <a:prstGeom prst="rect">
            <a:avLst/>
          </a:prstGeom>
          <a:noFill/>
          <a:ln/>
        </p:spPr>
        <p:txBody>
          <a:bodyPr wrap="square" lIns="0" tIns="0" rIns="0" bIns="0" rtlCol="0" anchor="t"/>
          <a:lstStyle/>
          <a:p>
            <a:pPr marL="0" indent="0" algn="ctr">
              <a:buNone/>
            </a:pPr>
            <a:r>
              <a:rPr lang="en-US" sz="1400" b="1" dirty="0">
                <a:solidFill>
                  <a:schemeClr val="tx1"/>
                </a:solidFill>
              </a:rPr>
              <a:t>Shard A · Raft group</a:t>
            </a:r>
            <a:endParaRPr lang="en-US" sz="1400" dirty="0"/>
          </a:p>
        </p:txBody>
      </p:sp>
      <p:sp>
        <p:nvSpPr>
          <p:cNvPr id="24" name="pill-72"/>
          <p:cNvSpPr txBox="1"/>
          <p:nvPr/>
        </p:nvSpPr>
        <p:spPr>
          <a:xfrm>
            <a:off x="3017520" y="4023360"/>
            <a:ext cx="731520" cy="384048"/>
          </a:xfrm>
          <a:prstGeom prst="roundRect">
            <a:avLst>
              <a:gd name="adj" fmla="val 40476"/>
            </a:avLst>
          </a:prstGeom>
          <a:solidFill>
            <a:schemeClr val="bg1">
              <a:alpha val="80000"/>
            </a:schemeClr>
          </a:solidFill>
          <a:ln w="12700">
            <a:solidFill>
              <a:schemeClr val="bg1">
                <a:alpha val="90000"/>
              </a:schemeClr>
            </a:solidFill>
          </a:ln>
        </p:spPr>
        <p:txBody>
          <a:bodyPr wrap="square" lIns="0" tIns="0" rIns="0" bIns="0" rtlCol="0" anchor="ctr"/>
          <a:lstStyle/>
          <a:p>
            <a:pPr marL="0" indent="0" algn="ctr">
              <a:buNone/>
            </a:pPr>
            <a:r>
              <a:rPr lang="en-US" sz="1300" b="1" dirty="0">
                <a:solidFill>
                  <a:schemeClr val="tx1"/>
                </a:solidFill>
              </a:rPr>
              <a:t>a1</a:t>
            </a:r>
            <a:endParaRPr lang="en-US" sz="1300" dirty="0"/>
          </a:p>
        </p:txBody>
      </p:sp>
      <p:sp>
        <p:nvSpPr>
          <p:cNvPr id="25" name="pill-73"/>
          <p:cNvSpPr txBox="1"/>
          <p:nvPr/>
        </p:nvSpPr>
        <p:spPr>
          <a:xfrm>
            <a:off x="3931920" y="4023360"/>
            <a:ext cx="731520" cy="384048"/>
          </a:xfrm>
          <a:prstGeom prst="roundRect">
            <a:avLst>
              <a:gd name="adj" fmla="val 40476"/>
            </a:avLst>
          </a:prstGeom>
          <a:solidFill>
            <a:schemeClr val="bg1">
              <a:alpha val="80000"/>
            </a:schemeClr>
          </a:solidFill>
          <a:ln w="12700">
            <a:solidFill>
              <a:schemeClr val="bg1">
                <a:alpha val="90000"/>
              </a:schemeClr>
            </a:solidFill>
          </a:ln>
        </p:spPr>
        <p:txBody>
          <a:bodyPr wrap="square" lIns="0" tIns="0" rIns="0" bIns="0" rtlCol="0" anchor="ctr"/>
          <a:lstStyle/>
          <a:p>
            <a:pPr marL="0" indent="0" algn="ctr">
              <a:buNone/>
            </a:pPr>
            <a:r>
              <a:rPr lang="en-US" sz="1300" b="1" dirty="0">
                <a:solidFill>
                  <a:schemeClr val="tx1"/>
                </a:solidFill>
              </a:rPr>
              <a:t>a2</a:t>
            </a:r>
            <a:endParaRPr lang="en-US" sz="1300" dirty="0"/>
          </a:p>
        </p:txBody>
      </p:sp>
      <p:sp>
        <p:nvSpPr>
          <p:cNvPr id="26" name="pill-74"/>
          <p:cNvSpPr txBox="1"/>
          <p:nvPr/>
        </p:nvSpPr>
        <p:spPr>
          <a:xfrm>
            <a:off x="4846320" y="4023360"/>
            <a:ext cx="731520" cy="384048"/>
          </a:xfrm>
          <a:prstGeom prst="roundRect">
            <a:avLst>
              <a:gd name="adj" fmla="val 40476"/>
            </a:avLst>
          </a:prstGeom>
          <a:solidFill>
            <a:schemeClr val="bg1">
              <a:alpha val="80000"/>
            </a:schemeClr>
          </a:solidFill>
          <a:ln w="12700">
            <a:solidFill>
              <a:schemeClr val="bg1">
                <a:alpha val="90000"/>
              </a:schemeClr>
            </a:solidFill>
          </a:ln>
        </p:spPr>
        <p:txBody>
          <a:bodyPr wrap="square" lIns="0" tIns="0" rIns="0" bIns="0" rtlCol="0" anchor="ctr"/>
          <a:lstStyle/>
          <a:p>
            <a:pPr marL="0" indent="0" algn="ctr">
              <a:buNone/>
            </a:pPr>
            <a:r>
              <a:rPr lang="en-US" sz="1300" b="1" dirty="0">
                <a:solidFill>
                  <a:schemeClr val="tx1"/>
                </a:solidFill>
              </a:rPr>
              <a:t>a3</a:t>
            </a:r>
            <a:endParaRPr lang="en-US" sz="1300" dirty="0"/>
          </a:p>
        </p:txBody>
      </p:sp>
      <p:sp>
        <p:nvSpPr>
          <p:cNvPr id="27" name="text-75"/>
          <p:cNvSpPr txBox="1"/>
          <p:nvPr/>
        </p:nvSpPr>
        <p:spPr>
          <a:xfrm>
            <a:off x="2834640" y="4498848"/>
            <a:ext cx="2926080" cy="274320"/>
          </a:xfrm>
          <a:prstGeom prst="rect">
            <a:avLst/>
          </a:prstGeom>
          <a:noFill/>
          <a:ln/>
        </p:spPr>
        <p:txBody>
          <a:bodyPr wrap="square" lIns="0" tIns="0" rIns="0" bIns="0" rtlCol="0" anchor="t"/>
          <a:lstStyle/>
          <a:p>
            <a:pPr marL="0" indent="0" algn="ctr">
              <a:buNone/>
            </a:pPr>
            <a:r>
              <a:rPr lang="en-US" sz="1200" dirty="0">
                <a:solidFill>
                  <a:schemeClr val="tx2"/>
                </a:solidFill>
              </a:rPr>
              <a:t>commits at 2 of 3</a:t>
            </a:r>
            <a:endParaRPr lang="en-US" sz="1200" dirty="0"/>
          </a:p>
        </p:txBody>
      </p:sp>
      <p:sp>
        <p:nvSpPr>
          <p:cNvPr id="28" name="glass-76"/>
          <p:cNvSpPr/>
          <p:nvPr/>
        </p:nvSpPr>
        <p:spPr>
          <a:xfrm>
            <a:off x="6035040" y="3520440"/>
            <a:ext cx="2926080" cy="1325880"/>
          </a:xfrm>
          <a:prstGeom prst="roundRect">
            <a:avLst>
              <a:gd name="adj" fmla="val 1517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29" name="text-77"/>
          <p:cNvSpPr txBox="1"/>
          <p:nvPr/>
        </p:nvSpPr>
        <p:spPr>
          <a:xfrm>
            <a:off x="6035040" y="3630168"/>
            <a:ext cx="2926080" cy="320040"/>
          </a:xfrm>
          <a:prstGeom prst="rect">
            <a:avLst/>
          </a:prstGeom>
          <a:noFill/>
          <a:ln/>
        </p:spPr>
        <p:txBody>
          <a:bodyPr wrap="square" lIns="0" tIns="0" rIns="0" bIns="0" rtlCol="0" anchor="t"/>
          <a:lstStyle/>
          <a:p>
            <a:pPr marL="0" indent="0" algn="ctr">
              <a:buNone/>
            </a:pPr>
            <a:r>
              <a:rPr lang="en-US" sz="1400" b="1" dirty="0">
                <a:solidFill>
                  <a:schemeClr val="tx1"/>
                </a:solidFill>
              </a:rPr>
              <a:t>Shard B · Raft group</a:t>
            </a:r>
            <a:endParaRPr lang="en-US" sz="1400" dirty="0"/>
          </a:p>
        </p:txBody>
      </p:sp>
      <p:sp>
        <p:nvSpPr>
          <p:cNvPr id="30" name="pill-78"/>
          <p:cNvSpPr txBox="1"/>
          <p:nvPr/>
        </p:nvSpPr>
        <p:spPr>
          <a:xfrm>
            <a:off x="6217920" y="4023360"/>
            <a:ext cx="731520" cy="384048"/>
          </a:xfrm>
          <a:prstGeom prst="roundRect">
            <a:avLst>
              <a:gd name="adj" fmla="val 40476"/>
            </a:avLst>
          </a:prstGeom>
          <a:solidFill>
            <a:schemeClr val="bg1">
              <a:alpha val="80000"/>
            </a:schemeClr>
          </a:solidFill>
          <a:ln w="12700">
            <a:solidFill>
              <a:schemeClr val="bg1">
                <a:alpha val="90000"/>
              </a:schemeClr>
            </a:solidFill>
          </a:ln>
        </p:spPr>
        <p:txBody>
          <a:bodyPr wrap="square" lIns="0" tIns="0" rIns="0" bIns="0" rtlCol="0" anchor="ctr"/>
          <a:lstStyle/>
          <a:p>
            <a:pPr marL="0" indent="0" algn="ctr">
              <a:buNone/>
            </a:pPr>
            <a:r>
              <a:rPr lang="en-US" sz="1300" b="1" dirty="0">
                <a:solidFill>
                  <a:schemeClr val="tx1"/>
                </a:solidFill>
              </a:rPr>
              <a:t>b1</a:t>
            </a:r>
            <a:endParaRPr lang="en-US" sz="1300" dirty="0"/>
          </a:p>
        </p:txBody>
      </p:sp>
      <p:sp>
        <p:nvSpPr>
          <p:cNvPr id="31" name="pill-79"/>
          <p:cNvSpPr txBox="1"/>
          <p:nvPr/>
        </p:nvSpPr>
        <p:spPr>
          <a:xfrm>
            <a:off x="7132320" y="4023360"/>
            <a:ext cx="731520" cy="384048"/>
          </a:xfrm>
          <a:prstGeom prst="roundRect">
            <a:avLst>
              <a:gd name="adj" fmla="val 40476"/>
            </a:avLst>
          </a:prstGeom>
          <a:solidFill>
            <a:schemeClr val="bg1">
              <a:alpha val="80000"/>
            </a:schemeClr>
          </a:solidFill>
          <a:ln w="12700">
            <a:solidFill>
              <a:schemeClr val="bg1">
                <a:alpha val="90000"/>
              </a:schemeClr>
            </a:solidFill>
          </a:ln>
        </p:spPr>
        <p:txBody>
          <a:bodyPr wrap="square" lIns="0" tIns="0" rIns="0" bIns="0" rtlCol="0" anchor="ctr"/>
          <a:lstStyle/>
          <a:p>
            <a:pPr marL="0" indent="0" algn="ctr">
              <a:buNone/>
            </a:pPr>
            <a:r>
              <a:rPr lang="en-US" sz="1300" b="1" dirty="0">
                <a:solidFill>
                  <a:schemeClr val="tx1"/>
                </a:solidFill>
              </a:rPr>
              <a:t>b2</a:t>
            </a:r>
            <a:endParaRPr lang="en-US" sz="1300" dirty="0"/>
          </a:p>
        </p:txBody>
      </p:sp>
      <p:sp>
        <p:nvSpPr>
          <p:cNvPr id="32" name="pill-80"/>
          <p:cNvSpPr txBox="1"/>
          <p:nvPr/>
        </p:nvSpPr>
        <p:spPr>
          <a:xfrm>
            <a:off x="8046720" y="4023360"/>
            <a:ext cx="731520" cy="384048"/>
          </a:xfrm>
          <a:prstGeom prst="roundRect">
            <a:avLst>
              <a:gd name="adj" fmla="val 40476"/>
            </a:avLst>
          </a:prstGeom>
          <a:solidFill>
            <a:schemeClr val="bg1">
              <a:alpha val="80000"/>
            </a:schemeClr>
          </a:solidFill>
          <a:ln w="12700">
            <a:solidFill>
              <a:schemeClr val="bg1">
                <a:alpha val="90000"/>
              </a:schemeClr>
            </a:solidFill>
          </a:ln>
        </p:spPr>
        <p:txBody>
          <a:bodyPr wrap="square" lIns="0" tIns="0" rIns="0" bIns="0" rtlCol="0" anchor="ctr"/>
          <a:lstStyle/>
          <a:p>
            <a:pPr marL="0" indent="0" algn="ctr">
              <a:buNone/>
            </a:pPr>
            <a:r>
              <a:rPr lang="en-US" sz="1300" b="1" dirty="0">
                <a:solidFill>
                  <a:schemeClr val="tx1"/>
                </a:solidFill>
              </a:rPr>
              <a:t>b3</a:t>
            </a:r>
            <a:endParaRPr lang="en-US" sz="1300" dirty="0"/>
          </a:p>
        </p:txBody>
      </p:sp>
      <p:sp>
        <p:nvSpPr>
          <p:cNvPr id="33" name="text-81"/>
          <p:cNvSpPr txBox="1"/>
          <p:nvPr/>
        </p:nvSpPr>
        <p:spPr>
          <a:xfrm>
            <a:off x="6035040" y="4498848"/>
            <a:ext cx="2926080" cy="274320"/>
          </a:xfrm>
          <a:prstGeom prst="rect">
            <a:avLst/>
          </a:prstGeom>
          <a:noFill/>
          <a:ln/>
        </p:spPr>
        <p:txBody>
          <a:bodyPr wrap="square" lIns="0" tIns="0" rIns="0" bIns="0" rtlCol="0" anchor="t"/>
          <a:lstStyle/>
          <a:p>
            <a:pPr marL="0" indent="0" algn="ctr">
              <a:buNone/>
            </a:pPr>
            <a:r>
              <a:rPr lang="en-US" sz="1200" dirty="0">
                <a:solidFill>
                  <a:schemeClr val="tx2"/>
                </a:solidFill>
              </a:rPr>
              <a:t>commits at 2 of 3</a:t>
            </a:r>
            <a:endParaRPr lang="en-US" sz="1200" dirty="0"/>
          </a:p>
        </p:txBody>
      </p:sp>
      <p:sp>
        <p:nvSpPr>
          <p:cNvPr id="34" name="glass-82"/>
          <p:cNvSpPr/>
          <p:nvPr/>
        </p:nvSpPr>
        <p:spPr>
          <a:xfrm>
            <a:off x="9235440" y="3520440"/>
            <a:ext cx="2377440" cy="1325880"/>
          </a:xfrm>
          <a:prstGeom prst="roundRect">
            <a:avLst>
              <a:gd name="adj" fmla="val 1517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35" name="text-83"/>
          <p:cNvSpPr txBox="1"/>
          <p:nvPr/>
        </p:nvSpPr>
        <p:spPr>
          <a:xfrm>
            <a:off x="9235440" y="3648456"/>
            <a:ext cx="2377440" cy="365760"/>
          </a:xfrm>
          <a:prstGeom prst="rect">
            <a:avLst/>
          </a:prstGeom>
          <a:noFill/>
          <a:ln/>
        </p:spPr>
        <p:txBody>
          <a:bodyPr wrap="square" lIns="0" tIns="0" rIns="0" bIns="0" rtlCol="0" anchor="t"/>
          <a:lstStyle/>
          <a:p>
            <a:pPr marL="0" indent="0" algn="ctr">
              <a:buNone/>
            </a:pPr>
            <a:r>
              <a:rPr lang="en-US" sz="1500" b="1" dirty="0">
                <a:solidFill>
                  <a:schemeClr val="tx1"/>
                </a:solidFill>
              </a:rPr>
              <a:t>Event bus</a:t>
            </a:r>
            <a:endParaRPr lang="en-US" sz="1500" dirty="0"/>
          </a:p>
        </p:txBody>
      </p:sp>
      <p:sp>
        <p:nvSpPr>
          <p:cNvPr id="36" name="text-84"/>
          <p:cNvSpPr txBox="1"/>
          <p:nvPr/>
        </p:nvSpPr>
        <p:spPr>
          <a:xfrm>
            <a:off x="9372600" y="4023360"/>
            <a:ext cx="2103120" cy="777240"/>
          </a:xfrm>
          <a:prstGeom prst="rect">
            <a:avLst/>
          </a:prstGeom>
          <a:noFill/>
          <a:ln/>
        </p:spPr>
        <p:txBody>
          <a:bodyPr wrap="square" lIns="0" tIns="0" rIns="0" bIns="0" rtlCol="0" anchor="t"/>
          <a:lstStyle/>
          <a:p>
            <a:pPr marL="0" indent="0" algn="ctr">
              <a:buNone/>
            </a:pPr>
            <a:r>
              <a:rPr lang="en-US" sz="1200" dirty="0">
                <a:solidFill>
                  <a:schemeClr val="tx2"/>
                </a:solidFill>
              </a:rPr>
              <a:t>topics · offsets · consumer groups</a:t>
            </a:r>
            <a:endParaRPr lang="en-US" sz="1200" dirty="0"/>
          </a:p>
        </p:txBody>
      </p:sp>
      <p:sp>
        <p:nvSpPr>
          <p:cNvPr id="37" name="connector-85"/>
          <p:cNvSpPr/>
          <p:nvPr/>
        </p:nvSpPr>
        <p:spPr>
          <a:xfrm>
            <a:off x="10424160" y="4846320"/>
            <a:ext cx="0" cy="320040"/>
          </a:xfrm>
          <a:prstGeom prst="line">
            <a:avLst/>
          </a:prstGeom>
          <a:noFill/>
          <a:ln w="15875">
            <a:solidFill>
              <a:schemeClr val="tx2"/>
            </a:solidFill>
            <a:prstDash val="solid"/>
            <a:tailEnd type="triangle"/>
          </a:ln>
        </p:spPr>
      </p:sp>
      <p:sp>
        <p:nvSpPr>
          <p:cNvPr id="38" name="connector-86"/>
          <p:cNvSpPr/>
          <p:nvPr/>
        </p:nvSpPr>
        <p:spPr>
          <a:xfrm>
            <a:off x="9601200" y="4846320"/>
            <a:ext cx="0" cy="155448"/>
          </a:xfrm>
          <a:prstGeom prst="line">
            <a:avLst/>
          </a:prstGeom>
          <a:noFill/>
          <a:ln w="15875">
            <a:solidFill>
              <a:schemeClr val="tx2"/>
            </a:solidFill>
            <a:prstDash val="solid"/>
          </a:ln>
        </p:spPr>
      </p:sp>
      <p:sp>
        <p:nvSpPr>
          <p:cNvPr id="39" name="connector-87"/>
          <p:cNvSpPr/>
          <p:nvPr/>
        </p:nvSpPr>
        <p:spPr>
          <a:xfrm>
            <a:off x="7498080" y="5001768"/>
            <a:ext cx="2103120" cy="0"/>
          </a:xfrm>
          <a:prstGeom prst="line">
            <a:avLst/>
          </a:prstGeom>
          <a:noFill/>
          <a:ln w="15875">
            <a:solidFill>
              <a:schemeClr val="tx2"/>
            </a:solidFill>
            <a:prstDash val="solid"/>
          </a:ln>
        </p:spPr>
      </p:sp>
      <p:sp>
        <p:nvSpPr>
          <p:cNvPr id="40" name="connector-88"/>
          <p:cNvSpPr/>
          <p:nvPr/>
        </p:nvSpPr>
        <p:spPr>
          <a:xfrm>
            <a:off x="7498080" y="5001768"/>
            <a:ext cx="0" cy="164592"/>
          </a:xfrm>
          <a:prstGeom prst="line">
            <a:avLst/>
          </a:prstGeom>
          <a:noFill/>
          <a:ln w="15875">
            <a:solidFill>
              <a:schemeClr val="tx2"/>
            </a:solidFill>
            <a:prstDash val="solid"/>
            <a:tailEnd type="triangle"/>
          </a:ln>
        </p:spPr>
      </p:sp>
      <p:sp>
        <p:nvSpPr>
          <p:cNvPr id="41" name="glass-89"/>
          <p:cNvSpPr/>
          <p:nvPr/>
        </p:nvSpPr>
        <p:spPr>
          <a:xfrm>
            <a:off x="6035040" y="5166360"/>
            <a:ext cx="2926080" cy="868680"/>
          </a:xfrm>
          <a:prstGeom prst="roundRect">
            <a:avLst>
              <a:gd name="adj" fmla="val 23158"/>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42" name="text-90"/>
          <p:cNvSpPr txBox="1"/>
          <p:nvPr/>
        </p:nvSpPr>
        <p:spPr>
          <a:xfrm>
            <a:off x="6035040" y="5294376"/>
            <a:ext cx="2926080" cy="365760"/>
          </a:xfrm>
          <a:prstGeom prst="rect">
            <a:avLst/>
          </a:prstGeom>
          <a:noFill/>
          <a:ln/>
        </p:spPr>
        <p:txBody>
          <a:bodyPr wrap="square" lIns="0" tIns="0" rIns="0" bIns="0" rtlCol="0" anchor="t"/>
          <a:lstStyle/>
          <a:p>
            <a:pPr marL="0" indent="0" algn="ctr">
              <a:buNone/>
            </a:pPr>
            <a:r>
              <a:rPr lang="en-US" sz="1500" b="1" dirty="0">
                <a:solidFill>
                  <a:schemeClr val="tx1"/>
                </a:solidFill>
              </a:rPr>
              <a:t>Audit service</a:t>
            </a:r>
            <a:endParaRPr lang="en-US" sz="1500" dirty="0"/>
          </a:p>
        </p:txBody>
      </p:sp>
      <p:sp>
        <p:nvSpPr>
          <p:cNvPr id="43" name="text-91"/>
          <p:cNvSpPr txBox="1"/>
          <p:nvPr/>
        </p:nvSpPr>
        <p:spPr>
          <a:xfrm>
            <a:off x="6172200" y="5669280"/>
            <a:ext cx="2651760" cy="320040"/>
          </a:xfrm>
          <a:prstGeom prst="rect">
            <a:avLst/>
          </a:prstGeom>
          <a:noFill/>
          <a:ln/>
        </p:spPr>
        <p:txBody>
          <a:bodyPr wrap="square" lIns="0" tIns="0" rIns="0" bIns="0" rtlCol="0" anchor="t"/>
          <a:lstStyle/>
          <a:p>
            <a:pPr marL="0" indent="0" algn="ctr">
              <a:buNone/>
            </a:pPr>
            <a:r>
              <a:rPr lang="en-US" sz="1200" dirty="0">
                <a:solidFill>
                  <a:schemeClr val="tx2"/>
                </a:solidFill>
              </a:rPr>
              <a:t>SHA-256 hash-chained ledger</a:t>
            </a:r>
            <a:endParaRPr lang="en-US" sz="1200" dirty="0"/>
          </a:p>
        </p:txBody>
      </p:sp>
      <p:sp>
        <p:nvSpPr>
          <p:cNvPr id="44" name="glass-92"/>
          <p:cNvSpPr/>
          <p:nvPr/>
        </p:nvSpPr>
        <p:spPr>
          <a:xfrm>
            <a:off x="9235440" y="5166360"/>
            <a:ext cx="2377440" cy="868680"/>
          </a:xfrm>
          <a:prstGeom prst="roundRect">
            <a:avLst>
              <a:gd name="adj" fmla="val 23158"/>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45" name="text-93"/>
          <p:cNvSpPr txBox="1"/>
          <p:nvPr/>
        </p:nvSpPr>
        <p:spPr>
          <a:xfrm>
            <a:off x="9235440" y="5294376"/>
            <a:ext cx="2377440" cy="365760"/>
          </a:xfrm>
          <a:prstGeom prst="rect">
            <a:avLst/>
          </a:prstGeom>
          <a:noFill/>
          <a:ln/>
        </p:spPr>
        <p:txBody>
          <a:bodyPr wrap="square" lIns="0" tIns="0" rIns="0" bIns="0" rtlCol="0" anchor="t"/>
          <a:lstStyle/>
          <a:p>
            <a:pPr marL="0" indent="0" algn="ctr">
              <a:buNone/>
            </a:pPr>
            <a:r>
              <a:rPr lang="en-US" sz="1500" b="1" dirty="0">
                <a:solidFill>
                  <a:schemeClr val="tx1"/>
                </a:solidFill>
              </a:rPr>
              <a:t>Notifications</a:t>
            </a:r>
            <a:endParaRPr lang="en-US" sz="1500" dirty="0"/>
          </a:p>
        </p:txBody>
      </p:sp>
      <p:sp>
        <p:nvSpPr>
          <p:cNvPr id="46" name="text-94"/>
          <p:cNvSpPr txBox="1"/>
          <p:nvPr/>
        </p:nvSpPr>
        <p:spPr>
          <a:xfrm>
            <a:off x="9372600" y="5669280"/>
            <a:ext cx="2103120" cy="320040"/>
          </a:xfrm>
          <a:prstGeom prst="rect">
            <a:avLst/>
          </a:prstGeom>
          <a:noFill/>
          <a:ln/>
        </p:spPr>
        <p:txBody>
          <a:bodyPr wrap="square" lIns="0" tIns="0" rIns="0" bIns="0" rtlCol="0" anchor="t"/>
          <a:lstStyle/>
          <a:p>
            <a:pPr marL="0" indent="0" algn="ctr">
              <a:buNone/>
            </a:pPr>
            <a:r>
              <a:rPr lang="en-US" sz="1200" dirty="0">
                <a:solidFill>
                  <a:schemeClr val="tx2"/>
                </a:solidFill>
              </a:rPr>
              <a:t>SSE push to browsers</a:t>
            </a:r>
            <a:endParaRPr lang="en-US" sz="1200" dirty="0"/>
          </a:p>
        </p:txBody>
      </p:sp>
      <p:sp>
        <p:nvSpPr>
          <p:cNvPr id="47" name="supervisor-95"/>
          <p:cNvSpPr/>
          <p:nvPr/>
        </p:nvSpPr>
        <p:spPr>
          <a:xfrm>
            <a:off x="548640" y="5166360"/>
            <a:ext cx="5212080" cy="868680"/>
          </a:xfrm>
          <a:prstGeom prst="roundRect">
            <a:avLst>
              <a:gd name="adj" fmla="val 23158"/>
            </a:avLst>
          </a:prstGeom>
          <a:solidFill>
            <a:schemeClr val="bg1">
              <a:alpha val="40000"/>
            </a:schemeClr>
          </a:solidFill>
          <a:ln w="12700">
            <a:solidFill>
              <a:schemeClr val="tx2"/>
            </a:solidFill>
            <a:prstDash val="dash"/>
          </a:ln>
        </p:spPr>
      </p:sp>
      <p:sp>
        <p:nvSpPr>
          <p:cNvPr id="48" name="text-96"/>
          <p:cNvSpPr txBox="1"/>
          <p:nvPr/>
        </p:nvSpPr>
        <p:spPr>
          <a:xfrm>
            <a:off x="777240" y="5257800"/>
            <a:ext cx="4846320" cy="731520"/>
          </a:xfrm>
          <a:prstGeom prst="rect">
            <a:avLst/>
          </a:prstGeom>
          <a:noFill/>
          <a:ln/>
        </p:spPr>
        <p:txBody>
          <a:bodyPr wrap="square" lIns="0" tIns="0" rIns="0" bIns="0" rtlCol="0" anchor="ctr"/>
          <a:lstStyle/>
          <a:p>
            <a:pPr marL="0" indent="0">
              <a:buNone/>
            </a:pPr>
            <a:r>
              <a:rPr lang="en-US" sz="1400" b="1" dirty="0">
                <a:solidFill>
                  <a:schemeClr val="tx1"/>
                </a:solidFill>
              </a:rPr>
              <a:t>Supervisor (control plane)</a:t>
            </a:r>
            <a:endParaRPr lang="en-US" sz="1400" dirty="0"/>
          </a:p>
          <a:p>
            <a:pPr marL="0" indent="0">
              <a:buNone/>
            </a:pPr>
            <a:r>
              <a:rPr lang="en-US" sz="1200" dirty="0">
                <a:solidFill>
                  <a:schemeClr val="tx2"/>
                </a:solidFill>
              </a:rPr>
              <a:t>starts all 11 processes; kills and restarts them on demand</a:t>
            </a:r>
            <a:endParaRPr lang="en-US" sz="1400" dirty="0"/>
          </a:p>
        </p:txBody>
      </p:sp>
      <p:sp>
        <p:nvSpPr>
          <p:cNvPr id="49"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Raft keeps every shard consistent through failures</a:t>
            </a:r>
            <a:endParaRPr lang="en-US" sz="3000" dirty="0"/>
          </a:p>
        </p:txBody>
      </p:sp>
      <p:sp>
        <p:nvSpPr>
          <p:cNvPr id="3" name="election-97"/>
          <p:cNvSpPr/>
          <p:nvPr/>
        </p:nvSpPr>
        <p:spPr>
          <a:xfrm>
            <a:off x="548640" y="1417320"/>
            <a:ext cx="557784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4" name="text-98"/>
          <p:cNvSpPr txBox="1"/>
          <p:nvPr/>
        </p:nvSpPr>
        <p:spPr>
          <a:xfrm>
            <a:off x="822960" y="1645920"/>
            <a:ext cx="4572000" cy="365760"/>
          </a:xfrm>
          <a:prstGeom prst="rect">
            <a:avLst/>
          </a:prstGeom>
          <a:noFill/>
          <a:ln/>
        </p:spPr>
        <p:txBody>
          <a:bodyPr wrap="square" lIns="0" tIns="0" rIns="0" bIns="0" rtlCol="0" anchor="t"/>
          <a:lstStyle/>
          <a:p>
            <a:pPr marL="0" indent="0">
              <a:buNone/>
            </a:pPr>
            <a:r>
              <a:rPr lang="en-US" sz="1800" b="1" dirty="0">
                <a:solidFill>
                  <a:schemeClr val="tx1"/>
                </a:solidFill>
              </a:rPr>
              <a:t>Leader election</a:t>
            </a:r>
            <a:endParaRPr lang="en-US" sz="1800" dirty="0"/>
          </a:p>
        </p:txBody>
      </p:sp>
      <p:sp>
        <p:nvSpPr>
          <p:cNvPr id="5" name="state-99"/>
          <p:cNvSpPr txBox="1"/>
          <p:nvPr/>
        </p:nvSpPr>
        <p:spPr>
          <a:xfrm>
            <a:off x="822960" y="2514600"/>
            <a:ext cx="1417320" cy="566928"/>
          </a:xfrm>
          <a:prstGeom prst="roundRect">
            <a:avLst>
              <a:gd name="adj" fmla="val 24194"/>
            </a:avLst>
          </a:prstGeom>
          <a:solidFill>
            <a:schemeClr val="accent2">
              <a:alpha val="20000"/>
            </a:schemeClr>
          </a:solidFill>
          <a:ln w="19050">
            <a:solidFill>
              <a:schemeClr val="accent2"/>
            </a:solidFill>
          </a:ln>
        </p:spPr>
        <p:txBody>
          <a:bodyPr wrap="square" lIns="0" tIns="0" rIns="0" bIns="0" rtlCol="0" anchor="ctr"/>
          <a:lstStyle/>
          <a:p>
            <a:pPr marL="0" indent="0" algn="ctr">
              <a:buNone/>
            </a:pPr>
            <a:r>
              <a:rPr lang="en-US" sz="1400" b="1" dirty="0">
                <a:solidFill>
                  <a:schemeClr val="tx1"/>
                </a:solidFill>
              </a:rPr>
              <a:t>Follower</a:t>
            </a:r>
            <a:endParaRPr lang="en-US" sz="1400" dirty="0"/>
          </a:p>
        </p:txBody>
      </p:sp>
      <p:sp>
        <p:nvSpPr>
          <p:cNvPr id="6" name="state-100"/>
          <p:cNvSpPr txBox="1"/>
          <p:nvPr/>
        </p:nvSpPr>
        <p:spPr>
          <a:xfrm>
            <a:off x="2697480" y="2514600"/>
            <a:ext cx="1417320" cy="566928"/>
          </a:xfrm>
          <a:prstGeom prst="roundRect">
            <a:avLst>
              <a:gd name="adj" fmla="val 24194"/>
            </a:avLst>
          </a:prstGeom>
          <a:solidFill>
            <a:schemeClr val="accent3">
              <a:alpha val="20000"/>
            </a:schemeClr>
          </a:solidFill>
          <a:ln w="19050">
            <a:solidFill>
              <a:schemeClr val="accent3"/>
            </a:solidFill>
          </a:ln>
        </p:spPr>
        <p:txBody>
          <a:bodyPr wrap="square" lIns="0" tIns="0" rIns="0" bIns="0" rtlCol="0" anchor="ctr"/>
          <a:lstStyle/>
          <a:p>
            <a:pPr marL="0" indent="0" algn="ctr">
              <a:buNone/>
            </a:pPr>
            <a:r>
              <a:rPr lang="en-US" sz="1400" b="1" dirty="0">
                <a:solidFill>
                  <a:schemeClr val="tx1"/>
                </a:solidFill>
              </a:rPr>
              <a:t>Candidate</a:t>
            </a:r>
            <a:endParaRPr lang="en-US" sz="1400" dirty="0"/>
          </a:p>
        </p:txBody>
      </p:sp>
      <p:sp>
        <p:nvSpPr>
          <p:cNvPr id="7" name="state-101"/>
          <p:cNvSpPr txBox="1"/>
          <p:nvPr/>
        </p:nvSpPr>
        <p:spPr>
          <a:xfrm>
            <a:off x="4572000" y="2514600"/>
            <a:ext cx="1417320" cy="566928"/>
          </a:xfrm>
          <a:prstGeom prst="roundRect">
            <a:avLst>
              <a:gd name="adj" fmla="val 24194"/>
            </a:avLst>
          </a:prstGeom>
          <a:solidFill>
            <a:schemeClr val="accent4">
              <a:alpha val="20000"/>
            </a:schemeClr>
          </a:solidFill>
          <a:ln w="19050">
            <a:solidFill>
              <a:schemeClr val="accent4"/>
            </a:solidFill>
          </a:ln>
        </p:spPr>
        <p:txBody>
          <a:bodyPr wrap="square" lIns="0" tIns="0" rIns="0" bIns="0" rtlCol="0" anchor="ctr"/>
          <a:lstStyle/>
          <a:p>
            <a:pPr marL="0" indent="0" algn="ctr">
              <a:buNone/>
            </a:pPr>
            <a:r>
              <a:rPr lang="en-US" sz="1400" b="1" dirty="0">
                <a:solidFill>
                  <a:schemeClr val="tx1"/>
                </a:solidFill>
              </a:rPr>
              <a:t>Leader</a:t>
            </a:r>
            <a:endParaRPr lang="en-US" sz="1400" dirty="0"/>
          </a:p>
        </p:txBody>
      </p:sp>
      <p:sp>
        <p:nvSpPr>
          <p:cNvPr id="8" name="connector-102"/>
          <p:cNvSpPr/>
          <p:nvPr/>
        </p:nvSpPr>
        <p:spPr>
          <a:xfrm>
            <a:off x="2240280" y="2798064"/>
            <a:ext cx="457200" cy="0"/>
          </a:xfrm>
          <a:prstGeom prst="line">
            <a:avLst/>
          </a:prstGeom>
          <a:noFill/>
          <a:ln w="15875">
            <a:solidFill>
              <a:schemeClr val="tx2"/>
            </a:solidFill>
            <a:prstDash val="solid"/>
            <a:tailEnd type="triangle"/>
          </a:ln>
        </p:spPr>
      </p:sp>
      <p:sp>
        <p:nvSpPr>
          <p:cNvPr id="9" name="connector-103"/>
          <p:cNvSpPr/>
          <p:nvPr/>
        </p:nvSpPr>
        <p:spPr>
          <a:xfrm>
            <a:off x="4114800" y="2798064"/>
            <a:ext cx="457200" cy="0"/>
          </a:xfrm>
          <a:prstGeom prst="line">
            <a:avLst/>
          </a:prstGeom>
          <a:noFill/>
          <a:ln w="15875">
            <a:solidFill>
              <a:schemeClr val="tx2"/>
            </a:solidFill>
            <a:prstDash val="solid"/>
            <a:tailEnd type="triangle"/>
          </a:ln>
        </p:spPr>
      </p:sp>
      <p:sp>
        <p:nvSpPr>
          <p:cNvPr id="10" name="text-104"/>
          <p:cNvSpPr txBox="1"/>
          <p:nvPr/>
        </p:nvSpPr>
        <p:spPr>
          <a:xfrm>
            <a:off x="1783080" y="2103120"/>
            <a:ext cx="1463040" cy="320040"/>
          </a:xfrm>
          <a:prstGeom prst="rect">
            <a:avLst/>
          </a:prstGeom>
          <a:noFill/>
          <a:ln/>
        </p:spPr>
        <p:txBody>
          <a:bodyPr wrap="square" lIns="0" tIns="0" rIns="0" bIns="0" rtlCol="0" anchor="t"/>
          <a:lstStyle/>
          <a:p>
            <a:pPr marL="0" indent="0" algn="ctr">
              <a:buNone/>
            </a:pPr>
            <a:r>
              <a:rPr lang="en-US" sz="1100" dirty="0">
                <a:solidFill>
                  <a:schemeClr val="tx2"/>
                </a:solidFill>
              </a:rPr>
              <a:t>timeout + PreVote</a:t>
            </a:r>
            <a:endParaRPr lang="en-US" sz="1100" dirty="0"/>
          </a:p>
        </p:txBody>
      </p:sp>
      <p:sp>
        <p:nvSpPr>
          <p:cNvPr id="11" name="text-105"/>
          <p:cNvSpPr txBox="1"/>
          <p:nvPr/>
        </p:nvSpPr>
        <p:spPr>
          <a:xfrm>
            <a:off x="3657600" y="2103120"/>
            <a:ext cx="1463040" cy="320040"/>
          </a:xfrm>
          <a:prstGeom prst="rect">
            <a:avLst/>
          </a:prstGeom>
          <a:noFill/>
          <a:ln/>
        </p:spPr>
        <p:txBody>
          <a:bodyPr wrap="square" lIns="0" tIns="0" rIns="0" bIns="0" rtlCol="0" anchor="t"/>
          <a:lstStyle/>
          <a:p>
            <a:pPr marL="0" indent="0" algn="ctr">
              <a:buNone/>
            </a:pPr>
            <a:r>
              <a:rPr lang="en-US" sz="1100" dirty="0">
                <a:solidFill>
                  <a:schemeClr val="tx2"/>
                </a:solidFill>
              </a:rPr>
              <a:t>majority votes</a:t>
            </a:r>
            <a:endParaRPr lang="en-US" sz="1100" dirty="0"/>
          </a:p>
        </p:txBody>
      </p:sp>
      <p:sp>
        <p:nvSpPr>
          <p:cNvPr id="12" name="text-106"/>
          <p:cNvSpPr txBox="1"/>
          <p:nvPr/>
        </p:nvSpPr>
        <p:spPr>
          <a:xfrm>
            <a:off x="822960" y="3246120"/>
            <a:ext cx="5212080" cy="320040"/>
          </a:xfrm>
          <a:prstGeom prst="rect">
            <a:avLst/>
          </a:prstGeom>
          <a:noFill/>
          <a:ln/>
        </p:spPr>
        <p:txBody>
          <a:bodyPr wrap="square" lIns="0" tIns="0" rIns="0" bIns="0" rtlCol="0" anchor="t"/>
          <a:lstStyle/>
          <a:p>
            <a:pPr marL="0" indent="0">
              <a:buNone/>
            </a:pPr>
            <a:r>
              <a:rPr lang="en-US" sz="1200" dirty="0">
                <a:solidFill>
                  <a:schemeClr val="tx2"/>
                </a:solidFill>
              </a:rPr>
              <a:t>Sees a higher term, or loses its quorum → steps down to follower</a:t>
            </a:r>
            <a:endParaRPr lang="en-US" sz="1200" dirty="0"/>
          </a:p>
        </p:txBody>
      </p:sp>
      <p:sp>
        <p:nvSpPr>
          <p:cNvPr id="13" name="pill-107"/>
          <p:cNvSpPr txBox="1"/>
          <p:nvPr/>
        </p:nvSpPr>
        <p:spPr>
          <a:xfrm>
            <a:off x="822960" y="3886200"/>
            <a:ext cx="2423160" cy="329184"/>
          </a:xfrm>
          <a:prstGeom prst="roundRect">
            <a:avLst>
              <a:gd name="adj" fmla="val 47222"/>
            </a:avLst>
          </a:prstGeom>
          <a:solidFill>
            <a:schemeClr val="bg1">
              <a:alpha val="75000"/>
            </a:schemeClr>
          </a:solidFill>
          <a:ln w="12700">
            <a:solidFill>
              <a:schemeClr val="bg1">
                <a:alpha val="90000"/>
              </a:schemeClr>
            </a:solidFill>
          </a:ln>
        </p:spPr>
        <p:txBody>
          <a:bodyPr wrap="square" lIns="0" tIns="0" rIns="0" bIns="0" rtlCol="0" anchor="ctr"/>
          <a:lstStyle/>
          <a:p>
            <a:pPr marL="0" indent="0" algn="ctr">
              <a:buNone/>
            </a:pPr>
            <a:r>
              <a:rPr lang="en-US" sz="1250" dirty="0">
                <a:solidFill>
                  <a:schemeClr val="tx1"/>
                </a:solidFill>
              </a:rPr>
              <a:t>Randomized timeouts</a:t>
            </a:r>
            <a:endParaRPr lang="en-US" sz="1250" dirty="0"/>
          </a:p>
        </p:txBody>
      </p:sp>
      <p:sp>
        <p:nvSpPr>
          <p:cNvPr id="14" name="pill-108"/>
          <p:cNvSpPr txBox="1"/>
          <p:nvPr/>
        </p:nvSpPr>
        <p:spPr>
          <a:xfrm>
            <a:off x="3429000" y="3886200"/>
            <a:ext cx="2423160" cy="329184"/>
          </a:xfrm>
          <a:prstGeom prst="roundRect">
            <a:avLst>
              <a:gd name="adj" fmla="val 47222"/>
            </a:avLst>
          </a:prstGeom>
          <a:solidFill>
            <a:schemeClr val="bg1">
              <a:alpha val="75000"/>
            </a:schemeClr>
          </a:solidFill>
          <a:ln w="12700">
            <a:solidFill>
              <a:schemeClr val="bg1">
                <a:alpha val="90000"/>
              </a:schemeClr>
            </a:solidFill>
          </a:ln>
        </p:spPr>
        <p:txBody>
          <a:bodyPr wrap="square" lIns="0" tIns="0" rIns="0" bIns="0" rtlCol="0" anchor="ctr"/>
          <a:lstStyle/>
          <a:p>
            <a:pPr marL="0" indent="0" algn="ctr">
              <a:buNone/>
            </a:pPr>
            <a:r>
              <a:rPr lang="en-US" sz="1250" dirty="0">
                <a:solidFill>
                  <a:schemeClr val="tx1"/>
                </a:solidFill>
              </a:rPr>
              <a:t>PreVote</a:t>
            </a:r>
            <a:endParaRPr lang="en-US" sz="1250" dirty="0"/>
          </a:p>
        </p:txBody>
      </p:sp>
      <p:sp>
        <p:nvSpPr>
          <p:cNvPr id="15" name="pill-109"/>
          <p:cNvSpPr txBox="1"/>
          <p:nvPr/>
        </p:nvSpPr>
        <p:spPr>
          <a:xfrm>
            <a:off x="822960" y="4389120"/>
            <a:ext cx="2423160" cy="329184"/>
          </a:xfrm>
          <a:prstGeom prst="roundRect">
            <a:avLst>
              <a:gd name="adj" fmla="val 47222"/>
            </a:avLst>
          </a:prstGeom>
          <a:solidFill>
            <a:schemeClr val="bg1">
              <a:alpha val="75000"/>
            </a:schemeClr>
          </a:solidFill>
          <a:ln w="12700">
            <a:solidFill>
              <a:schemeClr val="bg1">
                <a:alpha val="90000"/>
              </a:schemeClr>
            </a:solidFill>
          </a:ln>
        </p:spPr>
        <p:txBody>
          <a:bodyPr wrap="square" lIns="0" tIns="0" rIns="0" bIns="0" rtlCol="0" anchor="ctr"/>
          <a:lstStyle/>
          <a:p>
            <a:pPr marL="0" indent="0" algn="ctr">
              <a:buNone/>
            </a:pPr>
            <a:r>
              <a:rPr lang="en-US" sz="1250" dirty="0">
                <a:solidFill>
                  <a:schemeClr val="tx1"/>
                </a:solidFill>
              </a:rPr>
              <a:t>Election restriction</a:t>
            </a:r>
            <a:endParaRPr lang="en-US" sz="1250" dirty="0"/>
          </a:p>
        </p:txBody>
      </p:sp>
      <p:sp>
        <p:nvSpPr>
          <p:cNvPr id="16" name="pill-110"/>
          <p:cNvSpPr txBox="1"/>
          <p:nvPr/>
        </p:nvSpPr>
        <p:spPr>
          <a:xfrm>
            <a:off x="3429000" y="4389120"/>
            <a:ext cx="2423160" cy="329184"/>
          </a:xfrm>
          <a:prstGeom prst="roundRect">
            <a:avLst>
              <a:gd name="adj" fmla="val 47222"/>
            </a:avLst>
          </a:prstGeom>
          <a:solidFill>
            <a:schemeClr val="bg1">
              <a:alpha val="75000"/>
            </a:schemeClr>
          </a:solidFill>
          <a:ln w="12700">
            <a:solidFill>
              <a:schemeClr val="bg1">
                <a:alpha val="90000"/>
              </a:schemeClr>
            </a:solidFill>
          </a:ln>
        </p:spPr>
        <p:txBody>
          <a:bodyPr wrap="square" lIns="0" tIns="0" rIns="0" bIns="0" rtlCol="0" anchor="ctr"/>
          <a:lstStyle/>
          <a:p>
            <a:pPr marL="0" indent="0" algn="ctr">
              <a:buNone/>
            </a:pPr>
            <a:r>
              <a:rPr lang="en-US" sz="1250" dirty="0">
                <a:solidFill>
                  <a:schemeClr val="tx1"/>
                </a:solidFill>
              </a:rPr>
              <a:t>Check-quorum</a:t>
            </a:r>
            <a:endParaRPr lang="en-US" sz="1250" dirty="0"/>
          </a:p>
        </p:txBody>
      </p:sp>
      <p:sp>
        <p:nvSpPr>
          <p:cNvPr id="17" name="pill-111"/>
          <p:cNvSpPr txBox="1"/>
          <p:nvPr/>
        </p:nvSpPr>
        <p:spPr>
          <a:xfrm>
            <a:off x="822960" y="4892040"/>
            <a:ext cx="2423160" cy="329184"/>
          </a:xfrm>
          <a:prstGeom prst="roundRect">
            <a:avLst>
              <a:gd name="adj" fmla="val 47222"/>
            </a:avLst>
          </a:prstGeom>
          <a:solidFill>
            <a:schemeClr val="bg1">
              <a:alpha val="75000"/>
            </a:schemeClr>
          </a:solidFill>
          <a:ln w="12700">
            <a:solidFill>
              <a:schemeClr val="bg1">
                <a:alpha val="90000"/>
              </a:schemeClr>
            </a:solidFill>
          </a:ln>
        </p:spPr>
        <p:txBody>
          <a:bodyPr wrap="square" lIns="0" tIns="0" rIns="0" bIns="0" rtlCol="0" anchor="ctr"/>
          <a:lstStyle/>
          <a:p>
            <a:pPr marL="0" indent="0" algn="ctr">
              <a:buNone/>
            </a:pPr>
            <a:r>
              <a:rPr lang="en-US" sz="1250" dirty="0">
                <a:solidFill>
                  <a:schemeClr val="tx1"/>
                </a:solidFill>
              </a:rPr>
              <a:t>Lease reads</a:t>
            </a:r>
            <a:endParaRPr lang="en-US" sz="1250" dirty="0"/>
          </a:p>
        </p:txBody>
      </p:sp>
      <p:sp>
        <p:nvSpPr>
          <p:cNvPr id="18" name="pill-112"/>
          <p:cNvSpPr txBox="1"/>
          <p:nvPr/>
        </p:nvSpPr>
        <p:spPr>
          <a:xfrm>
            <a:off x="3429000" y="4892040"/>
            <a:ext cx="2423160" cy="329184"/>
          </a:xfrm>
          <a:prstGeom prst="roundRect">
            <a:avLst>
              <a:gd name="adj" fmla="val 47222"/>
            </a:avLst>
          </a:prstGeom>
          <a:solidFill>
            <a:schemeClr val="bg1">
              <a:alpha val="75000"/>
            </a:schemeClr>
          </a:solidFill>
          <a:ln w="12700">
            <a:solidFill>
              <a:schemeClr val="bg1">
                <a:alpha val="90000"/>
              </a:schemeClr>
            </a:solidFill>
          </a:ln>
        </p:spPr>
        <p:txBody>
          <a:bodyPr wrap="square" lIns="0" tIns="0" rIns="0" bIns="0" rtlCol="0" anchor="ctr"/>
          <a:lstStyle/>
          <a:p>
            <a:pPr marL="0" indent="0" algn="ctr">
              <a:buNone/>
            </a:pPr>
            <a:r>
              <a:rPr lang="en-US" sz="1250" dirty="0">
                <a:solidFill>
                  <a:schemeClr val="tx1"/>
                </a:solidFill>
              </a:rPr>
              <a:t>Write-ahead log</a:t>
            </a:r>
            <a:endParaRPr lang="en-US" sz="1250" dirty="0"/>
          </a:p>
        </p:txBody>
      </p:sp>
      <p:sp>
        <p:nvSpPr>
          <p:cNvPr id="19" name="text-113"/>
          <p:cNvSpPr txBox="1"/>
          <p:nvPr/>
        </p:nvSpPr>
        <p:spPr>
          <a:xfrm>
            <a:off x="822960" y="5486400"/>
            <a:ext cx="5120640" cy="457200"/>
          </a:xfrm>
          <a:prstGeom prst="rect">
            <a:avLst/>
          </a:prstGeom>
          <a:noFill/>
          <a:ln/>
        </p:spPr>
        <p:txBody>
          <a:bodyPr wrap="square" lIns="0" tIns="0" rIns="0" bIns="0" rtlCol="0" anchor="t"/>
          <a:lstStyle/>
          <a:p>
            <a:pPr marL="0" indent="0">
              <a:buNone/>
            </a:pPr>
            <a:r>
              <a:rPr lang="en-US" sz="1200" dirty="0">
                <a:solidFill>
                  <a:schemeClr val="tx2"/>
                </a:solidFill>
              </a:rPr>
              <a:t>Implemented from the Ongaro &amp; Ousterhout paper: 524 lines, 16 dedicated tests</a:t>
            </a:r>
            <a:endParaRPr lang="en-US" sz="1200" dirty="0"/>
          </a:p>
        </p:txBody>
      </p:sp>
      <p:sp>
        <p:nvSpPr>
          <p:cNvPr id="20" name="write-path-114"/>
          <p:cNvSpPr/>
          <p:nvPr/>
        </p:nvSpPr>
        <p:spPr>
          <a:xfrm>
            <a:off x="6400800" y="1417320"/>
            <a:ext cx="521208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21" name="text-115"/>
          <p:cNvSpPr txBox="1"/>
          <p:nvPr/>
        </p:nvSpPr>
        <p:spPr>
          <a:xfrm>
            <a:off x="6675120" y="1645920"/>
            <a:ext cx="4572000" cy="365760"/>
          </a:xfrm>
          <a:prstGeom prst="rect">
            <a:avLst/>
          </a:prstGeom>
          <a:noFill/>
          <a:ln/>
        </p:spPr>
        <p:txBody>
          <a:bodyPr wrap="square" lIns="0" tIns="0" rIns="0" bIns="0" rtlCol="0" anchor="t"/>
          <a:lstStyle/>
          <a:p>
            <a:pPr marL="0" indent="0">
              <a:buNone/>
            </a:pPr>
            <a:r>
              <a:rPr lang="en-US" sz="1800" b="1" dirty="0">
                <a:solidFill>
                  <a:schemeClr val="tx1"/>
                </a:solidFill>
              </a:rPr>
              <a:t>Write path</a:t>
            </a:r>
            <a:endParaRPr lang="en-US" sz="1800" dirty="0"/>
          </a:p>
        </p:txBody>
      </p:sp>
      <p:sp>
        <p:nvSpPr>
          <p:cNvPr id="22" name="step-116"/>
          <p:cNvSpPr txBox="1"/>
          <p:nvPr/>
        </p:nvSpPr>
        <p:spPr>
          <a:xfrm>
            <a:off x="6675120" y="224028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23" name="text-117"/>
          <p:cNvSpPr txBox="1"/>
          <p:nvPr/>
        </p:nvSpPr>
        <p:spPr>
          <a:xfrm>
            <a:off x="7315200" y="2221992"/>
            <a:ext cx="4023360" cy="548640"/>
          </a:xfrm>
          <a:prstGeom prst="rect">
            <a:avLst/>
          </a:prstGeom>
          <a:noFill/>
          <a:ln/>
        </p:spPr>
        <p:txBody>
          <a:bodyPr wrap="square" lIns="0" tIns="0" rIns="0" bIns="0" rtlCol="0" anchor="ctr"/>
          <a:lstStyle/>
          <a:p>
            <a:pPr marL="0" indent="0">
              <a:buNone/>
            </a:pPr>
            <a:r>
              <a:rPr lang="en-US" sz="1400" dirty="0">
                <a:solidFill>
                  <a:schemeClr val="tx1"/>
                </a:solidFill>
              </a:rPr>
              <a:t>Gateway sends the command to the shard leader</a:t>
            </a:r>
            <a:endParaRPr lang="en-US" sz="1400" dirty="0"/>
          </a:p>
        </p:txBody>
      </p:sp>
      <p:sp>
        <p:nvSpPr>
          <p:cNvPr id="24" name="step-118"/>
          <p:cNvSpPr txBox="1"/>
          <p:nvPr/>
        </p:nvSpPr>
        <p:spPr>
          <a:xfrm>
            <a:off x="6675120" y="301752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25" name="text-119"/>
          <p:cNvSpPr txBox="1"/>
          <p:nvPr/>
        </p:nvSpPr>
        <p:spPr>
          <a:xfrm>
            <a:off x="7315200" y="2999232"/>
            <a:ext cx="4023360" cy="548640"/>
          </a:xfrm>
          <a:prstGeom prst="rect">
            <a:avLst/>
          </a:prstGeom>
          <a:noFill/>
          <a:ln/>
        </p:spPr>
        <p:txBody>
          <a:bodyPr wrap="square" lIns="0" tIns="0" rIns="0" bIns="0" rtlCol="0" anchor="ctr"/>
          <a:lstStyle/>
          <a:p>
            <a:pPr marL="0" indent="0">
              <a:buNone/>
            </a:pPr>
            <a:r>
              <a:rPr lang="en-US" sz="1400" dirty="0">
                <a:solidFill>
                  <a:schemeClr val="tx1"/>
                </a:solidFill>
              </a:rPr>
              <a:t>Leader appends it to its write-ahead log and replicates it</a:t>
            </a:r>
            <a:endParaRPr lang="en-US" sz="1400" dirty="0"/>
          </a:p>
        </p:txBody>
      </p:sp>
      <p:sp>
        <p:nvSpPr>
          <p:cNvPr id="26" name="step-120"/>
          <p:cNvSpPr txBox="1"/>
          <p:nvPr/>
        </p:nvSpPr>
        <p:spPr>
          <a:xfrm>
            <a:off x="6675120" y="379476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27" name="text-121"/>
          <p:cNvSpPr txBox="1"/>
          <p:nvPr/>
        </p:nvSpPr>
        <p:spPr>
          <a:xfrm>
            <a:off x="7315200" y="3776472"/>
            <a:ext cx="4023360" cy="548640"/>
          </a:xfrm>
          <a:prstGeom prst="rect">
            <a:avLst/>
          </a:prstGeom>
          <a:noFill/>
          <a:ln/>
        </p:spPr>
        <p:txBody>
          <a:bodyPr wrap="square" lIns="0" tIns="0" rIns="0" bIns="0" rtlCol="0" anchor="ctr"/>
          <a:lstStyle/>
          <a:p>
            <a:pPr marL="0" indent="0">
              <a:buNone/>
            </a:pPr>
            <a:r>
              <a:rPr lang="en-US" sz="1400" dirty="0">
                <a:solidFill>
                  <a:schemeClr val="tx1"/>
                </a:solidFill>
              </a:rPr>
              <a:t>A majority stores it → the leader commits</a:t>
            </a:r>
            <a:endParaRPr lang="en-US" sz="1400" dirty="0"/>
          </a:p>
        </p:txBody>
      </p:sp>
      <p:sp>
        <p:nvSpPr>
          <p:cNvPr id="28" name="step-122"/>
          <p:cNvSpPr txBox="1"/>
          <p:nvPr/>
        </p:nvSpPr>
        <p:spPr>
          <a:xfrm>
            <a:off x="6675120" y="4572000"/>
            <a:ext cx="457200" cy="457200"/>
          </a:xfrm>
          <a:prstGeom prst="ellipse">
            <a:avLst/>
          </a:prstGeom>
          <a:solidFill>
            <a:schemeClr val="accent1"/>
          </a:solidFill>
          <a:ln>
            <a:solidFill>
              <a:schemeClr val="accent1"/>
            </a:solid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9" name="text-123"/>
          <p:cNvSpPr txBox="1"/>
          <p:nvPr/>
        </p:nvSpPr>
        <p:spPr>
          <a:xfrm>
            <a:off x="7315200" y="4553712"/>
            <a:ext cx="4023360" cy="548640"/>
          </a:xfrm>
          <a:prstGeom prst="rect">
            <a:avLst/>
          </a:prstGeom>
          <a:noFill/>
          <a:ln/>
        </p:spPr>
        <p:txBody>
          <a:bodyPr wrap="square" lIns="0" tIns="0" rIns="0" bIns="0" rtlCol="0" anchor="ctr"/>
          <a:lstStyle/>
          <a:p>
            <a:pPr marL="0" indent="0">
              <a:buNone/>
            </a:pPr>
            <a:r>
              <a:rPr lang="en-US" sz="1400" dirty="0">
                <a:solidFill>
                  <a:schemeClr val="tx1"/>
                </a:solidFill>
              </a:rPr>
              <a:t>Every replica applies it in the same order</a:t>
            </a:r>
            <a:endParaRPr lang="en-US" sz="1400" dirty="0"/>
          </a:p>
        </p:txBody>
      </p:sp>
      <p:sp>
        <p:nvSpPr>
          <p:cNvPr id="30" name="pill-124"/>
          <p:cNvSpPr txBox="1"/>
          <p:nvPr/>
        </p:nvSpPr>
        <p:spPr>
          <a:xfrm>
            <a:off x="6675120" y="5486400"/>
            <a:ext cx="4663440" cy="411480"/>
          </a:xfrm>
          <a:prstGeom prst="roundRect">
            <a:avLst>
              <a:gd name="adj" fmla="val 37778"/>
            </a:avLst>
          </a:prstGeom>
          <a:solidFill>
            <a:schemeClr val="accent1">
              <a:alpha val="18000"/>
            </a:schemeClr>
          </a:solidFill>
          <a:ln w="12700">
            <a:solidFill>
              <a:schemeClr val="accent1">
                <a:alpha val="90000"/>
              </a:schemeClr>
            </a:solidFill>
          </a:ln>
        </p:spPr>
        <p:txBody>
          <a:bodyPr wrap="square" lIns="0" tIns="0" rIns="0" bIns="0" rtlCol="0" anchor="ctr"/>
          <a:lstStyle/>
          <a:p>
            <a:pPr marL="0" indent="0" algn="ctr">
              <a:buNone/>
            </a:pPr>
            <a:r>
              <a:rPr lang="en-US" sz="1300" b="1" dirty="0">
                <a:solidFill>
                  <a:schemeClr val="tx1"/>
                </a:solidFill>
              </a:rPr>
              <a:t>Leader crash → new leader in ~1–2 s, 0 writes lost</a:t>
            </a:r>
            <a:endParaRPr lang="en-US" sz="1300" dirty="0"/>
          </a:p>
        </p:txBody>
      </p:sp>
      <p:sp>
        <p:nvSpPr>
          <p:cNvPr id="31"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Consistent hashing spreads patients evenly across shards</a:t>
            </a:r>
            <a:endParaRPr lang="en-US" sz="3000" dirty="0"/>
          </a:p>
        </p:txBody>
      </p:sp>
      <p:sp>
        <p:nvSpPr>
          <p:cNvPr id="3" name="ring-125"/>
          <p:cNvSpPr/>
          <p:nvPr/>
        </p:nvSpPr>
        <p:spPr>
          <a:xfrm>
            <a:off x="548640" y="1417320"/>
            <a:ext cx="4206240" cy="4754880"/>
          </a:xfrm>
          <a:prstGeom prst="roundRect">
            <a:avLst>
              <a:gd name="adj" fmla="val 4783"/>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4" name="text-126"/>
          <p:cNvSpPr txBox="1"/>
          <p:nvPr/>
        </p:nvSpPr>
        <p:spPr>
          <a:xfrm>
            <a:off x="822960" y="1645920"/>
            <a:ext cx="3657600" cy="365760"/>
          </a:xfrm>
          <a:prstGeom prst="rect">
            <a:avLst/>
          </a:prstGeom>
          <a:noFill/>
          <a:ln/>
        </p:spPr>
        <p:txBody>
          <a:bodyPr wrap="square" lIns="0" tIns="0" rIns="0" bIns="0" rtlCol="0" anchor="t"/>
          <a:lstStyle/>
          <a:p>
            <a:pPr marL="0" indent="0">
              <a:buNone/>
            </a:pPr>
            <a:r>
              <a:rPr lang="en-US" sz="1700" b="1" dirty="0">
                <a:solidFill>
                  <a:schemeClr val="tx1"/>
                </a:solidFill>
              </a:rPr>
              <a:t>Key-space share</a:t>
            </a:r>
            <a:endParaRPr lang="en-US" sz="1700" dirty="0"/>
          </a:p>
        </p:txBody>
      </p:sp>
      <p:sp>
        <p:nvSpPr>
          <p:cNvPr id="5" name="text-127"/>
          <p:cNvSpPr txBox="1"/>
          <p:nvPr/>
        </p:nvSpPr>
        <p:spPr>
          <a:xfrm>
            <a:off x="822960" y="2011680"/>
            <a:ext cx="3657600" cy="274320"/>
          </a:xfrm>
          <a:prstGeom prst="rect">
            <a:avLst/>
          </a:prstGeom>
          <a:noFill/>
          <a:ln/>
        </p:spPr>
        <p:txBody>
          <a:bodyPr wrap="square" lIns="0" tIns="0" rIns="0" bIns="0" rtlCol="0" anchor="t"/>
          <a:lstStyle/>
          <a:p>
            <a:pPr marL="0" indent="0">
              <a:buNone/>
            </a:pPr>
            <a:r>
              <a:rPr lang="en-US" sz="1200" dirty="0">
                <a:solidFill>
                  <a:schemeClr val="tx2"/>
                </a:solidFill>
              </a:rPr>
              <a:t>150 virtual nodes per shard</a:t>
            </a:r>
            <a:endParaRPr lang="en-US" sz="1200" dirty="0"/>
          </a:p>
        </p:txBody>
      </p:sp>
      <p:graphicFrame>
        <p:nvGraphicFramePr>
          <p:cNvPr id="6" name="Chart 0"/>
          <p:cNvGraphicFramePr/>
          <p:nvPr/>
        </p:nvGraphicFramePr>
        <p:xfrm>
          <a:off x="822960" y="2331720"/>
          <a:ext cx="36576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glass-128"/>
          <p:cNvSpPr/>
          <p:nvPr/>
        </p:nvSpPr>
        <p:spPr>
          <a:xfrm>
            <a:off x="5029200" y="1417320"/>
            <a:ext cx="3154680" cy="1874520"/>
          </a:xfrm>
          <a:prstGeom prst="roundRect">
            <a:avLst>
              <a:gd name="adj" fmla="val 1073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8" name="text-129"/>
          <p:cNvSpPr txBox="1"/>
          <p:nvPr/>
        </p:nvSpPr>
        <p:spPr>
          <a:xfrm>
            <a:off x="5303520" y="1760220"/>
            <a:ext cx="2606040" cy="731520"/>
          </a:xfrm>
          <a:prstGeom prst="rect">
            <a:avLst/>
          </a:prstGeom>
          <a:noFill/>
          <a:ln/>
        </p:spPr>
        <p:txBody>
          <a:bodyPr wrap="square" lIns="0" tIns="0" rIns="0" bIns="0" rtlCol="0" anchor="ctr"/>
          <a:lstStyle/>
          <a:p>
            <a:pPr marL="0" indent="0">
              <a:buNone/>
            </a:pPr>
            <a:r>
              <a:rPr lang="en-US" sz="4000" b="1" dirty="0">
                <a:solidFill>
                  <a:schemeClr val="accent1"/>
                </a:solidFill>
              </a:rPr>
              <a:t>~20%</a:t>
            </a:r>
            <a:endParaRPr lang="en-US" sz="4000" dirty="0"/>
          </a:p>
        </p:txBody>
      </p:sp>
      <p:sp>
        <p:nvSpPr>
          <p:cNvPr id="9" name="text-130"/>
          <p:cNvSpPr txBox="1"/>
          <p:nvPr/>
        </p:nvSpPr>
        <p:spPr>
          <a:xfrm>
            <a:off x="5303520" y="2510028"/>
            <a:ext cx="2606040" cy="457200"/>
          </a:xfrm>
          <a:prstGeom prst="rect">
            <a:avLst/>
          </a:prstGeom>
          <a:noFill/>
          <a:ln/>
        </p:spPr>
        <p:txBody>
          <a:bodyPr wrap="square" lIns="0" tIns="0" rIns="0" bIns="0" rtlCol="0" anchor="t"/>
          <a:lstStyle/>
          <a:p>
            <a:pPr marL="0" indent="0">
              <a:buNone/>
            </a:pPr>
            <a:r>
              <a:rPr lang="en-US" sz="1250" dirty="0">
                <a:solidFill>
                  <a:schemeClr val="tx2"/>
                </a:solidFill>
              </a:rPr>
              <a:t>of keys move when a 5th shard joins (consistent hashing)</a:t>
            </a:r>
            <a:endParaRPr lang="en-US" sz="1250" dirty="0"/>
          </a:p>
        </p:txBody>
      </p:sp>
      <p:sp>
        <p:nvSpPr>
          <p:cNvPr id="10" name="glass-131"/>
          <p:cNvSpPr/>
          <p:nvPr/>
        </p:nvSpPr>
        <p:spPr>
          <a:xfrm>
            <a:off x="8458200" y="1417320"/>
            <a:ext cx="3154680" cy="1874520"/>
          </a:xfrm>
          <a:prstGeom prst="roundRect">
            <a:avLst>
              <a:gd name="adj" fmla="val 1073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1" name="text-132"/>
          <p:cNvSpPr txBox="1"/>
          <p:nvPr/>
        </p:nvSpPr>
        <p:spPr>
          <a:xfrm>
            <a:off x="8732520" y="1760220"/>
            <a:ext cx="2606040" cy="731520"/>
          </a:xfrm>
          <a:prstGeom prst="rect">
            <a:avLst/>
          </a:prstGeom>
          <a:noFill/>
          <a:ln/>
        </p:spPr>
        <p:txBody>
          <a:bodyPr wrap="square" lIns="0" tIns="0" rIns="0" bIns="0" rtlCol="0" anchor="ctr"/>
          <a:lstStyle/>
          <a:p>
            <a:pPr marL="0" indent="0">
              <a:buNone/>
            </a:pPr>
            <a:r>
              <a:rPr lang="en-US" sz="4000" b="1" dirty="0">
                <a:solidFill>
                  <a:schemeClr val="accent6"/>
                </a:solidFill>
              </a:rPr>
              <a:t>~80%</a:t>
            </a:r>
            <a:endParaRPr lang="en-US" sz="4000" dirty="0"/>
          </a:p>
        </p:txBody>
      </p:sp>
      <p:sp>
        <p:nvSpPr>
          <p:cNvPr id="12" name="text-133"/>
          <p:cNvSpPr txBox="1"/>
          <p:nvPr/>
        </p:nvSpPr>
        <p:spPr>
          <a:xfrm>
            <a:off x="8732520" y="2510028"/>
            <a:ext cx="2606040" cy="457200"/>
          </a:xfrm>
          <a:prstGeom prst="rect">
            <a:avLst/>
          </a:prstGeom>
          <a:noFill/>
          <a:ln/>
        </p:spPr>
        <p:txBody>
          <a:bodyPr wrap="square" lIns="0" tIns="0" rIns="0" bIns="0" rtlCol="0" anchor="t"/>
          <a:lstStyle/>
          <a:p>
            <a:pPr marL="0" indent="0">
              <a:buNone/>
            </a:pPr>
            <a:r>
              <a:rPr lang="en-US" sz="1250" dirty="0">
                <a:solidFill>
                  <a:schemeClr val="tx2"/>
                </a:solidFill>
              </a:rPr>
              <a:t>would move with plain hash mod N</a:t>
            </a:r>
            <a:endParaRPr lang="en-US" sz="1250" dirty="0"/>
          </a:p>
        </p:txBody>
      </p:sp>
      <p:sp>
        <p:nvSpPr>
          <p:cNvPr id="13" name="consistency-134"/>
          <p:cNvSpPr/>
          <p:nvPr/>
        </p:nvSpPr>
        <p:spPr>
          <a:xfrm>
            <a:off x="5029200" y="3566160"/>
            <a:ext cx="6583680" cy="2606040"/>
          </a:xfrm>
          <a:prstGeom prst="roundRect">
            <a:avLst>
              <a:gd name="adj" fmla="val 7719"/>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4" name="text-135"/>
          <p:cNvSpPr txBox="1"/>
          <p:nvPr/>
        </p:nvSpPr>
        <p:spPr>
          <a:xfrm>
            <a:off x="5303520" y="3749040"/>
            <a:ext cx="4572000" cy="365760"/>
          </a:xfrm>
          <a:prstGeom prst="rect">
            <a:avLst/>
          </a:prstGeom>
          <a:noFill/>
          <a:ln/>
        </p:spPr>
        <p:txBody>
          <a:bodyPr wrap="square" lIns="0" tIns="0" rIns="0" bIns="0" rtlCol="0" anchor="t"/>
          <a:lstStyle/>
          <a:p>
            <a:pPr marL="0" indent="0">
              <a:buNone/>
            </a:pPr>
            <a:r>
              <a:rPr lang="en-US" sz="1700" b="1" dirty="0">
                <a:solidFill>
                  <a:schemeClr val="tx1"/>
                </a:solidFill>
              </a:rPr>
              <a:t>Consistency model</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303520" y="4206240"/>
          <a:ext cx="6035040" cy="1645920"/>
        </p:xfrm>
        <a:graphic>
          <a:graphicData uri="http://schemas.openxmlformats.org/drawingml/2006/table">
            <a:tbl>
              <a:tblPr/>
              <a:tblGrid>
                <a:gridCol w="22860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11480">
                <a:tc>
                  <a:txBody>
                    <a:bodyPr/>
                    <a:lstStyle/>
                    <a:p>
                      <a:pPr marL="0" indent="0">
                        <a:buNone/>
                      </a:pPr>
                      <a:r>
                        <a:rPr lang="en-US" sz="1200" b="1" dirty="0">
                          <a:solidFill>
                            <a:schemeClr val="tx2"/>
                          </a:solidFill>
                        </a:rPr>
                        <a:t>Operation</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Consistency</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Served by</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pPr marL="0" indent="0">
                        <a:buNone/>
                      </a:pPr>
                      <a:r>
                        <a:rPr lang="en-US" sz="1300" dirty="0">
                          <a:solidFill>
                            <a:schemeClr val="tx1"/>
                          </a:solidFill>
                        </a:rPr>
                        <a:t>Read a record or consents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accent1"/>
                          </a:solidFill>
                        </a:rPr>
                        <a:t>Linearizable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Shard leader (lease read)</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dirty="0">
                          <a:solidFill>
                            <a:schemeClr val="tx1"/>
                          </a:solidFill>
                        </a:rPr>
                        <a:t>Patient directory</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accent2"/>
                          </a:solidFill>
                        </a:rPr>
                        <a:t>Eventual</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Any follower (read replica)</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dirty="0">
                          <a:solidFill>
                            <a:schemeClr val="tx1"/>
                          </a:solidFill>
                        </a:rPr>
                        <a:t>All writes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accent1"/>
                          </a:solidFill>
                        </a:rPr>
                        <a:t>Linearizable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Leader + majority</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The gateway hides failovers from clients</a:t>
            </a:r>
            <a:endParaRPr lang="en-US" sz="3000" dirty="0"/>
          </a:p>
        </p:txBody>
      </p:sp>
      <p:sp>
        <p:nvSpPr>
          <p:cNvPr id="3" name="mechanisms-136"/>
          <p:cNvSpPr/>
          <p:nvPr/>
        </p:nvSpPr>
        <p:spPr>
          <a:xfrm>
            <a:off x="548640" y="1417320"/>
            <a:ext cx="731520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4" name="icon-waypoints-sky-137" descr="C:\Users\hares\AppData\Local\Temp\claude\C--Users-hares-Downloads-distributed-proj\b8b70322-b8bd-48b7-a531-3815c955f6d1\scratchpad\deck\assets\icon-waypoints-sky.png"/>
          <p:cNvPicPr>
            <a:picLocks noChangeAspect="1"/>
          </p:cNvPicPr>
          <p:nvPr/>
        </p:nvPicPr>
        <p:blipFill>
          <a:blip r:embed="rId3"/>
          <a:stretch>
            <a:fillRect/>
          </a:stretch>
        </p:blipFill>
        <p:spPr>
          <a:xfrm>
            <a:off x="822960" y="1645920"/>
            <a:ext cx="566928" cy="566928"/>
          </a:xfrm>
          <a:prstGeom prst="rect">
            <a:avLst/>
          </a:prstGeom>
        </p:spPr>
      </p:pic>
      <p:sp>
        <p:nvSpPr>
          <p:cNvPr id="5" name="text-138"/>
          <p:cNvSpPr txBox="1"/>
          <p:nvPr/>
        </p:nvSpPr>
        <p:spPr>
          <a:xfrm>
            <a:off x="1600200" y="1627632"/>
            <a:ext cx="6035040" cy="320040"/>
          </a:xfrm>
          <a:prstGeom prst="rect">
            <a:avLst/>
          </a:prstGeom>
          <a:noFill/>
          <a:ln/>
        </p:spPr>
        <p:txBody>
          <a:bodyPr wrap="square" lIns="0" tIns="0" rIns="0" bIns="0" rtlCol="0" anchor="t"/>
          <a:lstStyle/>
          <a:p>
            <a:pPr marL="0" indent="0">
              <a:buNone/>
            </a:pPr>
            <a:r>
              <a:rPr lang="en-US" sz="1500" b="1" dirty="0">
                <a:solidFill>
                  <a:schemeClr val="tx1"/>
                </a:solidFill>
              </a:rPr>
              <a:t>Leader tracking</a:t>
            </a:r>
            <a:endParaRPr lang="en-US" sz="1500" dirty="0"/>
          </a:p>
        </p:txBody>
      </p:sp>
      <p:sp>
        <p:nvSpPr>
          <p:cNvPr id="6" name="text-139"/>
          <p:cNvSpPr txBox="1"/>
          <p:nvPr/>
        </p:nvSpPr>
        <p:spPr>
          <a:xfrm>
            <a:off x="1600200" y="1947672"/>
            <a:ext cx="6035040" cy="365760"/>
          </a:xfrm>
          <a:prstGeom prst="rect">
            <a:avLst/>
          </a:prstGeom>
          <a:noFill/>
          <a:ln/>
        </p:spPr>
        <p:txBody>
          <a:bodyPr wrap="square" lIns="0" tIns="0" rIns="0" bIns="0" rtlCol="0" anchor="t"/>
          <a:lstStyle/>
          <a:p>
            <a:pPr marL="0" indent="0">
              <a:buNone/>
            </a:pPr>
            <a:r>
              <a:rPr lang="en-US" sz="1250" dirty="0">
                <a:solidFill>
                  <a:schemeClr val="tx2"/>
                </a:solidFill>
              </a:rPr>
              <a:t>Followers reply 'not leader' with a hint; the client follows it immediately.</a:t>
            </a:r>
            <a:endParaRPr lang="en-US" sz="1250" dirty="0"/>
          </a:p>
        </p:txBody>
      </p:sp>
      <p:pic>
        <p:nvPicPr>
          <p:cNvPr id="7" name="icon-refresh-teal-140" descr="C:\Users\hares\AppData\Local\Temp\claude\C--Users-hares-Downloads-distributed-proj\b8b70322-b8bd-48b7-a531-3815c955f6d1\scratchpad\deck\assets\icon-refresh-teal.png"/>
          <p:cNvPicPr>
            <a:picLocks noChangeAspect="1"/>
          </p:cNvPicPr>
          <p:nvPr/>
        </p:nvPicPr>
        <p:blipFill>
          <a:blip r:embed="rId4"/>
          <a:stretch>
            <a:fillRect/>
          </a:stretch>
        </p:blipFill>
        <p:spPr>
          <a:xfrm>
            <a:off x="822960" y="2523744"/>
            <a:ext cx="566928" cy="566928"/>
          </a:xfrm>
          <a:prstGeom prst="rect">
            <a:avLst/>
          </a:prstGeom>
        </p:spPr>
      </p:pic>
      <p:sp>
        <p:nvSpPr>
          <p:cNvPr id="8" name="text-141"/>
          <p:cNvSpPr txBox="1"/>
          <p:nvPr/>
        </p:nvSpPr>
        <p:spPr>
          <a:xfrm>
            <a:off x="1600200" y="2505456"/>
            <a:ext cx="6035040" cy="320040"/>
          </a:xfrm>
          <a:prstGeom prst="rect">
            <a:avLst/>
          </a:prstGeom>
          <a:noFill/>
          <a:ln/>
        </p:spPr>
        <p:txBody>
          <a:bodyPr wrap="square" lIns="0" tIns="0" rIns="0" bIns="0" rtlCol="0" anchor="t"/>
          <a:lstStyle/>
          <a:p>
            <a:pPr marL="0" indent="0">
              <a:buNone/>
            </a:pPr>
            <a:r>
              <a:rPr lang="en-US" sz="1500" b="1" dirty="0">
                <a:solidFill>
                  <a:schemeClr val="tx1"/>
                </a:solidFill>
              </a:rPr>
              <a:t>Retry with backoff + jitter</a:t>
            </a:r>
            <a:endParaRPr lang="en-US" sz="1500" dirty="0"/>
          </a:p>
        </p:txBody>
      </p:sp>
      <p:sp>
        <p:nvSpPr>
          <p:cNvPr id="9" name="text-142"/>
          <p:cNvSpPr txBox="1"/>
          <p:nvPr/>
        </p:nvSpPr>
        <p:spPr>
          <a:xfrm>
            <a:off x="1600200" y="2825496"/>
            <a:ext cx="6035040" cy="365760"/>
          </a:xfrm>
          <a:prstGeom prst="rect">
            <a:avLst/>
          </a:prstGeom>
          <a:noFill/>
          <a:ln/>
        </p:spPr>
        <p:txBody>
          <a:bodyPr wrap="square" lIns="0" tIns="0" rIns="0" bIns="0" rtlCol="0" anchor="t"/>
          <a:lstStyle/>
          <a:p>
            <a:pPr marL="0" indent="0">
              <a:buNone/>
            </a:pPr>
            <a:r>
              <a:rPr lang="en-US" sz="1250" dirty="0">
                <a:solidFill>
                  <a:schemeClr val="tx2"/>
                </a:solidFill>
              </a:rPr>
              <a:t>Other replicas are tried until a new leader exists: a slower request, not an error.</a:t>
            </a:r>
            <a:endParaRPr lang="en-US" sz="1250" dirty="0"/>
          </a:p>
        </p:txBody>
      </p:sp>
      <p:pic>
        <p:nvPicPr>
          <p:cNvPr id="10" name="icon-circuit-rose-143" descr="C:\Users\hares\AppData\Local\Temp\claude\C--Users-hares-Downloads-distributed-proj\b8b70322-b8bd-48b7-a531-3815c955f6d1\scratchpad\deck\assets\icon-circuit-rose.png"/>
          <p:cNvPicPr>
            <a:picLocks noChangeAspect="1"/>
          </p:cNvPicPr>
          <p:nvPr/>
        </p:nvPicPr>
        <p:blipFill>
          <a:blip r:embed="rId5"/>
          <a:stretch>
            <a:fillRect/>
          </a:stretch>
        </p:blipFill>
        <p:spPr>
          <a:xfrm>
            <a:off x="822960" y="3401568"/>
            <a:ext cx="566928" cy="566928"/>
          </a:xfrm>
          <a:prstGeom prst="rect">
            <a:avLst/>
          </a:prstGeom>
        </p:spPr>
      </p:pic>
      <p:sp>
        <p:nvSpPr>
          <p:cNvPr id="11" name="text-144"/>
          <p:cNvSpPr txBox="1"/>
          <p:nvPr/>
        </p:nvSpPr>
        <p:spPr>
          <a:xfrm>
            <a:off x="1600200" y="3383280"/>
            <a:ext cx="6035040" cy="320040"/>
          </a:xfrm>
          <a:prstGeom prst="rect">
            <a:avLst/>
          </a:prstGeom>
          <a:noFill/>
          <a:ln/>
        </p:spPr>
        <p:txBody>
          <a:bodyPr wrap="square" lIns="0" tIns="0" rIns="0" bIns="0" rtlCol="0" anchor="t"/>
          <a:lstStyle/>
          <a:p>
            <a:pPr marL="0" indent="0">
              <a:buNone/>
            </a:pPr>
            <a:r>
              <a:rPr lang="en-US" sz="1500" b="1" dirty="0">
                <a:solidFill>
                  <a:schemeClr val="tx1"/>
                </a:solidFill>
              </a:rPr>
              <a:t>Circuit breaker per replica</a:t>
            </a:r>
            <a:endParaRPr lang="en-US" sz="1500" dirty="0"/>
          </a:p>
        </p:txBody>
      </p:sp>
      <p:sp>
        <p:nvSpPr>
          <p:cNvPr id="12" name="text-145"/>
          <p:cNvSpPr txBox="1"/>
          <p:nvPr/>
        </p:nvSpPr>
        <p:spPr>
          <a:xfrm>
            <a:off x="1600200" y="3703320"/>
            <a:ext cx="6035040" cy="365760"/>
          </a:xfrm>
          <a:prstGeom prst="rect">
            <a:avLst/>
          </a:prstGeom>
          <a:noFill/>
          <a:ln/>
        </p:spPr>
        <p:txBody>
          <a:bodyPr wrap="square" lIns="0" tIns="0" rIns="0" bIns="0" rtlCol="0" anchor="t"/>
          <a:lstStyle/>
          <a:p>
            <a:pPr marL="0" indent="0">
              <a:buNone/>
            </a:pPr>
            <a:r>
              <a:rPr lang="en-US" sz="1250" dirty="0">
                <a:solidFill>
                  <a:schemeClr val="tx2"/>
                </a:solidFill>
              </a:rPr>
              <a:t>After 2 failures a dead replica is skipped for 2.5 s, then probed once.</a:t>
            </a:r>
            <a:endParaRPr lang="en-US" sz="1250" dirty="0"/>
          </a:p>
        </p:txBody>
      </p:sp>
      <p:pic>
        <p:nvPicPr>
          <p:cNvPr id="13" name="icon-activity-amber-146" descr="C:\Users\hares\AppData\Local\Temp\claude\C--Users-hares-Downloads-distributed-proj\b8b70322-b8bd-48b7-a531-3815c955f6d1\scratchpad\deck\assets\icon-activity-amber.png"/>
          <p:cNvPicPr>
            <a:picLocks noChangeAspect="1"/>
          </p:cNvPicPr>
          <p:nvPr/>
        </p:nvPicPr>
        <p:blipFill>
          <a:blip r:embed="rId6"/>
          <a:stretch>
            <a:fillRect/>
          </a:stretch>
        </p:blipFill>
        <p:spPr>
          <a:xfrm>
            <a:off x="822960" y="4279392"/>
            <a:ext cx="566928" cy="566928"/>
          </a:xfrm>
          <a:prstGeom prst="rect">
            <a:avLst/>
          </a:prstGeom>
        </p:spPr>
      </p:pic>
      <p:sp>
        <p:nvSpPr>
          <p:cNvPr id="14" name="text-147"/>
          <p:cNvSpPr txBox="1"/>
          <p:nvPr/>
        </p:nvSpPr>
        <p:spPr>
          <a:xfrm>
            <a:off x="1600200" y="4261104"/>
            <a:ext cx="6035040" cy="320040"/>
          </a:xfrm>
          <a:prstGeom prst="rect">
            <a:avLst/>
          </a:prstGeom>
          <a:noFill/>
          <a:ln/>
        </p:spPr>
        <p:txBody>
          <a:bodyPr wrap="square" lIns="0" tIns="0" rIns="0" bIns="0" rtlCol="0" anchor="t"/>
          <a:lstStyle/>
          <a:p>
            <a:pPr marL="0" indent="0">
              <a:buNone/>
            </a:pPr>
            <a:r>
              <a:rPr lang="en-US" sz="1500" b="1" dirty="0">
                <a:solidFill>
                  <a:schemeClr val="tx1"/>
                </a:solidFill>
              </a:rPr>
              <a:t>Failure detector</a:t>
            </a:r>
            <a:endParaRPr lang="en-US" sz="1500" dirty="0"/>
          </a:p>
        </p:txBody>
      </p:sp>
      <p:sp>
        <p:nvSpPr>
          <p:cNvPr id="15" name="text-148"/>
          <p:cNvSpPr txBox="1"/>
          <p:nvPr/>
        </p:nvSpPr>
        <p:spPr>
          <a:xfrm>
            <a:off x="1600200" y="4581144"/>
            <a:ext cx="6035040" cy="365760"/>
          </a:xfrm>
          <a:prstGeom prst="rect">
            <a:avLst/>
          </a:prstGeom>
          <a:noFill/>
          <a:ln/>
        </p:spPr>
        <p:txBody>
          <a:bodyPr wrap="square" lIns="0" tIns="0" rIns="0" bIns="0" rtlCol="0" anchor="t"/>
          <a:lstStyle/>
          <a:p>
            <a:pPr marL="0" indent="0">
              <a:buNone/>
            </a:pPr>
            <a:r>
              <a:rPr lang="en-US" sz="1250" dirty="0">
                <a:solidFill>
                  <a:schemeClr val="tx2"/>
                </a:solidFill>
              </a:rPr>
              <a:t>Every replica is polled each second; node-down and leader events are published.</a:t>
            </a:r>
            <a:endParaRPr lang="en-US" sz="1250" dirty="0"/>
          </a:p>
        </p:txBody>
      </p:sp>
      <p:pic>
        <p:nvPicPr>
          <p:cNvPr id="16" name="icon-inbox-violet-149" descr="C:\Users\hares\AppData\Local\Temp\claude\C--Users-hares-Downloads-distributed-proj\b8b70322-b8bd-48b7-a531-3815c955f6d1\scratchpad\deck\assets\icon-inbox-violet.png"/>
          <p:cNvPicPr>
            <a:picLocks noChangeAspect="1"/>
          </p:cNvPicPr>
          <p:nvPr/>
        </p:nvPicPr>
        <p:blipFill>
          <a:blip r:embed="rId7"/>
          <a:stretch>
            <a:fillRect/>
          </a:stretch>
        </p:blipFill>
        <p:spPr>
          <a:xfrm>
            <a:off x="822960" y="5157216"/>
            <a:ext cx="566928" cy="566928"/>
          </a:xfrm>
          <a:prstGeom prst="rect">
            <a:avLst/>
          </a:prstGeom>
        </p:spPr>
      </p:pic>
      <p:sp>
        <p:nvSpPr>
          <p:cNvPr id="17" name="text-150"/>
          <p:cNvSpPr txBox="1"/>
          <p:nvPr/>
        </p:nvSpPr>
        <p:spPr>
          <a:xfrm>
            <a:off x="1600200" y="5138928"/>
            <a:ext cx="6035040" cy="320040"/>
          </a:xfrm>
          <a:prstGeom prst="rect">
            <a:avLst/>
          </a:prstGeom>
          <a:noFill/>
          <a:ln/>
        </p:spPr>
        <p:txBody>
          <a:bodyPr wrap="square" lIns="0" tIns="0" rIns="0" bIns="0" rtlCol="0" anchor="t"/>
          <a:lstStyle/>
          <a:p>
            <a:pPr marL="0" indent="0">
              <a:buNone/>
            </a:pPr>
            <a:r>
              <a:rPr lang="en-US" sz="1500" b="1" dirty="0">
                <a:solidFill>
                  <a:schemeClr val="tx1"/>
                </a:solidFill>
              </a:rPr>
              <a:t>Outbox for events</a:t>
            </a:r>
            <a:endParaRPr lang="en-US" sz="1500" dirty="0"/>
          </a:p>
        </p:txBody>
      </p:sp>
      <p:sp>
        <p:nvSpPr>
          <p:cNvPr id="18" name="text-151"/>
          <p:cNvSpPr txBox="1"/>
          <p:nvPr/>
        </p:nvSpPr>
        <p:spPr>
          <a:xfrm>
            <a:off x="1600200" y="5458968"/>
            <a:ext cx="6035040" cy="365760"/>
          </a:xfrm>
          <a:prstGeom prst="rect">
            <a:avLst/>
          </a:prstGeom>
          <a:noFill/>
          <a:ln/>
        </p:spPr>
        <p:txBody>
          <a:bodyPr wrap="square" lIns="0" tIns="0" rIns="0" bIns="0" rtlCol="0" anchor="t"/>
          <a:lstStyle/>
          <a:p>
            <a:pPr marL="0" indent="0">
              <a:buNone/>
            </a:pPr>
            <a:r>
              <a:rPr lang="en-US" sz="1250" dirty="0">
                <a:solidFill>
                  <a:schemeClr val="tx2"/>
                </a:solidFill>
              </a:rPr>
              <a:t>Audit events are buffered if the bus is down, so clinical requests never fail.</a:t>
            </a:r>
            <a:endParaRPr lang="en-US" sz="1250" dirty="0"/>
          </a:p>
        </p:txBody>
      </p:sp>
      <p:sp>
        <p:nvSpPr>
          <p:cNvPr id="19" name="cap-152"/>
          <p:cNvSpPr/>
          <p:nvPr/>
        </p:nvSpPr>
        <p:spPr>
          <a:xfrm>
            <a:off x="8138160" y="1417320"/>
            <a:ext cx="3474720" cy="4754880"/>
          </a:xfrm>
          <a:prstGeom prst="roundRect">
            <a:avLst>
              <a:gd name="adj" fmla="val 5789"/>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20" name="text-153"/>
          <p:cNvSpPr txBox="1"/>
          <p:nvPr/>
        </p:nvSpPr>
        <p:spPr>
          <a:xfrm>
            <a:off x="8412480" y="1691640"/>
            <a:ext cx="2926080" cy="914400"/>
          </a:xfrm>
          <a:prstGeom prst="rect">
            <a:avLst/>
          </a:prstGeom>
          <a:noFill/>
          <a:ln/>
        </p:spPr>
        <p:txBody>
          <a:bodyPr wrap="square" lIns="0" tIns="0" rIns="0" bIns="0" rtlCol="0" anchor="t"/>
          <a:lstStyle/>
          <a:p>
            <a:pPr marL="0" indent="0">
              <a:buNone/>
            </a:pPr>
            <a:r>
              <a:rPr lang="en-US" sz="6000" b="1" dirty="0">
                <a:solidFill>
                  <a:schemeClr val="accent1"/>
                </a:solidFill>
              </a:rPr>
              <a:t>CP</a:t>
            </a:r>
            <a:endParaRPr lang="en-US" sz="6000" dirty="0"/>
          </a:p>
        </p:txBody>
      </p:sp>
      <p:sp>
        <p:nvSpPr>
          <p:cNvPr id="21" name="text-154"/>
          <p:cNvSpPr txBox="1"/>
          <p:nvPr/>
        </p:nvSpPr>
        <p:spPr>
          <a:xfrm>
            <a:off x="8412480" y="2651760"/>
            <a:ext cx="2926080" cy="320040"/>
          </a:xfrm>
          <a:prstGeom prst="rect">
            <a:avLst/>
          </a:prstGeom>
          <a:noFill/>
          <a:ln/>
        </p:spPr>
        <p:txBody>
          <a:bodyPr wrap="square" lIns="0" tIns="0" rIns="0" bIns="0" rtlCol="0" anchor="t"/>
          <a:lstStyle/>
          <a:p>
            <a:pPr marL="0" indent="0">
              <a:buNone/>
            </a:pPr>
            <a:r>
              <a:rPr lang="en-US" sz="1400" b="1" dirty="0">
                <a:solidFill>
                  <a:schemeClr val="tx1"/>
                </a:solidFill>
              </a:rPr>
              <a:t>per shard, in CAP terms</a:t>
            </a:r>
            <a:endParaRPr lang="en-US" sz="1400" dirty="0"/>
          </a:p>
        </p:txBody>
      </p:sp>
      <p:sp>
        <p:nvSpPr>
          <p:cNvPr id="22" name="text-155"/>
          <p:cNvSpPr txBox="1"/>
          <p:nvPr/>
        </p:nvSpPr>
        <p:spPr>
          <a:xfrm>
            <a:off x="8412480" y="3154680"/>
            <a:ext cx="2926080" cy="1005840"/>
          </a:xfrm>
          <a:prstGeom prst="rect">
            <a:avLst/>
          </a:prstGeom>
          <a:noFill/>
          <a:ln/>
        </p:spPr>
        <p:txBody>
          <a:bodyPr wrap="square" lIns="0" tIns="0" rIns="0" bIns="0" rtlCol="0" anchor="t"/>
          <a:lstStyle/>
          <a:p>
            <a:pPr marL="0" indent="0">
              <a:buNone/>
            </a:pPr>
            <a:r>
              <a:rPr lang="en-US" sz="1300" dirty="0">
                <a:solidFill>
                  <a:schemeClr val="tx2"/>
                </a:solidFill>
              </a:rPr>
              <a:t>Without a majority a shard refuses writes instead of diverging: no split-brain.</a:t>
            </a:r>
            <a:endParaRPr lang="en-US" sz="1300" dirty="0"/>
          </a:p>
        </p:txBody>
      </p:sp>
      <p:sp>
        <p:nvSpPr>
          <p:cNvPr id="23" name="text-156"/>
          <p:cNvSpPr txBox="1"/>
          <p:nvPr/>
        </p:nvSpPr>
        <p:spPr>
          <a:xfrm>
            <a:off x="8412480" y="4069080"/>
            <a:ext cx="2926080" cy="1463040"/>
          </a:xfrm>
          <a:prstGeom prst="rect">
            <a:avLst/>
          </a:prstGeom>
          <a:noFill/>
          <a:ln/>
        </p:spPr>
        <p:txBody>
          <a:bodyPr wrap="square" lIns="0" tIns="0" rIns="0" bIns="0" rtlCol="0" anchor="t"/>
          <a:lstStyle/>
          <a:p>
            <a:pPr marL="0" indent="0">
              <a:buNone/>
            </a:pPr>
            <a:r>
              <a:rPr lang="en-US" sz="1300" dirty="0">
                <a:solidFill>
                  <a:schemeClr val="tx2"/>
                </a:solidFill>
              </a:rPr>
              <a:t>If a whole shard is down, the other keeps serving, and cross-shard queries return partial results flagged 'degraded'.</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Every access is authorized, encrypted and audited</a:t>
            </a:r>
            <a:endParaRPr lang="en-US" sz="3000" dirty="0"/>
          </a:p>
        </p:txBody>
      </p:sp>
      <p:sp>
        <p:nvSpPr>
          <p:cNvPr id="3" name="glass-157"/>
          <p:cNvSpPr/>
          <p:nvPr/>
        </p:nvSpPr>
        <p:spPr>
          <a:xfrm>
            <a:off x="54864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4" name="icon-fingerprint-teal-158" descr="C:\Users\hares\AppData\Local\Temp\claude\C--Users-hares-Downloads-distributed-proj\b8b70322-b8bd-48b7-a531-3815c955f6d1\scratchpad\deck\assets\icon-fingerprint-teal.png"/>
          <p:cNvPicPr>
            <a:picLocks noChangeAspect="1"/>
          </p:cNvPicPr>
          <p:nvPr/>
        </p:nvPicPr>
        <p:blipFill>
          <a:blip r:embed="rId3"/>
          <a:stretch>
            <a:fillRect/>
          </a:stretch>
        </p:blipFill>
        <p:spPr>
          <a:xfrm>
            <a:off x="804672" y="1691640"/>
            <a:ext cx="566928" cy="566928"/>
          </a:xfrm>
          <a:prstGeom prst="rect">
            <a:avLst/>
          </a:prstGeom>
        </p:spPr>
      </p:pic>
      <p:sp>
        <p:nvSpPr>
          <p:cNvPr id="5" name="text-159"/>
          <p:cNvSpPr txBox="1"/>
          <p:nvPr/>
        </p:nvSpPr>
        <p:spPr>
          <a:xfrm>
            <a:off x="1508759" y="1645920"/>
            <a:ext cx="1494499" cy="658368"/>
          </a:xfrm>
          <a:prstGeom prst="rect">
            <a:avLst/>
          </a:prstGeom>
          <a:noFill/>
          <a:ln/>
        </p:spPr>
        <p:txBody>
          <a:bodyPr wrap="square" lIns="0" tIns="0" rIns="0" bIns="0" rtlCol="0" anchor="ctr"/>
          <a:lstStyle/>
          <a:p>
            <a:pPr marL="0" indent="0">
              <a:buNone/>
            </a:pPr>
            <a:r>
              <a:rPr lang="en-US" sz="1600" b="1" dirty="0">
                <a:solidFill>
                  <a:schemeClr val="tx1"/>
                </a:solidFill>
              </a:rPr>
              <a:t>Authentication</a:t>
            </a:r>
            <a:endParaRPr lang="en-US" sz="1600" dirty="0"/>
          </a:p>
        </p:txBody>
      </p:sp>
      <p:sp>
        <p:nvSpPr>
          <p:cNvPr id="6" name="text-160"/>
          <p:cNvSpPr txBox="1"/>
          <p:nvPr/>
        </p:nvSpPr>
        <p:spPr>
          <a:xfrm>
            <a:off x="804672" y="2514600"/>
            <a:ext cx="2048256" cy="1005840"/>
          </a:xfrm>
          <a:prstGeom prst="rect">
            <a:avLst/>
          </a:prstGeom>
          <a:noFill/>
          <a:ln/>
        </p:spPr>
        <p:txBody>
          <a:bodyPr wrap="square" lIns="0" tIns="0" rIns="0" bIns="0" rtlCol="0" anchor="t"/>
          <a:lstStyle/>
          <a:p>
            <a:pPr marL="0" indent="0">
              <a:buNone/>
            </a:pPr>
            <a:r>
              <a:rPr lang="en-US" sz="1250" dirty="0">
                <a:solidFill>
                  <a:schemeClr val="tx2"/>
                </a:solidFill>
              </a:rPr>
              <a:t>bcrypt hashes; lockout after 5 failed attempts</a:t>
            </a:r>
            <a:endParaRPr lang="en-US" sz="1250" dirty="0"/>
          </a:p>
        </p:txBody>
      </p:sp>
      <p:sp>
        <p:nvSpPr>
          <p:cNvPr id="7" name="glass-161"/>
          <p:cNvSpPr/>
          <p:nvPr/>
        </p:nvSpPr>
        <p:spPr>
          <a:xfrm>
            <a:off x="338328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8" name="icon-key-sky-162" descr="C:\Users\hares\AppData\Local\Temp\claude\C--Users-hares-Downloads-distributed-proj\b8b70322-b8bd-48b7-a531-3815c955f6d1\scratchpad\deck\assets\icon-key-sky.png"/>
          <p:cNvPicPr>
            <a:picLocks noChangeAspect="1"/>
          </p:cNvPicPr>
          <p:nvPr/>
        </p:nvPicPr>
        <p:blipFill>
          <a:blip r:embed="rId4"/>
          <a:stretch>
            <a:fillRect/>
          </a:stretch>
        </p:blipFill>
        <p:spPr>
          <a:xfrm>
            <a:off x="3639312" y="1691640"/>
            <a:ext cx="566928" cy="566928"/>
          </a:xfrm>
          <a:prstGeom prst="rect">
            <a:avLst/>
          </a:prstGeom>
        </p:spPr>
      </p:pic>
      <p:sp>
        <p:nvSpPr>
          <p:cNvPr id="9" name="text-163"/>
          <p:cNvSpPr txBox="1"/>
          <p:nvPr/>
        </p:nvSpPr>
        <p:spPr>
          <a:xfrm>
            <a:off x="4343400" y="164592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Signed tokens</a:t>
            </a:r>
            <a:endParaRPr lang="en-US" sz="1600" dirty="0"/>
          </a:p>
        </p:txBody>
      </p:sp>
      <p:sp>
        <p:nvSpPr>
          <p:cNvPr id="10" name="text-164"/>
          <p:cNvSpPr txBox="1"/>
          <p:nvPr/>
        </p:nvSpPr>
        <p:spPr>
          <a:xfrm>
            <a:off x="3639312" y="2514600"/>
            <a:ext cx="2048256" cy="1005840"/>
          </a:xfrm>
          <a:prstGeom prst="rect">
            <a:avLst/>
          </a:prstGeom>
          <a:noFill/>
          <a:ln/>
        </p:spPr>
        <p:txBody>
          <a:bodyPr wrap="square" lIns="0" tIns="0" rIns="0" bIns="0" rtlCol="0" anchor="t"/>
          <a:lstStyle/>
          <a:p>
            <a:pPr marL="0" indent="0">
              <a:buNone/>
            </a:pPr>
            <a:r>
              <a:rPr lang="en-US" sz="1250" dirty="0">
                <a:solidFill>
                  <a:schemeClr val="tx2"/>
                </a:solidFill>
              </a:rPr>
              <a:t>RS256 JWTs verified locally by every service</a:t>
            </a:r>
            <a:endParaRPr lang="en-US" sz="1250" dirty="0"/>
          </a:p>
        </p:txBody>
      </p:sp>
      <p:sp>
        <p:nvSpPr>
          <p:cNvPr id="11" name="glass-165"/>
          <p:cNvSpPr/>
          <p:nvPr/>
        </p:nvSpPr>
        <p:spPr>
          <a:xfrm>
            <a:off x="621792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2" name="icon-users-indigo-166" descr="C:\Users\hares\AppData\Local\Temp\claude\C--Users-hares-Downloads-distributed-proj\b8b70322-b8bd-48b7-a531-3815c955f6d1\scratchpad\deck\assets\icon-users-indigo.png"/>
          <p:cNvPicPr>
            <a:picLocks noChangeAspect="1"/>
          </p:cNvPicPr>
          <p:nvPr/>
        </p:nvPicPr>
        <p:blipFill>
          <a:blip r:embed="rId5"/>
          <a:stretch>
            <a:fillRect/>
          </a:stretch>
        </p:blipFill>
        <p:spPr>
          <a:xfrm>
            <a:off x="6473952" y="1691640"/>
            <a:ext cx="566928" cy="566928"/>
          </a:xfrm>
          <a:prstGeom prst="rect">
            <a:avLst/>
          </a:prstGeom>
        </p:spPr>
      </p:pic>
      <p:sp>
        <p:nvSpPr>
          <p:cNvPr id="13" name="text-167"/>
          <p:cNvSpPr txBox="1"/>
          <p:nvPr/>
        </p:nvSpPr>
        <p:spPr>
          <a:xfrm>
            <a:off x="7178040" y="164592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RBAC + ABAC</a:t>
            </a:r>
            <a:endParaRPr lang="en-US" sz="1600" dirty="0"/>
          </a:p>
        </p:txBody>
      </p:sp>
      <p:sp>
        <p:nvSpPr>
          <p:cNvPr id="14" name="text-168"/>
          <p:cNvSpPr txBox="1"/>
          <p:nvPr/>
        </p:nvSpPr>
        <p:spPr>
          <a:xfrm>
            <a:off x="6473952" y="2514600"/>
            <a:ext cx="2048256" cy="1005840"/>
          </a:xfrm>
          <a:prstGeom prst="rect">
            <a:avLst/>
          </a:prstGeom>
          <a:noFill/>
          <a:ln/>
        </p:spPr>
        <p:txBody>
          <a:bodyPr wrap="square" lIns="0" tIns="0" rIns="0" bIns="0" rtlCol="0" anchor="t"/>
          <a:lstStyle/>
          <a:p>
            <a:pPr marL="0" indent="0">
              <a:buNone/>
            </a:pPr>
            <a:r>
              <a:rPr lang="en-US" sz="1250" dirty="0">
                <a:solidFill>
                  <a:schemeClr val="tx2"/>
                </a:solidFill>
              </a:rPr>
              <a:t>Role plus patient consent, in a 28-rule decision table</a:t>
            </a:r>
            <a:endParaRPr lang="en-US" sz="1250" dirty="0"/>
          </a:p>
        </p:txBody>
      </p:sp>
      <p:sp>
        <p:nvSpPr>
          <p:cNvPr id="15" name="glass-169"/>
          <p:cNvSpPr/>
          <p:nvPr/>
        </p:nvSpPr>
        <p:spPr>
          <a:xfrm>
            <a:off x="905256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6" name="icon-userx-violet-170" descr="C:\Users\hares\AppData\Local\Temp\claude\C--Users-hares-Downloads-distributed-proj\b8b70322-b8bd-48b7-a531-3815c955f6d1\scratchpad\deck\assets\icon-userx-violet.png"/>
          <p:cNvPicPr>
            <a:picLocks noChangeAspect="1"/>
          </p:cNvPicPr>
          <p:nvPr/>
        </p:nvPicPr>
        <p:blipFill>
          <a:blip r:embed="rId6"/>
          <a:stretch>
            <a:fillRect/>
          </a:stretch>
        </p:blipFill>
        <p:spPr>
          <a:xfrm>
            <a:off x="9308592" y="1691640"/>
            <a:ext cx="566928" cy="566928"/>
          </a:xfrm>
          <a:prstGeom prst="rect">
            <a:avLst/>
          </a:prstGeom>
        </p:spPr>
      </p:pic>
      <p:sp>
        <p:nvSpPr>
          <p:cNvPr id="17" name="text-171"/>
          <p:cNvSpPr txBox="1"/>
          <p:nvPr/>
        </p:nvSpPr>
        <p:spPr>
          <a:xfrm>
            <a:off x="10012680" y="164592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Least privilege</a:t>
            </a:r>
            <a:endParaRPr lang="en-US" sz="1600" dirty="0"/>
          </a:p>
        </p:txBody>
      </p:sp>
      <p:sp>
        <p:nvSpPr>
          <p:cNvPr id="18" name="text-172"/>
          <p:cNvSpPr txBox="1"/>
          <p:nvPr/>
        </p:nvSpPr>
        <p:spPr>
          <a:xfrm>
            <a:off x="9308592" y="2514600"/>
            <a:ext cx="2048256" cy="1005840"/>
          </a:xfrm>
          <a:prstGeom prst="rect">
            <a:avLst/>
          </a:prstGeom>
          <a:noFill/>
          <a:ln/>
        </p:spPr>
        <p:txBody>
          <a:bodyPr wrap="square" lIns="0" tIns="0" rIns="0" bIns="0" rtlCol="0" anchor="t"/>
          <a:lstStyle/>
          <a:p>
            <a:pPr marL="0" indent="0">
              <a:buNone/>
            </a:pPr>
            <a:r>
              <a:rPr lang="en-US" sz="1250" dirty="0">
                <a:solidFill>
                  <a:schemeClr val="tx2"/>
                </a:solidFill>
              </a:rPr>
              <a:t>Admins run the cluster but can't read patient data</a:t>
            </a:r>
            <a:endParaRPr lang="en-US" sz="1250" dirty="0"/>
          </a:p>
        </p:txBody>
      </p:sp>
      <p:sp>
        <p:nvSpPr>
          <p:cNvPr id="19" name="glass-173"/>
          <p:cNvSpPr/>
          <p:nvPr/>
        </p:nvSpPr>
        <p:spPr>
          <a:xfrm>
            <a:off x="54864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20" name="icon-siren-rose-174" descr="C:\Users\hares\AppData\Local\Temp\claude\C--Users-hares-Downloads-distributed-proj\b8b70322-b8bd-48b7-a531-3815c955f6d1\scratchpad\deck\assets\icon-siren-rose.png"/>
          <p:cNvPicPr>
            <a:picLocks noChangeAspect="1"/>
          </p:cNvPicPr>
          <p:nvPr/>
        </p:nvPicPr>
        <p:blipFill>
          <a:blip r:embed="rId7"/>
          <a:stretch>
            <a:fillRect/>
          </a:stretch>
        </p:blipFill>
        <p:spPr>
          <a:xfrm>
            <a:off x="804672" y="4206240"/>
            <a:ext cx="566928" cy="566928"/>
          </a:xfrm>
          <a:prstGeom prst="rect">
            <a:avLst/>
          </a:prstGeom>
        </p:spPr>
      </p:pic>
      <p:sp>
        <p:nvSpPr>
          <p:cNvPr id="21" name="text-175"/>
          <p:cNvSpPr txBox="1"/>
          <p:nvPr/>
        </p:nvSpPr>
        <p:spPr>
          <a:xfrm>
            <a:off x="1508760" y="416052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Break-glass</a:t>
            </a:r>
            <a:endParaRPr lang="en-US" sz="1600" dirty="0"/>
          </a:p>
        </p:txBody>
      </p:sp>
      <p:sp>
        <p:nvSpPr>
          <p:cNvPr id="22" name="text-176"/>
          <p:cNvSpPr txBox="1"/>
          <p:nvPr/>
        </p:nvSpPr>
        <p:spPr>
          <a:xfrm>
            <a:off x="804672" y="5029200"/>
            <a:ext cx="2048256" cy="1005840"/>
          </a:xfrm>
          <a:prstGeom prst="rect">
            <a:avLst/>
          </a:prstGeom>
          <a:noFill/>
          <a:ln/>
        </p:spPr>
        <p:txBody>
          <a:bodyPr wrap="square" lIns="0" tIns="0" rIns="0" bIns="0" rtlCol="0" anchor="t"/>
          <a:lstStyle/>
          <a:p>
            <a:pPr marL="0" indent="0">
              <a:buNone/>
            </a:pPr>
            <a:r>
              <a:rPr lang="en-US" sz="1250" dirty="0">
                <a:solidFill>
                  <a:schemeClr val="tx2"/>
                </a:solidFill>
              </a:rPr>
              <a:t>Emergency access: reason required, 30 min, patient alerted live</a:t>
            </a:r>
            <a:endParaRPr lang="en-US" sz="1250" dirty="0"/>
          </a:p>
        </p:txBody>
      </p:sp>
      <p:sp>
        <p:nvSpPr>
          <p:cNvPr id="23" name="glass-177"/>
          <p:cNvSpPr/>
          <p:nvPr/>
        </p:nvSpPr>
        <p:spPr>
          <a:xfrm>
            <a:off x="338328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24" name="icon-lock-green-178" descr="C:\Users\hares\AppData\Local\Temp\claude\C--Users-hares-Downloads-distributed-proj\b8b70322-b8bd-48b7-a531-3815c955f6d1\scratchpad\deck\assets\icon-lock-green.png"/>
          <p:cNvPicPr>
            <a:picLocks noChangeAspect="1"/>
          </p:cNvPicPr>
          <p:nvPr/>
        </p:nvPicPr>
        <p:blipFill>
          <a:blip r:embed="rId8"/>
          <a:stretch>
            <a:fillRect/>
          </a:stretch>
        </p:blipFill>
        <p:spPr>
          <a:xfrm>
            <a:off x="3639312" y="4206240"/>
            <a:ext cx="566928" cy="566928"/>
          </a:xfrm>
          <a:prstGeom prst="rect">
            <a:avLst/>
          </a:prstGeom>
        </p:spPr>
      </p:pic>
      <p:sp>
        <p:nvSpPr>
          <p:cNvPr id="25" name="text-179"/>
          <p:cNvSpPr txBox="1"/>
          <p:nvPr/>
        </p:nvSpPr>
        <p:spPr>
          <a:xfrm>
            <a:off x="4343400" y="416052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AES-256-GCM</a:t>
            </a:r>
            <a:endParaRPr lang="en-US" sz="1600" dirty="0"/>
          </a:p>
        </p:txBody>
      </p:sp>
      <p:sp>
        <p:nvSpPr>
          <p:cNvPr id="26" name="text-180"/>
          <p:cNvSpPr txBox="1"/>
          <p:nvPr/>
        </p:nvSpPr>
        <p:spPr>
          <a:xfrm>
            <a:off x="3639312" y="5029200"/>
            <a:ext cx="2048256" cy="1005840"/>
          </a:xfrm>
          <a:prstGeom prst="rect">
            <a:avLst/>
          </a:prstGeom>
          <a:noFill/>
          <a:ln/>
        </p:spPr>
        <p:txBody>
          <a:bodyPr wrap="square" lIns="0" tIns="0" rIns="0" bIns="0" rtlCol="0" anchor="t"/>
          <a:lstStyle/>
          <a:p>
            <a:pPr marL="0" indent="0">
              <a:buNone/>
            </a:pPr>
            <a:r>
              <a:rPr lang="en-US" sz="1250" dirty="0">
                <a:solidFill>
                  <a:schemeClr val="tx2"/>
                </a:solidFill>
              </a:rPr>
              <a:t>Phone, ABHA ID and notes encrypted before replication</a:t>
            </a:r>
            <a:endParaRPr lang="en-US" sz="1250" dirty="0"/>
          </a:p>
        </p:txBody>
      </p:sp>
      <p:sp>
        <p:nvSpPr>
          <p:cNvPr id="27" name="glass-181"/>
          <p:cNvSpPr/>
          <p:nvPr/>
        </p:nvSpPr>
        <p:spPr>
          <a:xfrm>
            <a:off x="621792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28" name="icon-link-amber-182" descr="C:\Users\hares\AppData\Local\Temp\claude\C--Users-hares-Downloads-distributed-proj\b8b70322-b8bd-48b7-a531-3815c955f6d1\scratchpad\deck\assets\icon-link-amber.png"/>
          <p:cNvPicPr>
            <a:picLocks noChangeAspect="1"/>
          </p:cNvPicPr>
          <p:nvPr/>
        </p:nvPicPr>
        <p:blipFill>
          <a:blip r:embed="rId9"/>
          <a:stretch>
            <a:fillRect/>
          </a:stretch>
        </p:blipFill>
        <p:spPr>
          <a:xfrm>
            <a:off x="6473952" y="4206240"/>
            <a:ext cx="566928" cy="566928"/>
          </a:xfrm>
          <a:prstGeom prst="rect">
            <a:avLst/>
          </a:prstGeom>
        </p:spPr>
      </p:pic>
      <p:sp>
        <p:nvSpPr>
          <p:cNvPr id="29" name="text-183"/>
          <p:cNvSpPr txBox="1"/>
          <p:nvPr/>
        </p:nvSpPr>
        <p:spPr>
          <a:xfrm>
            <a:off x="7178040" y="416052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Hash-chained audit</a:t>
            </a:r>
            <a:endParaRPr lang="en-US" sz="1600" dirty="0"/>
          </a:p>
        </p:txBody>
      </p:sp>
      <p:sp>
        <p:nvSpPr>
          <p:cNvPr id="30" name="text-184"/>
          <p:cNvSpPr txBox="1"/>
          <p:nvPr/>
        </p:nvSpPr>
        <p:spPr>
          <a:xfrm>
            <a:off x="6473952" y="5029200"/>
            <a:ext cx="2048256" cy="1005840"/>
          </a:xfrm>
          <a:prstGeom prst="rect">
            <a:avLst/>
          </a:prstGeom>
          <a:noFill/>
          <a:ln/>
        </p:spPr>
        <p:txBody>
          <a:bodyPr wrap="square" lIns="0" tIns="0" rIns="0" bIns="0" rtlCol="0" anchor="t"/>
          <a:lstStyle/>
          <a:p>
            <a:pPr marL="0" indent="0">
              <a:buNone/>
            </a:pPr>
            <a:r>
              <a:rPr lang="en-US" sz="1250" dirty="0">
                <a:solidFill>
                  <a:schemeClr val="tx2"/>
                </a:solidFill>
              </a:rPr>
              <a:t>A SHA-256 chain exposes any edited or deleted entry</a:t>
            </a:r>
            <a:endParaRPr lang="en-US" sz="1250" dirty="0"/>
          </a:p>
        </p:txBody>
      </p:sp>
      <p:sp>
        <p:nvSpPr>
          <p:cNvPr id="31" name="glass-185"/>
          <p:cNvSpPr/>
          <p:nvPr/>
        </p:nvSpPr>
        <p:spPr>
          <a:xfrm>
            <a:off x="905256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32" name="icon-network-pink-186" descr="C:\Users\hares\AppData\Local\Temp\claude\C--Users-hares-Downloads-distributed-proj\b8b70322-b8bd-48b7-a531-3815c955f6d1\scratchpad\deck\assets\icon-network-pink.png"/>
          <p:cNvPicPr>
            <a:picLocks noChangeAspect="1"/>
          </p:cNvPicPr>
          <p:nvPr/>
        </p:nvPicPr>
        <p:blipFill>
          <a:blip r:embed="rId10"/>
          <a:stretch>
            <a:fillRect/>
          </a:stretch>
        </p:blipFill>
        <p:spPr>
          <a:xfrm>
            <a:off x="9308592" y="4206240"/>
            <a:ext cx="566928" cy="566928"/>
          </a:xfrm>
          <a:prstGeom prst="rect">
            <a:avLst/>
          </a:prstGeom>
        </p:spPr>
      </p:pic>
      <p:sp>
        <p:nvSpPr>
          <p:cNvPr id="33" name="text-187"/>
          <p:cNvSpPr txBox="1"/>
          <p:nvPr/>
        </p:nvSpPr>
        <p:spPr>
          <a:xfrm>
            <a:off x="10012680" y="4160520"/>
            <a:ext cx="1371600" cy="658368"/>
          </a:xfrm>
          <a:prstGeom prst="rect">
            <a:avLst/>
          </a:prstGeom>
          <a:noFill/>
          <a:ln/>
        </p:spPr>
        <p:txBody>
          <a:bodyPr wrap="square" lIns="0" tIns="0" rIns="0" bIns="0" rtlCol="0" anchor="ctr"/>
          <a:lstStyle/>
          <a:p>
            <a:pPr marL="0" indent="0">
              <a:buNone/>
            </a:pPr>
            <a:r>
              <a:rPr lang="en-US" sz="1600" b="1" dirty="0">
                <a:solidFill>
                  <a:schemeClr val="tx1"/>
                </a:solidFill>
              </a:rPr>
              <a:t>Zero trust</a:t>
            </a:r>
            <a:endParaRPr lang="en-US" sz="1600" dirty="0"/>
          </a:p>
        </p:txBody>
      </p:sp>
      <p:sp>
        <p:nvSpPr>
          <p:cNvPr id="34" name="text-188"/>
          <p:cNvSpPr txBox="1"/>
          <p:nvPr/>
        </p:nvSpPr>
        <p:spPr>
          <a:xfrm>
            <a:off x="9308592" y="5029200"/>
            <a:ext cx="2048256" cy="1005840"/>
          </a:xfrm>
          <a:prstGeom prst="rect">
            <a:avLst/>
          </a:prstGeom>
          <a:noFill/>
          <a:ln/>
        </p:spPr>
        <p:txBody>
          <a:bodyPr wrap="square" lIns="0" tIns="0" rIns="0" bIns="0" rtlCol="0" anchor="t"/>
          <a:lstStyle/>
          <a:p>
            <a:pPr marL="0" indent="0">
              <a:buNone/>
            </a:pPr>
            <a:r>
              <a:rPr lang="en-US" sz="1250" dirty="0">
                <a:solidFill>
                  <a:schemeClr val="tx2"/>
                </a:solidFill>
              </a:rPr>
              <a:t>Service tokens between services; rate limits; CSP</a:t>
            </a:r>
            <a:endParaRPr lang="en-US" sz="1250" dirty="0"/>
          </a:p>
        </p:txBody>
      </p:sp>
      <p:sp>
        <p:nvSpPr>
          <p:cNvPr id="3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No external infrastructure: one command starts 11 processes</a:t>
            </a:r>
            <a:endParaRPr lang="en-US" sz="3000" dirty="0"/>
          </a:p>
        </p:txBody>
      </p:sp>
      <p:sp>
        <p:nvSpPr>
          <p:cNvPr id="3" name="mapping-189"/>
          <p:cNvSpPr/>
          <p:nvPr/>
        </p:nvSpPr>
        <p:spPr>
          <a:xfrm>
            <a:off x="548640" y="1417320"/>
            <a:ext cx="768096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1645920"/>
          <a:ext cx="7223760" cy="4096512"/>
        </p:xfrm>
        <a:graphic>
          <a:graphicData uri="http://schemas.openxmlformats.org/drawingml/2006/table">
            <a:tbl>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512064">
                <a:tc>
                  <a:txBody>
                    <a:bodyPr/>
                    <a:lstStyle/>
                    <a:p>
                      <a:pPr marL="0" indent="0">
                        <a:buNone/>
                      </a:pPr>
                      <a:r>
                        <a:rPr lang="en-US" sz="1200" b="1" dirty="0">
                          <a:solidFill>
                            <a:schemeClr val="tx2"/>
                          </a:solidFill>
                        </a:rPr>
                        <a:t>Proposal</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Implemented as</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Same core idea</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0"/>
                  </a:ext>
                </a:extLst>
              </a:tr>
              <a:tr h="512064">
                <a:tc>
                  <a:txBody>
                    <a:bodyPr/>
                    <a:lstStyle/>
                    <a:p>
                      <a:pPr marL="0" indent="0">
                        <a:buNone/>
                      </a:pPr>
                      <a:r>
                        <a:rPr lang="en-US" sz="1300" dirty="0">
                          <a:solidFill>
                            <a:schemeClr val="tx2"/>
                          </a:solidFill>
                        </a:rPr>
                        <a:t>Apache Kafka</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tx1"/>
                          </a:solidFill>
                        </a:rPr>
                        <a:t>Event bus service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Topics, offsets, consumer groups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300" dirty="0">
                          <a:solidFill>
                            <a:schemeClr val="tx2"/>
                          </a:solidFill>
                        </a:rPr>
                        <a:t>Redis cache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tx1"/>
                          </a:solidFill>
                        </a:rPr>
                        <a:t>Gateway LRU cache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Cache-aside, TTL, invalidation</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300" dirty="0">
                          <a:solidFill>
                            <a:schemeClr val="tx2"/>
                          </a:solidFill>
                        </a:rPr>
                        <a:t>Sharded PostgreSQL</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tx1"/>
                          </a:solidFill>
                        </a:rPr>
                        <a:t>Raft key-value shards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Hash sharding, majority replication</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300" dirty="0">
                          <a:solidFill>
                            <a:schemeClr val="tx2"/>
                          </a:solidFill>
                        </a:rPr>
                        <a:t>etcd / ZooKeeper</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tx1"/>
                          </a:solidFill>
                        </a:rPr>
                        <a:t>Own Raft implementation</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The algorithm etcd itself uses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300" dirty="0">
                          <a:solidFill>
                            <a:schemeClr val="tx2"/>
                          </a:solidFill>
                        </a:rPr>
                        <a:t>Keycloak (OIDC)</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tx1"/>
                          </a:solidFill>
                        </a:rPr>
                        <a:t>Auth service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RS256 tokens checked everywhere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300" dirty="0">
                          <a:solidFill>
                            <a:schemeClr val="tx2"/>
                          </a:solidFill>
                        </a:rPr>
                        <a:t>Kubernetes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tx1"/>
                          </a:solidFill>
                        </a:rPr>
                        <a:t>Supervisor process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Lifecycle, health, kill and restart</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6"/>
                  </a:ext>
                </a:extLst>
              </a:tr>
              <a:tr h="512064">
                <a:tc>
                  <a:txBody>
                    <a:bodyPr/>
                    <a:lstStyle/>
                    <a:p>
                      <a:pPr marL="0" indent="0">
                        <a:buNone/>
                      </a:pPr>
                      <a:r>
                        <a:rPr lang="en-US" sz="1300" dirty="0">
                          <a:solidFill>
                            <a:schemeClr val="tx2"/>
                          </a:solidFill>
                        </a:rPr>
                        <a:t>Prometheus + Grafana</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b="1" dirty="0">
                          <a:solidFill>
                            <a:schemeClr val="tx1"/>
                          </a:solidFill>
                        </a:rPr>
                        <a:t>/metrics + Ops console</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300" dirty="0">
                          <a:solidFill>
                            <a:schemeClr val="tx1"/>
                          </a:solidFill>
                        </a:rPr>
                        <a:t>Prometheus format, live dashboard</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glass-190"/>
          <p:cNvSpPr/>
          <p:nvPr/>
        </p:nvSpPr>
        <p:spPr>
          <a:xfrm>
            <a:off x="8503920" y="1417320"/>
            <a:ext cx="3108960" cy="1417320"/>
          </a:xfrm>
          <a:prstGeom prst="roundRect">
            <a:avLst>
              <a:gd name="adj" fmla="val 14194"/>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6" name="text-191"/>
          <p:cNvSpPr txBox="1"/>
          <p:nvPr/>
        </p:nvSpPr>
        <p:spPr>
          <a:xfrm>
            <a:off x="8778240" y="1586484"/>
            <a:ext cx="2560320" cy="621792"/>
          </a:xfrm>
          <a:prstGeom prst="rect">
            <a:avLst/>
          </a:prstGeom>
          <a:noFill/>
          <a:ln/>
        </p:spPr>
        <p:txBody>
          <a:bodyPr wrap="square" lIns="0" tIns="0" rIns="0" bIns="0" rtlCol="0" anchor="ctr"/>
          <a:lstStyle/>
          <a:p>
            <a:pPr marL="0" indent="0">
              <a:buNone/>
            </a:pPr>
            <a:r>
              <a:rPr lang="en-US" sz="3400" b="1" dirty="0">
                <a:solidFill>
                  <a:schemeClr val="accent1"/>
                </a:solidFill>
              </a:rPr>
              <a:t>8,100</a:t>
            </a:r>
            <a:endParaRPr lang="en-US" sz="3400" dirty="0"/>
          </a:p>
        </p:txBody>
      </p:sp>
      <p:sp>
        <p:nvSpPr>
          <p:cNvPr id="7" name="text-192"/>
          <p:cNvSpPr txBox="1"/>
          <p:nvPr/>
        </p:nvSpPr>
        <p:spPr>
          <a:xfrm>
            <a:off x="8778240" y="2226564"/>
            <a:ext cx="2560320" cy="457200"/>
          </a:xfrm>
          <a:prstGeom prst="rect">
            <a:avLst/>
          </a:prstGeom>
          <a:noFill/>
          <a:ln/>
        </p:spPr>
        <p:txBody>
          <a:bodyPr wrap="square" lIns="0" tIns="0" rIns="0" bIns="0" rtlCol="0" anchor="t"/>
          <a:lstStyle/>
          <a:p>
            <a:pPr marL="0" indent="0">
              <a:buNone/>
            </a:pPr>
            <a:r>
              <a:rPr lang="en-US" sz="1250" dirty="0">
                <a:solidFill>
                  <a:schemeClr val="tx2"/>
                </a:solidFill>
              </a:rPr>
              <a:t>lines of JavaScript (Node.js 22)</a:t>
            </a:r>
            <a:endParaRPr lang="en-US" sz="1250" dirty="0"/>
          </a:p>
        </p:txBody>
      </p:sp>
      <p:sp>
        <p:nvSpPr>
          <p:cNvPr id="8" name="glass-193"/>
          <p:cNvSpPr/>
          <p:nvPr/>
        </p:nvSpPr>
        <p:spPr>
          <a:xfrm>
            <a:off x="8503920" y="3090672"/>
            <a:ext cx="3108960" cy="1417320"/>
          </a:xfrm>
          <a:prstGeom prst="roundRect">
            <a:avLst>
              <a:gd name="adj" fmla="val 14194"/>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9" name="text-194"/>
          <p:cNvSpPr txBox="1"/>
          <p:nvPr/>
        </p:nvSpPr>
        <p:spPr>
          <a:xfrm>
            <a:off x="8778240" y="3259836"/>
            <a:ext cx="2560320" cy="621792"/>
          </a:xfrm>
          <a:prstGeom prst="rect">
            <a:avLst/>
          </a:prstGeom>
          <a:noFill/>
          <a:ln/>
        </p:spPr>
        <p:txBody>
          <a:bodyPr wrap="square" lIns="0" tIns="0" rIns="0" bIns="0" rtlCol="0" anchor="ctr"/>
          <a:lstStyle/>
          <a:p>
            <a:pPr marL="0" indent="0">
              <a:buNone/>
            </a:pPr>
            <a:r>
              <a:rPr lang="en-US" sz="3400" b="1" dirty="0">
                <a:solidFill>
                  <a:schemeClr val="accent1"/>
                </a:solidFill>
              </a:rPr>
              <a:t>11</a:t>
            </a:r>
            <a:endParaRPr lang="en-US" sz="3400" dirty="0"/>
          </a:p>
        </p:txBody>
      </p:sp>
      <p:sp>
        <p:nvSpPr>
          <p:cNvPr id="4" name="text-195"/>
          <p:cNvSpPr txBox="1"/>
          <p:nvPr/>
        </p:nvSpPr>
        <p:spPr>
          <a:xfrm>
            <a:off x="8778240" y="3899916"/>
            <a:ext cx="2560320" cy="457200"/>
          </a:xfrm>
          <a:prstGeom prst="rect">
            <a:avLst/>
          </a:prstGeom>
          <a:noFill/>
          <a:ln/>
        </p:spPr>
        <p:txBody>
          <a:bodyPr wrap="square" lIns="0" tIns="0" rIns="0" bIns="0" rtlCol="0" anchor="t"/>
          <a:lstStyle/>
          <a:p>
            <a:pPr marL="0" indent="0">
              <a:buNone/>
            </a:pPr>
            <a:r>
              <a:rPr lang="en-US" sz="1250" dirty="0">
                <a:solidFill>
                  <a:schemeClr val="tx2"/>
                </a:solidFill>
              </a:rPr>
              <a:t>OS processes started by npm start</a:t>
            </a:r>
            <a:endParaRPr lang="en-US" sz="1250" dirty="0"/>
          </a:p>
        </p:txBody>
      </p:sp>
      <p:sp>
        <p:nvSpPr>
          <p:cNvPr id="11" name="glass-196"/>
          <p:cNvSpPr/>
          <p:nvPr/>
        </p:nvSpPr>
        <p:spPr>
          <a:xfrm>
            <a:off x="8503920" y="4754880"/>
            <a:ext cx="3108960" cy="1417320"/>
          </a:xfrm>
          <a:prstGeom prst="roundRect">
            <a:avLst>
              <a:gd name="adj" fmla="val 14194"/>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2" name="text-197"/>
          <p:cNvSpPr txBox="1"/>
          <p:nvPr/>
        </p:nvSpPr>
        <p:spPr>
          <a:xfrm>
            <a:off x="8778240" y="4924044"/>
            <a:ext cx="2560320" cy="621792"/>
          </a:xfrm>
          <a:prstGeom prst="rect">
            <a:avLst/>
          </a:prstGeom>
          <a:noFill/>
          <a:ln/>
        </p:spPr>
        <p:txBody>
          <a:bodyPr wrap="square" lIns="0" tIns="0" rIns="0" bIns="0" rtlCol="0" anchor="ctr"/>
          <a:lstStyle/>
          <a:p>
            <a:pPr marL="0" indent="0">
              <a:buNone/>
            </a:pPr>
            <a:r>
              <a:rPr lang="en-US" sz="3400" b="1" dirty="0">
                <a:solidFill>
                  <a:schemeClr val="accent1"/>
                </a:solidFill>
              </a:rPr>
              <a:t>0</a:t>
            </a:r>
            <a:endParaRPr lang="en-US" sz="3400" dirty="0"/>
          </a:p>
        </p:txBody>
      </p:sp>
      <p:sp>
        <p:nvSpPr>
          <p:cNvPr id="13" name="text-198"/>
          <p:cNvSpPr txBox="1"/>
          <p:nvPr/>
        </p:nvSpPr>
        <p:spPr>
          <a:xfrm>
            <a:off x="8778240" y="5564124"/>
            <a:ext cx="2560320" cy="457200"/>
          </a:xfrm>
          <a:prstGeom prst="rect">
            <a:avLst/>
          </a:prstGeom>
          <a:noFill/>
          <a:ln/>
        </p:spPr>
        <p:txBody>
          <a:bodyPr wrap="square" lIns="0" tIns="0" rIns="0" bIns="0" rtlCol="0" anchor="t"/>
          <a:lstStyle/>
          <a:p>
            <a:pPr marL="0" indent="0">
              <a:buNone/>
            </a:pPr>
            <a:r>
              <a:rPr lang="en-US" sz="1250" dirty="0">
                <a:solidFill>
                  <a:schemeClr val="tx2"/>
                </a:solidFill>
              </a:rPr>
              <a:t>external services needed</a:t>
            </a:r>
            <a:endParaRPr lang="en-US" sz="125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Clinician portal: every read shows its path through the cluster</a:t>
            </a:r>
            <a:endParaRPr lang="en-US" sz="3000" dirty="0"/>
          </a:p>
        </p:txBody>
      </p:sp>
      <p:sp>
        <p:nvSpPr>
          <p:cNvPr id="3" name="frame-199"/>
          <p:cNvSpPr/>
          <p:nvPr/>
        </p:nvSpPr>
        <p:spPr>
          <a:xfrm>
            <a:off x="457200" y="1325880"/>
            <a:ext cx="8046720" cy="4892040"/>
          </a:xfrm>
          <a:prstGeom prst="roundRect">
            <a:avLst>
              <a:gd name="adj" fmla="val 411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4" name="screenshot-doctor-200" descr="Clinician portal showing Hemanth’s record and the request inspector"/>
          <p:cNvPicPr>
            <a:picLocks noChangeAspect="1"/>
          </p:cNvPicPr>
          <p:nvPr/>
        </p:nvPicPr>
        <p:blipFill>
          <a:blip r:embed="rId3"/>
          <a:stretch>
            <a:fillRect/>
          </a:stretch>
        </p:blipFill>
        <p:spPr>
          <a:xfrm>
            <a:off x="566928" y="1435608"/>
            <a:ext cx="7827264" cy="4672584"/>
          </a:xfrm>
          <a:prstGeom prst="rect">
            <a:avLst/>
          </a:prstGeom>
        </p:spPr>
      </p:pic>
      <p:sp>
        <p:nvSpPr>
          <p:cNvPr id="5" name="glass-201"/>
          <p:cNvSpPr/>
          <p:nvPr/>
        </p:nvSpPr>
        <p:spPr>
          <a:xfrm>
            <a:off x="8778240" y="1417320"/>
            <a:ext cx="2834640" cy="1417320"/>
          </a:xfrm>
          <a:prstGeom prst="roundRect">
            <a:avLst>
              <a:gd name="adj" fmla="val 14194"/>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6" name="icon-stethoscope-teal-202" descr="C:\Users\hares\AppData\Local\Temp\claude\C--Users-hares-Downloads-distributed-proj\b8b70322-b8bd-48b7-a531-3815c955f6d1\scratchpad\deck\assets\icon-stethoscope-teal.png"/>
          <p:cNvPicPr>
            <a:picLocks noChangeAspect="1"/>
          </p:cNvPicPr>
          <p:nvPr/>
        </p:nvPicPr>
        <p:blipFill>
          <a:blip r:embed="rId4"/>
          <a:stretch>
            <a:fillRect/>
          </a:stretch>
        </p:blipFill>
        <p:spPr>
          <a:xfrm>
            <a:off x="9006840" y="1618488"/>
            <a:ext cx="457200" cy="457200"/>
          </a:xfrm>
          <a:prstGeom prst="rect">
            <a:avLst/>
          </a:prstGeom>
        </p:spPr>
      </p:pic>
      <p:sp>
        <p:nvSpPr>
          <p:cNvPr id="7" name="text-203"/>
          <p:cNvSpPr txBox="1"/>
          <p:nvPr/>
        </p:nvSpPr>
        <p:spPr>
          <a:xfrm>
            <a:off x="9601200" y="1618488"/>
            <a:ext cx="1920240" cy="457200"/>
          </a:xfrm>
          <a:prstGeom prst="rect">
            <a:avLst/>
          </a:prstGeom>
          <a:noFill/>
          <a:ln/>
        </p:spPr>
        <p:txBody>
          <a:bodyPr wrap="square" lIns="0" tIns="0" rIns="0" bIns="0" rtlCol="0" anchor="ctr"/>
          <a:lstStyle/>
          <a:p>
            <a:pPr marL="0" indent="0">
              <a:buNone/>
            </a:pPr>
            <a:r>
              <a:rPr lang="en-US" sz="1400" b="1" dirty="0">
                <a:solidFill>
                  <a:schemeClr val="tx1"/>
                </a:solidFill>
              </a:rPr>
              <a:t>Both shards in parallel</a:t>
            </a:r>
            <a:endParaRPr lang="en-US" sz="1400" dirty="0"/>
          </a:p>
        </p:txBody>
      </p:sp>
      <p:sp>
        <p:nvSpPr>
          <p:cNvPr id="8" name="text-204"/>
          <p:cNvSpPr txBox="1"/>
          <p:nvPr/>
        </p:nvSpPr>
        <p:spPr>
          <a:xfrm>
            <a:off x="9006840" y="2148840"/>
            <a:ext cx="2423160" cy="640080"/>
          </a:xfrm>
          <a:prstGeom prst="rect">
            <a:avLst/>
          </a:prstGeom>
          <a:noFill/>
          <a:ln/>
        </p:spPr>
        <p:txBody>
          <a:bodyPr wrap="square" lIns="0" tIns="0" rIns="0" bIns="0" rtlCol="0" anchor="t"/>
          <a:lstStyle/>
          <a:p>
            <a:pPr marL="0" indent="0">
              <a:buNone/>
            </a:pPr>
            <a:r>
              <a:rPr lang="en-US" sz="1150" dirty="0">
                <a:solidFill>
                  <a:schemeClr val="tx2"/>
                </a:solidFill>
              </a:rPr>
              <a:t>The directory is a scatter-gather query across every shard.</a:t>
            </a:r>
            <a:endParaRPr lang="en-US" sz="1150" dirty="0"/>
          </a:p>
        </p:txBody>
      </p:sp>
      <p:sp>
        <p:nvSpPr>
          <p:cNvPr id="9" name="glass-205"/>
          <p:cNvSpPr/>
          <p:nvPr/>
        </p:nvSpPr>
        <p:spPr>
          <a:xfrm>
            <a:off x="8778240" y="3017520"/>
            <a:ext cx="2834640" cy="1417320"/>
          </a:xfrm>
          <a:prstGeom prst="roundRect">
            <a:avLst>
              <a:gd name="adj" fmla="val 14194"/>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0" name="icon-eye-sky-206" descr="C:\Users\hares\AppData\Local\Temp\claude\C--Users-hares-Downloads-distributed-proj\b8b70322-b8bd-48b7-a531-3815c955f6d1\scratchpad\deck\assets\icon-eye-sky.png"/>
          <p:cNvPicPr>
            <a:picLocks noChangeAspect="1"/>
          </p:cNvPicPr>
          <p:nvPr/>
        </p:nvPicPr>
        <p:blipFill>
          <a:blip r:embed="rId5"/>
          <a:stretch>
            <a:fillRect/>
          </a:stretch>
        </p:blipFill>
        <p:spPr>
          <a:xfrm>
            <a:off x="9006840" y="3218688"/>
            <a:ext cx="457200" cy="457200"/>
          </a:xfrm>
          <a:prstGeom prst="rect">
            <a:avLst/>
          </a:prstGeom>
        </p:spPr>
      </p:pic>
      <p:sp>
        <p:nvSpPr>
          <p:cNvPr id="11" name="text-207"/>
          <p:cNvSpPr txBox="1"/>
          <p:nvPr/>
        </p:nvSpPr>
        <p:spPr>
          <a:xfrm>
            <a:off x="9601200" y="3218688"/>
            <a:ext cx="1920240" cy="457200"/>
          </a:xfrm>
          <a:prstGeom prst="rect">
            <a:avLst/>
          </a:prstGeom>
          <a:noFill/>
          <a:ln/>
        </p:spPr>
        <p:txBody>
          <a:bodyPr wrap="square" lIns="0" tIns="0" rIns="0" bIns="0" rtlCol="0" anchor="ctr"/>
          <a:lstStyle/>
          <a:p>
            <a:pPr marL="0" indent="0">
              <a:buNone/>
            </a:pPr>
            <a:r>
              <a:rPr lang="en-US" sz="1400" b="1" dirty="0">
                <a:solidFill>
                  <a:schemeClr val="tx1"/>
                </a:solidFill>
              </a:rPr>
              <a:t>Request inspector</a:t>
            </a:r>
            <a:endParaRPr lang="en-US" sz="1400" dirty="0"/>
          </a:p>
        </p:txBody>
      </p:sp>
      <p:sp>
        <p:nvSpPr>
          <p:cNvPr id="12" name="text-208"/>
          <p:cNvSpPr txBox="1"/>
          <p:nvPr/>
        </p:nvSpPr>
        <p:spPr>
          <a:xfrm>
            <a:off x="9006840" y="3749040"/>
            <a:ext cx="2423160" cy="640080"/>
          </a:xfrm>
          <a:prstGeom prst="rect">
            <a:avLst/>
          </a:prstGeom>
          <a:noFill/>
          <a:ln/>
        </p:spPr>
        <p:txBody>
          <a:bodyPr wrap="square" lIns="0" tIns="0" rIns="0" bIns="0" rtlCol="0" anchor="t"/>
          <a:lstStyle/>
          <a:p>
            <a:pPr marL="0" indent="0">
              <a:buNone/>
            </a:pPr>
            <a:r>
              <a:rPr lang="en-US" sz="1150" dirty="0">
                <a:solidFill>
                  <a:schemeClr val="tx2"/>
                </a:solidFill>
              </a:rPr>
              <a:t>Shard, replica, cache and latency of every read.</a:t>
            </a:r>
            <a:endParaRPr lang="en-US" sz="1150" dirty="0"/>
          </a:p>
        </p:txBody>
      </p:sp>
      <p:sp>
        <p:nvSpPr>
          <p:cNvPr id="13" name="glass-209"/>
          <p:cNvSpPr/>
          <p:nvPr/>
        </p:nvSpPr>
        <p:spPr>
          <a:xfrm>
            <a:off x="8778240" y="4617720"/>
            <a:ext cx="2834640" cy="1417320"/>
          </a:xfrm>
          <a:prstGeom prst="roundRect">
            <a:avLst>
              <a:gd name="adj" fmla="val 14194"/>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4" name="icon-heart-rose-210" descr="C:\Users\hares\AppData\Local\Temp\claude\C--Users-hares-Downloads-distributed-proj\b8b70322-b8bd-48b7-a531-3815c955f6d1\scratchpad\deck\assets\icon-heart-rose.png"/>
          <p:cNvPicPr>
            <a:picLocks noChangeAspect="1"/>
          </p:cNvPicPr>
          <p:nvPr/>
        </p:nvPicPr>
        <p:blipFill>
          <a:blip r:embed="rId6"/>
          <a:stretch>
            <a:fillRect/>
          </a:stretch>
        </p:blipFill>
        <p:spPr>
          <a:xfrm>
            <a:off x="9006840" y="4818888"/>
            <a:ext cx="457200" cy="457200"/>
          </a:xfrm>
          <a:prstGeom prst="rect">
            <a:avLst/>
          </a:prstGeom>
        </p:spPr>
      </p:pic>
      <p:sp>
        <p:nvSpPr>
          <p:cNvPr id="15" name="text-211"/>
          <p:cNvSpPr txBox="1"/>
          <p:nvPr/>
        </p:nvSpPr>
        <p:spPr>
          <a:xfrm>
            <a:off x="9601200" y="4818888"/>
            <a:ext cx="1920240" cy="457200"/>
          </a:xfrm>
          <a:prstGeom prst="rect">
            <a:avLst/>
          </a:prstGeom>
          <a:noFill/>
          <a:ln/>
        </p:spPr>
        <p:txBody>
          <a:bodyPr wrap="square" lIns="0" tIns="0" rIns="0" bIns="0" rtlCol="0" anchor="ctr"/>
          <a:lstStyle/>
          <a:p>
            <a:pPr marL="0" indent="0">
              <a:buNone/>
            </a:pPr>
            <a:r>
              <a:rPr lang="en-US" sz="1400" b="1" dirty="0">
                <a:solidFill>
                  <a:schemeClr val="tx1"/>
                </a:solidFill>
              </a:rPr>
              <a:t>Full clinical record</a:t>
            </a:r>
            <a:endParaRPr lang="en-US" sz="1400" dirty="0"/>
          </a:p>
        </p:txBody>
      </p:sp>
      <p:sp>
        <p:nvSpPr>
          <p:cNvPr id="16" name="text-212"/>
          <p:cNvSpPr txBox="1"/>
          <p:nvPr/>
        </p:nvSpPr>
        <p:spPr>
          <a:xfrm>
            <a:off x="9006840" y="5349240"/>
            <a:ext cx="2423160" cy="640080"/>
          </a:xfrm>
          <a:prstGeom prst="rect">
            <a:avLst/>
          </a:prstGeom>
          <a:noFill/>
          <a:ln/>
        </p:spPr>
        <p:txBody>
          <a:bodyPr wrap="square" lIns="0" tIns="0" rIns="0" bIns="0" rtlCol="0" anchor="t"/>
          <a:lstStyle/>
          <a:p>
            <a:pPr marL="0" indent="0">
              <a:buNone/>
            </a:pPr>
            <a:r>
              <a:rPr lang="en-US" sz="1150" dirty="0">
                <a:solidFill>
                  <a:schemeClr val="tx2"/>
                </a:solidFill>
              </a:rPr>
              <a:t>Notes, labs, prescriptions and vitals; free text is encrypted at rest.</a:t>
            </a:r>
            <a:endParaRPr lang="en-US" sz="115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Break-glass: emergency access the patient sees in real time</a:t>
            </a:r>
            <a:endParaRPr lang="en-US" sz="3000" dirty="0"/>
          </a:p>
        </p:txBody>
      </p:sp>
      <p:sp>
        <p:nvSpPr>
          <p:cNvPr id="3" name="glass-213"/>
          <p:cNvSpPr/>
          <p:nvPr/>
        </p:nvSpPr>
        <p:spPr>
          <a:xfrm>
            <a:off x="548640" y="1417320"/>
            <a:ext cx="3566160" cy="2331720"/>
          </a:xfrm>
          <a:prstGeom prst="roundRect">
            <a:avLst>
              <a:gd name="adj" fmla="val 8627"/>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4" name="screenshot-214" descr="Dr. Varun has no consent, so access is denied and audited"/>
          <p:cNvPicPr>
            <a:picLocks noChangeAspect="1"/>
          </p:cNvPicPr>
          <p:nvPr/>
        </p:nvPicPr>
        <p:blipFill>
          <a:blip r:embed="rId3"/>
          <a:stretch>
            <a:fillRect/>
          </a:stretch>
        </p:blipFill>
        <p:spPr>
          <a:xfrm>
            <a:off x="640080" y="1508760"/>
            <a:ext cx="3383280" cy="2020824"/>
          </a:xfrm>
          <a:prstGeom prst="rect">
            <a:avLst/>
          </a:prstGeom>
        </p:spPr>
      </p:pic>
      <p:sp>
        <p:nvSpPr>
          <p:cNvPr id="5" name="step-215"/>
          <p:cNvSpPr txBox="1"/>
          <p:nvPr/>
        </p:nvSpPr>
        <p:spPr>
          <a:xfrm>
            <a:off x="548640" y="3977640"/>
            <a:ext cx="438912" cy="438912"/>
          </a:xfrm>
          <a:prstGeom prst="ellipse">
            <a:avLst/>
          </a:prstGeom>
          <a:solidFill>
            <a:schemeClr val="accent6"/>
          </a:solidFill>
          <a:ln>
            <a:solidFill>
              <a:schemeClr val="accent6"/>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216"/>
          <p:cNvSpPr txBox="1"/>
          <p:nvPr/>
        </p:nvSpPr>
        <p:spPr>
          <a:xfrm>
            <a:off x="1143000" y="3950208"/>
            <a:ext cx="2926080" cy="685800"/>
          </a:xfrm>
          <a:prstGeom prst="rect">
            <a:avLst/>
          </a:prstGeom>
          <a:noFill/>
          <a:ln/>
        </p:spPr>
        <p:txBody>
          <a:bodyPr wrap="square" lIns="0" tIns="0" rIns="0" bIns="0" rtlCol="0" anchor="t"/>
          <a:lstStyle/>
          <a:p>
            <a:pPr marL="0" indent="0">
              <a:buNone/>
            </a:pPr>
            <a:r>
              <a:rPr lang="en-US" sz="1350" dirty="0">
                <a:solidFill>
                  <a:schemeClr val="tx1"/>
                </a:solidFill>
              </a:rPr>
              <a:t>Dr. Varun has no consent, so access is denied and audited</a:t>
            </a:r>
            <a:endParaRPr lang="en-US" sz="1350" dirty="0"/>
          </a:p>
        </p:txBody>
      </p:sp>
      <p:sp>
        <p:nvSpPr>
          <p:cNvPr id="7" name="glass-217"/>
          <p:cNvSpPr/>
          <p:nvPr/>
        </p:nvSpPr>
        <p:spPr>
          <a:xfrm>
            <a:off x="4297680" y="1417320"/>
            <a:ext cx="3566160" cy="2331720"/>
          </a:xfrm>
          <a:prstGeom prst="roundRect">
            <a:avLst>
              <a:gd name="adj" fmla="val 8627"/>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8" name="screenshot-218" descr="He gives a clinical reason and gets 30 minutes of access"/>
          <p:cNvPicPr>
            <a:picLocks noChangeAspect="1"/>
          </p:cNvPicPr>
          <p:nvPr/>
        </p:nvPicPr>
        <p:blipFill>
          <a:blip r:embed="rId4"/>
          <a:stretch>
            <a:fillRect/>
          </a:stretch>
        </p:blipFill>
        <p:spPr>
          <a:xfrm>
            <a:off x="4389120" y="1508760"/>
            <a:ext cx="3383280" cy="2020824"/>
          </a:xfrm>
          <a:prstGeom prst="rect">
            <a:avLst/>
          </a:prstGeom>
        </p:spPr>
      </p:pic>
      <p:sp>
        <p:nvSpPr>
          <p:cNvPr id="9" name="step-219"/>
          <p:cNvSpPr txBox="1"/>
          <p:nvPr/>
        </p:nvSpPr>
        <p:spPr>
          <a:xfrm>
            <a:off x="4297680" y="3977640"/>
            <a:ext cx="438912" cy="438912"/>
          </a:xfrm>
          <a:prstGeom prst="ellipse">
            <a:avLst/>
          </a:prstGeom>
          <a:solidFill>
            <a:schemeClr val="accent6"/>
          </a:solidFill>
          <a:ln>
            <a:solidFill>
              <a:schemeClr val="accent6"/>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220"/>
          <p:cNvSpPr txBox="1"/>
          <p:nvPr/>
        </p:nvSpPr>
        <p:spPr>
          <a:xfrm>
            <a:off x="4892040" y="3950208"/>
            <a:ext cx="2926080" cy="685800"/>
          </a:xfrm>
          <a:prstGeom prst="rect">
            <a:avLst/>
          </a:prstGeom>
          <a:noFill/>
          <a:ln/>
        </p:spPr>
        <p:txBody>
          <a:bodyPr wrap="square" lIns="0" tIns="0" rIns="0" bIns="0" rtlCol="0" anchor="t"/>
          <a:lstStyle/>
          <a:p>
            <a:pPr marL="0" indent="0">
              <a:buNone/>
            </a:pPr>
            <a:r>
              <a:rPr lang="en-US" sz="1350" dirty="0">
                <a:solidFill>
                  <a:schemeClr val="tx1"/>
                </a:solidFill>
              </a:rPr>
              <a:t>He gives a clinical reason and gets 30 minutes of access</a:t>
            </a:r>
            <a:endParaRPr lang="en-US" sz="1350" dirty="0"/>
          </a:p>
        </p:txBody>
      </p:sp>
      <p:sp>
        <p:nvSpPr>
          <p:cNvPr id="11" name="glass-221"/>
          <p:cNvSpPr/>
          <p:nvPr/>
        </p:nvSpPr>
        <p:spPr>
          <a:xfrm>
            <a:off x="8046720" y="1417320"/>
            <a:ext cx="3566160" cy="2331720"/>
          </a:xfrm>
          <a:prstGeom prst="roundRect">
            <a:avLst>
              <a:gd name="adj" fmla="val 8627"/>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2" name="screenshot-222" descr="Hemanth is alerted instantly and sees it in his history"/>
          <p:cNvPicPr>
            <a:picLocks noChangeAspect="1"/>
          </p:cNvPicPr>
          <p:nvPr/>
        </p:nvPicPr>
        <p:blipFill>
          <a:blip r:embed="rId5"/>
          <a:stretch>
            <a:fillRect/>
          </a:stretch>
        </p:blipFill>
        <p:spPr>
          <a:xfrm>
            <a:off x="8138160" y="1508760"/>
            <a:ext cx="3383280" cy="2020824"/>
          </a:xfrm>
          <a:prstGeom prst="rect">
            <a:avLst/>
          </a:prstGeom>
        </p:spPr>
      </p:pic>
      <p:sp>
        <p:nvSpPr>
          <p:cNvPr id="13" name="step-223"/>
          <p:cNvSpPr txBox="1"/>
          <p:nvPr/>
        </p:nvSpPr>
        <p:spPr>
          <a:xfrm>
            <a:off x="8046720" y="3977640"/>
            <a:ext cx="438912" cy="438912"/>
          </a:xfrm>
          <a:prstGeom prst="ellipse">
            <a:avLst/>
          </a:prstGeom>
          <a:solidFill>
            <a:schemeClr val="accent6"/>
          </a:solidFill>
          <a:ln>
            <a:solidFill>
              <a:schemeClr val="accent6"/>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224"/>
          <p:cNvSpPr txBox="1"/>
          <p:nvPr/>
        </p:nvSpPr>
        <p:spPr>
          <a:xfrm>
            <a:off x="8641080" y="3950208"/>
            <a:ext cx="2926080" cy="685800"/>
          </a:xfrm>
          <a:prstGeom prst="rect">
            <a:avLst/>
          </a:prstGeom>
          <a:noFill/>
          <a:ln/>
        </p:spPr>
        <p:txBody>
          <a:bodyPr wrap="square" lIns="0" tIns="0" rIns="0" bIns="0" rtlCol="0" anchor="t"/>
          <a:lstStyle/>
          <a:p>
            <a:pPr marL="0" indent="0">
              <a:buNone/>
            </a:pPr>
            <a:r>
              <a:rPr lang="en-US" sz="1350" dirty="0">
                <a:solidFill>
                  <a:schemeClr val="tx1"/>
                </a:solidFill>
              </a:rPr>
              <a:t>Hemanth is alerted instantly and sees it in his history</a:t>
            </a:r>
            <a:endParaRPr lang="en-US" sz="1350" dirty="0"/>
          </a:p>
        </p:txBody>
      </p:sp>
      <p:sp>
        <p:nvSpPr>
          <p:cNvPr id="15" name="ledger-trail-225"/>
          <p:cNvSpPr/>
          <p:nvPr/>
        </p:nvSpPr>
        <p:spPr>
          <a:xfrm>
            <a:off x="548640" y="4983480"/>
            <a:ext cx="11064240" cy="1188720"/>
          </a:xfrm>
          <a:prstGeom prst="roundRect">
            <a:avLst>
              <a:gd name="adj" fmla="val 16923"/>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6" name="icon-link-amber-226" descr="C:\Users\hares\AppData\Local\Temp\claude\C--Users-hares-Downloads-distributed-proj\b8b70322-b8bd-48b7-a531-3815c955f6d1\scratchpad\deck\assets\icon-link-amber.png"/>
          <p:cNvPicPr>
            <a:picLocks noChangeAspect="1"/>
          </p:cNvPicPr>
          <p:nvPr/>
        </p:nvPicPr>
        <p:blipFill>
          <a:blip r:embed="rId6"/>
          <a:stretch>
            <a:fillRect/>
          </a:stretch>
        </p:blipFill>
        <p:spPr>
          <a:xfrm>
            <a:off x="822960" y="5230368"/>
            <a:ext cx="566928" cy="566928"/>
          </a:xfrm>
          <a:prstGeom prst="rect">
            <a:avLst/>
          </a:prstGeom>
        </p:spPr>
      </p:pic>
      <p:sp>
        <p:nvSpPr>
          <p:cNvPr id="17" name="text-227"/>
          <p:cNvSpPr txBox="1"/>
          <p:nvPr/>
        </p:nvSpPr>
        <p:spPr>
          <a:xfrm>
            <a:off x="1600200" y="5166360"/>
            <a:ext cx="4572000" cy="365760"/>
          </a:xfrm>
          <a:prstGeom prst="rect">
            <a:avLst/>
          </a:prstGeom>
          <a:noFill/>
          <a:ln/>
        </p:spPr>
        <p:txBody>
          <a:bodyPr wrap="square" lIns="0" tIns="0" rIns="0" bIns="0" rtlCol="0" anchor="t"/>
          <a:lstStyle/>
          <a:p>
            <a:pPr marL="0" indent="0">
              <a:buNone/>
            </a:pPr>
            <a:r>
              <a:rPr lang="en-US" sz="1500" b="1" dirty="0">
                <a:solidFill>
                  <a:schemeClr val="tx1"/>
                </a:solidFill>
              </a:rPr>
              <a:t>Each step is sealed in the hash-chained ledger</a:t>
            </a:r>
            <a:endParaRPr lang="en-US" sz="1500" dirty="0"/>
          </a:p>
        </p:txBody>
      </p:sp>
      <p:sp>
        <p:nvSpPr>
          <p:cNvPr id="18" name="pill-228"/>
          <p:cNvSpPr txBox="1"/>
          <p:nvPr/>
        </p:nvSpPr>
        <p:spPr>
          <a:xfrm>
            <a:off x="1600200" y="5596128"/>
            <a:ext cx="1965960" cy="329184"/>
          </a:xfrm>
          <a:prstGeom prst="roundRect">
            <a:avLst>
              <a:gd name="adj" fmla="val 47222"/>
            </a:avLst>
          </a:prstGeom>
          <a:solidFill>
            <a:schemeClr val="accent6">
              <a:alpha val="12000"/>
            </a:schemeClr>
          </a:solidFill>
          <a:ln w="12700">
            <a:solidFill>
              <a:schemeClr val="accent6">
                <a:alpha val="90000"/>
              </a:schemeClr>
            </a:solidFill>
          </a:ln>
        </p:spPr>
        <p:txBody>
          <a:bodyPr wrap="square" lIns="0" tIns="0" rIns="0" bIns="0" rtlCol="0" anchor="ctr"/>
          <a:lstStyle/>
          <a:p>
            <a:pPr marL="0" indent="0" algn="ctr">
              <a:buNone/>
            </a:pPr>
            <a:r>
              <a:rPr lang="en-US" sz="1150" b="1" dirty="0">
                <a:solidFill>
                  <a:schemeClr val="accent6"/>
                </a:solidFill>
              </a:rPr>
              <a:t>ACCESS_DENIED</a:t>
            </a:r>
            <a:endParaRPr lang="en-US" sz="1150" dirty="0"/>
          </a:p>
        </p:txBody>
      </p:sp>
      <p:sp>
        <p:nvSpPr>
          <p:cNvPr id="19" name="pill-229"/>
          <p:cNvSpPr txBox="1"/>
          <p:nvPr/>
        </p:nvSpPr>
        <p:spPr>
          <a:xfrm>
            <a:off x="3749040" y="5596128"/>
            <a:ext cx="1965960" cy="329184"/>
          </a:xfrm>
          <a:prstGeom prst="roundRect">
            <a:avLst>
              <a:gd name="adj" fmla="val 47222"/>
            </a:avLst>
          </a:prstGeom>
          <a:solidFill>
            <a:schemeClr val="accent6">
              <a:alpha val="12000"/>
            </a:schemeClr>
          </a:solidFill>
          <a:ln w="12700">
            <a:solidFill>
              <a:schemeClr val="accent6">
                <a:alpha val="90000"/>
              </a:schemeClr>
            </a:solidFill>
          </a:ln>
        </p:spPr>
        <p:txBody>
          <a:bodyPr wrap="square" lIns="0" tIns="0" rIns="0" bIns="0" rtlCol="0" anchor="ctr"/>
          <a:lstStyle/>
          <a:p>
            <a:pPr marL="0" indent="0" algn="ctr">
              <a:buNone/>
            </a:pPr>
            <a:r>
              <a:rPr lang="en-US" sz="1150" b="1" dirty="0">
                <a:solidFill>
                  <a:schemeClr val="accent6"/>
                </a:solidFill>
              </a:rPr>
              <a:t>BREAK_GLASS</a:t>
            </a:r>
            <a:endParaRPr lang="en-US" sz="1150" dirty="0"/>
          </a:p>
        </p:txBody>
      </p:sp>
      <p:sp>
        <p:nvSpPr>
          <p:cNvPr id="20" name="pill-230"/>
          <p:cNvSpPr txBox="1"/>
          <p:nvPr/>
        </p:nvSpPr>
        <p:spPr>
          <a:xfrm>
            <a:off x="5897880" y="5596128"/>
            <a:ext cx="1965960" cy="329184"/>
          </a:xfrm>
          <a:prstGeom prst="roundRect">
            <a:avLst>
              <a:gd name="adj" fmla="val 47222"/>
            </a:avLst>
          </a:prstGeom>
          <a:solidFill>
            <a:schemeClr val="accent6">
              <a:alpha val="12000"/>
            </a:schemeClr>
          </a:solidFill>
          <a:ln w="12700">
            <a:solidFill>
              <a:schemeClr val="accent6">
                <a:alpha val="90000"/>
              </a:schemeClr>
            </a:solidFill>
          </a:ln>
        </p:spPr>
        <p:txBody>
          <a:bodyPr wrap="square" lIns="0" tIns="0" rIns="0" bIns="0" rtlCol="0" anchor="ctr"/>
          <a:lstStyle/>
          <a:p>
            <a:pPr marL="0" indent="0" algn="ctr">
              <a:buNone/>
            </a:pPr>
            <a:r>
              <a:rPr lang="en-US" sz="1150" b="1" dirty="0">
                <a:solidFill>
                  <a:schemeClr val="accent6"/>
                </a:solidFill>
              </a:rPr>
              <a:t>RECORD_READ</a:t>
            </a:r>
            <a:endParaRPr lang="en-US" sz="1150" dirty="0"/>
          </a:p>
        </p:txBody>
      </p:sp>
      <p:sp>
        <p:nvSpPr>
          <p:cNvPr id="21" name="text-231"/>
          <p:cNvSpPr txBox="1"/>
          <p:nvPr/>
        </p:nvSpPr>
        <p:spPr>
          <a:xfrm>
            <a:off x="8183880" y="5577840"/>
            <a:ext cx="3291840" cy="365760"/>
          </a:xfrm>
          <a:prstGeom prst="rect">
            <a:avLst/>
          </a:prstGeom>
          <a:noFill/>
          <a:ln/>
        </p:spPr>
        <p:txBody>
          <a:bodyPr wrap="square" lIns="0" tIns="0" rIns="0" bIns="0" rtlCol="0" anchor="t"/>
          <a:lstStyle/>
          <a:p>
            <a:pPr marL="0" indent="0">
              <a:buNone/>
            </a:pPr>
            <a:r>
              <a:rPr lang="en-US" sz="1200" dirty="0">
                <a:solidFill>
                  <a:schemeClr val="tx2"/>
                </a:solidFill>
              </a:rPr>
              <a:t>Grants expire automatically after 30 minutes.</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bg1"/>
                </a:solidFill>
              </a:rPr>
              <a:t>Chaos lab: killing a leader loses nothing</a:t>
            </a:r>
            <a:endParaRPr lang="en-US" sz="3000" dirty="0"/>
          </a:p>
        </p:txBody>
      </p:sp>
      <p:sp>
        <p:nvSpPr>
          <p:cNvPr id="3" name="frame-232"/>
          <p:cNvSpPr/>
          <p:nvPr/>
        </p:nvSpPr>
        <p:spPr>
          <a:xfrm>
            <a:off x="457200" y="1325880"/>
            <a:ext cx="7955280" cy="4434840"/>
          </a:xfrm>
          <a:prstGeom prst="roundRect">
            <a:avLst>
              <a:gd name="adj" fmla="val 4536"/>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pic>
        <p:nvPicPr>
          <p:cNvPr id="4" name="screenshot-chaos-233" descr="Ops console chaos lab after the shard-a leader was killed"/>
          <p:cNvPicPr>
            <a:picLocks noChangeAspect="1"/>
          </p:cNvPicPr>
          <p:nvPr/>
        </p:nvPicPr>
        <p:blipFill>
          <a:blip r:embed="rId3"/>
          <a:stretch>
            <a:fillRect/>
          </a:stretch>
        </p:blipFill>
        <p:spPr>
          <a:xfrm>
            <a:off x="566928" y="1435608"/>
            <a:ext cx="7735824" cy="4142232"/>
          </a:xfrm>
          <a:prstGeom prst="rect">
            <a:avLst/>
          </a:prstGeom>
        </p:spPr>
      </p:pic>
      <p:sp>
        <p:nvSpPr>
          <p:cNvPr id="5" name="text-234"/>
          <p:cNvSpPr txBox="1"/>
          <p:nvPr/>
        </p:nvSpPr>
        <p:spPr>
          <a:xfrm>
            <a:off x="548640" y="5852160"/>
            <a:ext cx="7863840" cy="365760"/>
          </a:xfrm>
          <a:prstGeom prst="rect">
            <a:avLst/>
          </a:prstGeom>
          <a:noFill/>
          <a:ln/>
        </p:spPr>
        <p:txBody>
          <a:bodyPr wrap="square" lIns="0" tIns="0" rIns="0" bIns="0" rtlCol="0" anchor="t"/>
          <a:lstStyle/>
          <a:p>
            <a:pPr marL="0" indent="0">
              <a:buNone/>
            </a:pPr>
            <a:r>
              <a:rPr lang="en-US" sz="1200" dirty="0">
                <a:solidFill>
                  <a:schemeClr val="bg1">
                    <a:alpha val="75000"/>
                  </a:schemeClr>
                </a:solidFill>
              </a:rPr>
              <a:t>Ops console during a live run: node a3 was killed (SIGKILL); a2 won the election in term 3.</a:t>
            </a:r>
            <a:endParaRPr lang="en-US" sz="1200" dirty="0"/>
          </a:p>
        </p:txBody>
      </p:sp>
      <p:sp>
        <p:nvSpPr>
          <p:cNvPr id="6" name="glass-235"/>
          <p:cNvSpPr/>
          <p:nvPr/>
        </p:nvSpPr>
        <p:spPr>
          <a:xfrm>
            <a:off x="8686800" y="1325880"/>
            <a:ext cx="2926080" cy="1371600"/>
          </a:xfrm>
          <a:prstGeom prst="roundRect">
            <a:avLst>
              <a:gd name="adj" fmla="val 14667"/>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7" name="text-236"/>
          <p:cNvSpPr txBox="1"/>
          <p:nvPr/>
        </p:nvSpPr>
        <p:spPr>
          <a:xfrm>
            <a:off x="8961120" y="1490472"/>
            <a:ext cx="2377440" cy="585216"/>
          </a:xfrm>
          <a:prstGeom prst="rect">
            <a:avLst/>
          </a:prstGeom>
          <a:noFill/>
          <a:ln/>
        </p:spPr>
        <p:txBody>
          <a:bodyPr wrap="square" lIns="0" tIns="0" rIns="0" bIns="0" rtlCol="0" anchor="ctr"/>
          <a:lstStyle/>
          <a:p>
            <a:pPr marL="0" indent="0">
              <a:buNone/>
            </a:pPr>
            <a:r>
              <a:rPr lang="en-US" sz="3200" b="1" dirty="0">
                <a:solidFill>
                  <a:srgbClr val="5EEAD4"/>
                </a:solidFill>
              </a:rPr>
              <a:t>0 failed</a:t>
            </a:r>
            <a:endParaRPr lang="en-US" sz="3200" dirty="0"/>
          </a:p>
        </p:txBody>
      </p:sp>
      <p:sp>
        <p:nvSpPr>
          <p:cNvPr id="8" name="text-237"/>
          <p:cNvSpPr txBox="1"/>
          <p:nvPr/>
        </p:nvSpPr>
        <p:spPr>
          <a:xfrm>
            <a:off x="8961120" y="2093976"/>
            <a:ext cx="2377440" cy="457200"/>
          </a:xfrm>
          <a:prstGeom prst="rect">
            <a:avLst/>
          </a:prstGeom>
          <a:noFill/>
          <a:ln/>
        </p:spPr>
        <p:txBody>
          <a:bodyPr wrap="square" lIns="0" tIns="0" rIns="0" bIns="0" rtlCol="0" anchor="t"/>
          <a:lstStyle/>
          <a:p>
            <a:pPr marL="0" indent="0">
              <a:buNone/>
            </a:pPr>
            <a:r>
              <a:rPr lang="en-US" sz="1250" dirty="0">
                <a:solidFill>
                  <a:schemeClr val="bg1"/>
                </a:solidFill>
              </a:rPr>
              <a:t>37 writes committed during the kill</a:t>
            </a:r>
            <a:endParaRPr lang="en-US" sz="1250" dirty="0"/>
          </a:p>
        </p:txBody>
      </p:sp>
      <p:sp>
        <p:nvSpPr>
          <p:cNvPr id="9" name="glass-238"/>
          <p:cNvSpPr/>
          <p:nvPr/>
        </p:nvSpPr>
        <p:spPr>
          <a:xfrm>
            <a:off x="8686800" y="2852928"/>
            <a:ext cx="2926080" cy="1371600"/>
          </a:xfrm>
          <a:prstGeom prst="roundRect">
            <a:avLst>
              <a:gd name="adj" fmla="val 14667"/>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10" name="text-239"/>
          <p:cNvSpPr txBox="1"/>
          <p:nvPr/>
        </p:nvSpPr>
        <p:spPr>
          <a:xfrm>
            <a:off x="8961120" y="3017520"/>
            <a:ext cx="2377440" cy="585216"/>
          </a:xfrm>
          <a:prstGeom prst="rect">
            <a:avLst/>
          </a:prstGeom>
          <a:noFill/>
          <a:ln/>
        </p:spPr>
        <p:txBody>
          <a:bodyPr wrap="square" lIns="0" tIns="0" rIns="0" bIns="0" rtlCol="0" anchor="ctr"/>
          <a:lstStyle/>
          <a:p>
            <a:pPr marL="0" indent="0">
              <a:buNone/>
            </a:pPr>
            <a:r>
              <a:rPr lang="en-US" sz="3200" b="1" dirty="0">
                <a:solidFill>
                  <a:srgbClr val="FCD34D"/>
                </a:solidFill>
              </a:rPr>
              <a:t>1.6 s</a:t>
            </a:r>
            <a:endParaRPr lang="en-US" sz="3200" dirty="0"/>
          </a:p>
        </p:txBody>
      </p:sp>
      <p:sp>
        <p:nvSpPr>
          <p:cNvPr id="11" name="text-240"/>
          <p:cNvSpPr txBox="1"/>
          <p:nvPr/>
        </p:nvSpPr>
        <p:spPr>
          <a:xfrm>
            <a:off x="8961120" y="3621024"/>
            <a:ext cx="2377440" cy="457200"/>
          </a:xfrm>
          <a:prstGeom prst="rect">
            <a:avLst/>
          </a:prstGeom>
          <a:noFill/>
          <a:ln/>
        </p:spPr>
        <p:txBody>
          <a:bodyPr wrap="square" lIns="0" tIns="0" rIns="0" bIns="0" rtlCol="0" anchor="t"/>
          <a:lstStyle/>
          <a:p>
            <a:pPr marL="0" indent="0">
              <a:buNone/>
            </a:pPr>
            <a:r>
              <a:rPr lang="en-US" sz="1250" dirty="0">
                <a:solidFill>
                  <a:schemeClr val="bg1"/>
                </a:solidFill>
              </a:rPr>
              <a:t>worst stall: one election timeout</a:t>
            </a:r>
            <a:endParaRPr lang="en-US" sz="1250" dirty="0"/>
          </a:p>
        </p:txBody>
      </p:sp>
      <p:sp>
        <p:nvSpPr>
          <p:cNvPr id="12" name="glass-241"/>
          <p:cNvSpPr/>
          <p:nvPr/>
        </p:nvSpPr>
        <p:spPr>
          <a:xfrm>
            <a:off x="8686800" y="4389120"/>
            <a:ext cx="2926080" cy="1371600"/>
          </a:xfrm>
          <a:prstGeom prst="roundRect">
            <a:avLst>
              <a:gd name="adj" fmla="val 14667"/>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13" name="text-242"/>
          <p:cNvSpPr txBox="1"/>
          <p:nvPr/>
        </p:nvSpPr>
        <p:spPr>
          <a:xfrm>
            <a:off x="8961120" y="4553712"/>
            <a:ext cx="2377440" cy="585216"/>
          </a:xfrm>
          <a:prstGeom prst="rect">
            <a:avLst/>
          </a:prstGeom>
          <a:noFill/>
          <a:ln/>
        </p:spPr>
        <p:txBody>
          <a:bodyPr wrap="square" lIns="0" tIns="0" rIns="0" bIns="0" rtlCol="0" anchor="ctr"/>
          <a:lstStyle/>
          <a:p>
            <a:pPr marL="0" indent="0">
              <a:buNone/>
            </a:pPr>
            <a:r>
              <a:rPr lang="en-US" sz="3200" b="1" dirty="0">
                <a:solidFill>
                  <a:srgbClr val="A5B4FC"/>
                </a:solidFill>
              </a:rPr>
              <a:t>term 3</a:t>
            </a:r>
            <a:endParaRPr lang="en-US" sz="3200" dirty="0"/>
          </a:p>
        </p:txBody>
      </p:sp>
      <p:sp>
        <p:nvSpPr>
          <p:cNvPr id="14" name="text-243"/>
          <p:cNvSpPr txBox="1"/>
          <p:nvPr/>
        </p:nvSpPr>
        <p:spPr>
          <a:xfrm>
            <a:off x="8961120" y="5157216"/>
            <a:ext cx="2377440" cy="457200"/>
          </a:xfrm>
          <a:prstGeom prst="rect">
            <a:avLst/>
          </a:prstGeom>
          <a:noFill/>
          <a:ln/>
        </p:spPr>
        <p:txBody>
          <a:bodyPr wrap="square" lIns="0" tIns="0" rIns="0" bIns="0" rtlCol="0" anchor="t"/>
          <a:lstStyle/>
          <a:p>
            <a:pPr marL="0" indent="0">
              <a:buNone/>
            </a:pPr>
            <a:r>
              <a:rPr lang="en-US" sz="1250" dirty="0">
                <a:solidFill>
                  <a:schemeClr val="bg1"/>
                </a:solidFill>
              </a:rPr>
              <a:t>new leader a2; a3 rejoins as follower</a:t>
            </a:r>
            <a:endParaRPr lang="en-US" sz="125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3CCDD"/>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bg1"/>
                </a:solidFill>
              </a:rPr>
              <a:t>Tamper-evident audit: an edit is caught at the exact block</a:t>
            </a:r>
            <a:endParaRPr lang="en-US" sz="3000" dirty="0"/>
          </a:p>
        </p:txBody>
      </p:sp>
      <p:sp>
        <p:nvSpPr>
          <p:cNvPr id="3" name="frame-244"/>
          <p:cNvSpPr/>
          <p:nvPr/>
        </p:nvSpPr>
        <p:spPr>
          <a:xfrm>
            <a:off x="457200" y="1325880"/>
            <a:ext cx="5120640" cy="4892040"/>
          </a:xfrm>
          <a:prstGeom prst="roundRect">
            <a:avLst>
              <a:gd name="adj" fmla="val 4112"/>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pic>
        <p:nvPicPr>
          <p:cNvPr id="4" name="screenshot-ledger-245" descr="Audit ledger reporting tampering detected at block 22"/>
          <p:cNvPicPr>
            <a:picLocks noChangeAspect="1"/>
          </p:cNvPicPr>
          <p:nvPr/>
        </p:nvPicPr>
        <p:blipFill>
          <a:blip r:embed="rId3"/>
          <a:stretch>
            <a:fillRect/>
          </a:stretch>
        </p:blipFill>
        <p:spPr>
          <a:xfrm>
            <a:off x="566928" y="1435608"/>
            <a:ext cx="4901184" cy="4672584"/>
          </a:xfrm>
          <a:prstGeom prst="rect">
            <a:avLst/>
          </a:prstGeom>
        </p:spPr>
      </p:pic>
      <p:sp>
        <p:nvSpPr>
          <p:cNvPr id="5" name="glass-246"/>
          <p:cNvSpPr/>
          <p:nvPr/>
        </p:nvSpPr>
        <p:spPr>
          <a:xfrm>
            <a:off x="5852160" y="1463040"/>
            <a:ext cx="5760720" cy="1280160"/>
          </a:xfrm>
          <a:prstGeom prst="roundRect">
            <a:avLst>
              <a:gd name="adj" fmla="val 15714"/>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6" name="step-247"/>
          <p:cNvSpPr txBox="1"/>
          <p:nvPr/>
        </p:nvSpPr>
        <p:spPr>
          <a:xfrm>
            <a:off x="6080760" y="1737360"/>
            <a:ext cx="457200" cy="457200"/>
          </a:xfrm>
          <a:prstGeom prst="ellipse">
            <a:avLst/>
          </a:prstGeom>
          <a:solidFill>
            <a:schemeClr val="accent4"/>
          </a:solidFill>
          <a:ln>
            <a:solidFill>
              <a:schemeClr val="accent4"/>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7" name="text-248"/>
          <p:cNvSpPr txBox="1"/>
          <p:nvPr/>
        </p:nvSpPr>
        <p:spPr>
          <a:xfrm>
            <a:off x="6720840" y="1664208"/>
            <a:ext cx="4663440" cy="365760"/>
          </a:xfrm>
          <a:prstGeom prst="rect">
            <a:avLst/>
          </a:prstGeom>
          <a:noFill/>
          <a:ln/>
        </p:spPr>
        <p:txBody>
          <a:bodyPr wrap="square" lIns="0" tIns="0" rIns="0" bIns="0" rtlCol="0" anchor="t"/>
          <a:lstStyle/>
          <a:p>
            <a:pPr marL="0" indent="0">
              <a:buNone/>
            </a:pPr>
            <a:r>
              <a:rPr lang="en-US" sz="1500" b="1" dirty="0">
                <a:solidFill>
                  <a:schemeClr val="bg1"/>
                </a:solidFill>
              </a:rPr>
              <a:t>Each entry stores the previous entry's hash</a:t>
            </a:r>
            <a:endParaRPr lang="en-US" sz="1500" dirty="0"/>
          </a:p>
        </p:txBody>
      </p:sp>
      <p:sp>
        <p:nvSpPr>
          <p:cNvPr id="8" name="text-249"/>
          <p:cNvSpPr txBox="1"/>
          <p:nvPr/>
        </p:nvSpPr>
        <p:spPr>
          <a:xfrm>
            <a:off x="6720840" y="2057400"/>
            <a:ext cx="4663440" cy="548640"/>
          </a:xfrm>
          <a:prstGeom prst="rect">
            <a:avLst/>
          </a:prstGeom>
          <a:noFill/>
          <a:ln/>
        </p:spPr>
        <p:txBody>
          <a:bodyPr wrap="square" lIns="0" tIns="0" rIns="0" bIns="0" rtlCol="0" anchor="t"/>
          <a:lstStyle/>
          <a:p>
            <a:pPr marL="0" indent="0">
              <a:buNone/>
            </a:pPr>
            <a:r>
              <a:rPr lang="en-US" sz="1250" dirty="0">
                <a:solidFill>
                  <a:schemeClr val="bg1">
                    <a:alpha val="75000"/>
                  </a:schemeClr>
                </a:solidFill>
              </a:rPr>
              <a:t>Changing any entry breaks every link after it.</a:t>
            </a:r>
            <a:endParaRPr lang="en-US" sz="1250" dirty="0"/>
          </a:p>
        </p:txBody>
      </p:sp>
      <p:sp>
        <p:nvSpPr>
          <p:cNvPr id="9" name="glass-250"/>
          <p:cNvSpPr/>
          <p:nvPr/>
        </p:nvSpPr>
        <p:spPr>
          <a:xfrm>
            <a:off x="5852160" y="2926080"/>
            <a:ext cx="5760720" cy="1280160"/>
          </a:xfrm>
          <a:prstGeom prst="roundRect">
            <a:avLst>
              <a:gd name="adj" fmla="val 15714"/>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10" name="step-251"/>
          <p:cNvSpPr txBox="1"/>
          <p:nvPr/>
        </p:nvSpPr>
        <p:spPr>
          <a:xfrm>
            <a:off x="6080760" y="3200400"/>
            <a:ext cx="457200" cy="457200"/>
          </a:xfrm>
          <a:prstGeom prst="ellipse">
            <a:avLst/>
          </a:prstGeom>
          <a:solidFill>
            <a:schemeClr val="accent4"/>
          </a:solidFill>
          <a:ln>
            <a:solidFill>
              <a:schemeClr val="accent4"/>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11" name="text-252"/>
          <p:cNvSpPr txBox="1"/>
          <p:nvPr/>
        </p:nvSpPr>
        <p:spPr>
          <a:xfrm>
            <a:off x="6720840" y="3127248"/>
            <a:ext cx="4663440" cy="365760"/>
          </a:xfrm>
          <a:prstGeom prst="rect">
            <a:avLst/>
          </a:prstGeom>
          <a:noFill/>
          <a:ln/>
        </p:spPr>
        <p:txBody>
          <a:bodyPr wrap="square" lIns="0" tIns="0" rIns="0" bIns="0" rtlCol="0" anchor="t"/>
          <a:lstStyle/>
          <a:p>
            <a:pPr marL="0" indent="0">
              <a:buNone/>
            </a:pPr>
            <a:r>
              <a:rPr lang="en-US" sz="1500" b="1" dirty="0">
                <a:solidFill>
                  <a:schemeClr val="bg1"/>
                </a:solidFill>
              </a:rPr>
              <a:t>Tamper edits block #22</a:t>
            </a:r>
            <a:endParaRPr lang="en-US" sz="1500" dirty="0"/>
          </a:p>
        </p:txBody>
      </p:sp>
      <p:sp>
        <p:nvSpPr>
          <p:cNvPr id="12" name="text-253"/>
          <p:cNvSpPr txBox="1"/>
          <p:nvPr/>
        </p:nvSpPr>
        <p:spPr>
          <a:xfrm>
            <a:off x="6720840" y="3520440"/>
            <a:ext cx="4663440" cy="548640"/>
          </a:xfrm>
          <a:prstGeom prst="rect">
            <a:avLst/>
          </a:prstGeom>
          <a:noFill/>
          <a:ln/>
        </p:spPr>
        <p:txBody>
          <a:bodyPr wrap="square" lIns="0" tIns="0" rIns="0" bIns="0" rtlCol="0" anchor="t"/>
          <a:lstStyle/>
          <a:p>
            <a:pPr marL="0" indent="0">
              <a:buNone/>
            </a:pPr>
            <a:r>
              <a:rPr lang="en-US" sz="1250" dirty="0">
                <a:solidFill>
                  <a:schemeClr val="bg1">
                    <a:alpha val="75000"/>
                  </a:schemeClr>
                </a:solidFill>
              </a:rPr>
              <a:t>Simulates an insider rewriting who accessed a record.</a:t>
            </a:r>
            <a:endParaRPr lang="en-US" sz="1250" dirty="0"/>
          </a:p>
        </p:txBody>
      </p:sp>
      <p:sp>
        <p:nvSpPr>
          <p:cNvPr id="13" name="glass-254"/>
          <p:cNvSpPr/>
          <p:nvPr/>
        </p:nvSpPr>
        <p:spPr>
          <a:xfrm>
            <a:off x="5852160" y="4389120"/>
            <a:ext cx="5760720" cy="1280160"/>
          </a:xfrm>
          <a:prstGeom prst="roundRect">
            <a:avLst>
              <a:gd name="adj" fmla="val 15714"/>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14" name="step-255"/>
          <p:cNvSpPr txBox="1"/>
          <p:nvPr/>
        </p:nvSpPr>
        <p:spPr>
          <a:xfrm>
            <a:off x="6080760" y="4663440"/>
            <a:ext cx="457200" cy="457200"/>
          </a:xfrm>
          <a:prstGeom prst="ellipse">
            <a:avLst/>
          </a:prstGeom>
          <a:solidFill>
            <a:schemeClr val="accent4"/>
          </a:solidFill>
          <a:ln>
            <a:solidFill>
              <a:schemeClr val="accent4"/>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5" name="text-256"/>
          <p:cNvSpPr txBox="1"/>
          <p:nvPr/>
        </p:nvSpPr>
        <p:spPr>
          <a:xfrm>
            <a:off x="6720840" y="4590288"/>
            <a:ext cx="4663440" cy="365760"/>
          </a:xfrm>
          <a:prstGeom prst="rect">
            <a:avLst/>
          </a:prstGeom>
          <a:noFill/>
          <a:ln/>
        </p:spPr>
        <p:txBody>
          <a:bodyPr wrap="square" lIns="0" tIns="0" rIns="0" bIns="0" rtlCol="0" anchor="t"/>
          <a:lstStyle/>
          <a:p>
            <a:pPr marL="0" indent="0">
              <a:buNone/>
            </a:pPr>
            <a:r>
              <a:rPr lang="en-US" sz="1500" b="1" dirty="0">
                <a:solidFill>
                  <a:schemeClr val="bg1"/>
                </a:solidFill>
              </a:rPr>
              <a:t>Verify re-hashes the whole chain</a:t>
            </a:r>
            <a:endParaRPr lang="en-US" sz="1500" dirty="0"/>
          </a:p>
        </p:txBody>
      </p:sp>
      <p:sp>
        <p:nvSpPr>
          <p:cNvPr id="16" name="text-257"/>
          <p:cNvSpPr txBox="1"/>
          <p:nvPr/>
        </p:nvSpPr>
        <p:spPr>
          <a:xfrm>
            <a:off x="6720840" y="4983480"/>
            <a:ext cx="4663440" cy="548640"/>
          </a:xfrm>
          <a:prstGeom prst="rect">
            <a:avLst/>
          </a:prstGeom>
          <a:noFill/>
          <a:ln/>
        </p:spPr>
        <p:txBody>
          <a:bodyPr wrap="square" lIns="0" tIns="0" rIns="0" bIns="0" rtlCol="0" anchor="t"/>
          <a:lstStyle/>
          <a:p>
            <a:pPr marL="0" indent="0">
              <a:buNone/>
            </a:pPr>
            <a:r>
              <a:rPr lang="en-US" sz="1250" dirty="0">
                <a:solidFill>
                  <a:schemeClr val="bg1">
                    <a:alpha val="75000"/>
                  </a:schemeClr>
                </a:solidFill>
              </a:rPr>
              <a:t>It reports CONTENT_HASH_MISMATCH at block #22, and Restore makes it valid again.</a:t>
            </a:r>
            <a:endParaRPr lang="en-US" sz="1250" dirty="0"/>
          </a:p>
        </p:txBody>
      </p:sp>
      <p:sp>
        <p:nvSpPr>
          <p:cNvPr id="17" name="pill-258"/>
          <p:cNvSpPr txBox="1"/>
          <p:nvPr/>
        </p:nvSpPr>
        <p:spPr>
          <a:xfrm>
            <a:off x="5852160" y="5852160"/>
            <a:ext cx="5760720" cy="384048"/>
          </a:xfrm>
          <a:prstGeom prst="roundRect">
            <a:avLst>
              <a:gd name="adj" fmla="val 40476"/>
            </a:avLst>
          </a:prstGeom>
          <a:solidFill>
            <a:schemeClr val="bg1">
              <a:alpha val="15000"/>
            </a:schemeClr>
          </a:solidFill>
          <a:ln w="12700">
            <a:solidFill>
              <a:schemeClr val="bg1">
                <a:alpha val="35000"/>
              </a:schemeClr>
            </a:solidFill>
          </a:ln>
        </p:spPr>
        <p:txBody>
          <a:bodyPr wrap="square" lIns="0" tIns="0" rIns="0" bIns="0" rtlCol="0" anchor="ctr"/>
          <a:lstStyle/>
          <a:p>
            <a:pPr marL="0" indent="0" algn="ctr">
              <a:buNone/>
            </a:pPr>
            <a:r>
              <a:rPr lang="en-US" sz="1300" dirty="0">
                <a:solidFill>
                  <a:schemeClr val="bg1"/>
                </a:solidFill>
              </a:rPr>
              <a:t>hash(n) = SHA-256(index, time, data, hash(n−1))</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3CCDD"/>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281 automated tests across five levels</a:t>
            </a:r>
            <a:endParaRPr lang="en-US" sz="3000" dirty="0"/>
          </a:p>
        </p:txBody>
      </p:sp>
      <p:sp>
        <p:nvSpPr>
          <p:cNvPr id="3" name="levels-259"/>
          <p:cNvSpPr/>
          <p:nvPr/>
        </p:nvSpPr>
        <p:spPr>
          <a:xfrm>
            <a:off x="548640" y="1417320"/>
            <a:ext cx="676656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4" name="text-260"/>
          <p:cNvSpPr txBox="1"/>
          <p:nvPr/>
        </p:nvSpPr>
        <p:spPr>
          <a:xfrm>
            <a:off x="822960" y="1645920"/>
            <a:ext cx="5486400" cy="365760"/>
          </a:xfrm>
          <a:prstGeom prst="rect">
            <a:avLst/>
          </a:prstGeom>
          <a:noFill/>
          <a:ln/>
        </p:spPr>
        <p:txBody>
          <a:bodyPr wrap="square" lIns="0" tIns="0" rIns="0" bIns="0" rtlCol="0" anchor="t"/>
          <a:lstStyle/>
          <a:p>
            <a:pPr marL="0" indent="0">
              <a:buNone/>
            </a:pPr>
            <a:r>
              <a:rPr lang="en-US" sz="1700" b="1" dirty="0">
                <a:solidFill>
                  <a:schemeClr val="tx1"/>
                </a:solidFill>
              </a:rPr>
              <a:t>Automated tests by level</a:t>
            </a:r>
            <a:endParaRPr lang="en-US" sz="1700" dirty="0"/>
          </a:p>
        </p:txBody>
      </p:sp>
      <p:graphicFrame>
        <p:nvGraphicFramePr>
          <p:cNvPr id="5" name="Chart 0"/>
          <p:cNvGraphicFramePr/>
          <p:nvPr/>
        </p:nvGraphicFramePr>
        <p:xfrm>
          <a:off x="731520" y="2057400"/>
          <a:ext cx="64008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ools-261"/>
          <p:cNvSpPr/>
          <p:nvPr/>
        </p:nvSpPr>
        <p:spPr>
          <a:xfrm>
            <a:off x="7589520" y="1417320"/>
            <a:ext cx="4023360" cy="4754880"/>
          </a:xfrm>
          <a:prstGeom prst="roundRect">
            <a:avLst>
              <a:gd name="adj" fmla="val 500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7" name="text-262"/>
          <p:cNvSpPr txBox="1"/>
          <p:nvPr/>
        </p:nvSpPr>
        <p:spPr>
          <a:xfrm>
            <a:off x="7863840" y="1645920"/>
            <a:ext cx="3474720" cy="365760"/>
          </a:xfrm>
          <a:prstGeom prst="rect">
            <a:avLst/>
          </a:prstGeom>
          <a:noFill/>
          <a:ln/>
        </p:spPr>
        <p:txBody>
          <a:bodyPr wrap="square" lIns="0" tIns="0" rIns="0" bIns="0" rtlCol="0" anchor="t"/>
          <a:lstStyle/>
          <a:p>
            <a:pPr marL="0" indent="0">
              <a:buNone/>
            </a:pPr>
            <a:r>
              <a:rPr lang="en-US" sz="1700" b="1" dirty="0">
                <a:solidFill>
                  <a:schemeClr val="tx1"/>
                </a:solidFill>
              </a:rPr>
              <a:t>Tools</a:t>
            </a:r>
            <a:endParaRPr lang="en-US" sz="1700" dirty="0"/>
          </a:p>
        </p:txBody>
      </p:sp>
      <p:sp>
        <p:nvSpPr>
          <p:cNvPr id="8" name="text-263"/>
          <p:cNvSpPr txBox="1"/>
          <p:nvPr/>
        </p:nvSpPr>
        <p:spPr>
          <a:xfrm>
            <a:off x="7863840" y="2148840"/>
            <a:ext cx="3474720" cy="566928"/>
          </a:xfrm>
          <a:prstGeom prst="rect">
            <a:avLst/>
          </a:prstGeom>
          <a:noFill/>
          <a:ln/>
        </p:spPr>
        <p:txBody>
          <a:bodyPr wrap="square" lIns="0" tIns="0" rIns="0" bIns="0" rtlCol="0" anchor="t"/>
          <a:lstStyle/>
          <a:p>
            <a:pPr marL="0" indent="0">
              <a:buNone/>
            </a:pPr>
            <a:r>
              <a:rPr lang="en-US" sz="1400" b="1" dirty="0">
                <a:solidFill>
                  <a:schemeClr val="tx1"/>
                </a:solidFill>
              </a:rPr>
              <a:t>Vitest</a:t>
            </a:r>
            <a:endParaRPr lang="en-US" sz="1400" dirty="0"/>
          </a:p>
          <a:p>
            <a:pPr marL="0" indent="0">
              <a:buNone/>
            </a:pPr>
            <a:r>
              <a:rPr lang="en-US" sz="1200" dirty="0">
                <a:solidFill>
                  <a:schemeClr val="tx2"/>
                </a:solidFill>
              </a:rPr>
              <a:t>unit, integration, chaos</a:t>
            </a:r>
            <a:endParaRPr lang="en-US" sz="1400" dirty="0"/>
          </a:p>
        </p:txBody>
      </p:sp>
      <p:sp>
        <p:nvSpPr>
          <p:cNvPr id="9" name="text-264"/>
          <p:cNvSpPr txBox="1"/>
          <p:nvPr/>
        </p:nvSpPr>
        <p:spPr>
          <a:xfrm>
            <a:off x="7863840" y="2788920"/>
            <a:ext cx="3474720" cy="566928"/>
          </a:xfrm>
          <a:prstGeom prst="rect">
            <a:avLst/>
          </a:prstGeom>
          <a:noFill/>
          <a:ln/>
        </p:spPr>
        <p:txBody>
          <a:bodyPr wrap="square" lIns="0" tIns="0" rIns="0" bIns="0" rtlCol="0" anchor="t"/>
          <a:lstStyle/>
          <a:p>
            <a:pPr marL="0" indent="0">
              <a:buNone/>
            </a:pPr>
            <a:r>
              <a:rPr lang="en-US" sz="1400" b="1" dirty="0">
                <a:solidFill>
                  <a:schemeClr val="tx1"/>
                </a:solidFill>
              </a:rPr>
              <a:t>fast-check</a:t>
            </a:r>
            <a:endParaRPr lang="en-US" sz="1400" dirty="0"/>
          </a:p>
          <a:p>
            <a:pPr marL="0" indent="0">
              <a:buNone/>
            </a:pPr>
            <a:r>
              <a:rPr lang="en-US" sz="1200" dirty="0">
                <a:solidFill>
                  <a:schemeClr val="tx2"/>
                </a:solidFill>
              </a:rPr>
              <a:t>property-based tests</a:t>
            </a:r>
            <a:endParaRPr lang="en-US" sz="1400" dirty="0"/>
          </a:p>
        </p:txBody>
      </p:sp>
      <p:sp>
        <p:nvSpPr>
          <p:cNvPr id="10" name="text-265"/>
          <p:cNvSpPr txBox="1"/>
          <p:nvPr/>
        </p:nvSpPr>
        <p:spPr>
          <a:xfrm>
            <a:off x="7863840" y="3429000"/>
            <a:ext cx="3474720" cy="566928"/>
          </a:xfrm>
          <a:prstGeom prst="rect">
            <a:avLst/>
          </a:prstGeom>
          <a:noFill/>
          <a:ln/>
        </p:spPr>
        <p:txBody>
          <a:bodyPr wrap="square" lIns="0" tIns="0" rIns="0" bIns="0" rtlCol="0" anchor="t"/>
          <a:lstStyle/>
          <a:p>
            <a:pPr marL="0" indent="0">
              <a:buNone/>
            </a:pPr>
            <a:r>
              <a:rPr lang="en-US" sz="1400" b="1" dirty="0">
                <a:solidFill>
                  <a:schemeClr val="tx1"/>
                </a:solidFill>
              </a:rPr>
              <a:t>Supertest</a:t>
            </a:r>
            <a:endParaRPr lang="en-US" sz="1400" dirty="0"/>
          </a:p>
          <a:p>
            <a:pPr marL="0" indent="0">
              <a:buNone/>
            </a:pPr>
            <a:r>
              <a:rPr lang="en-US" sz="1200" dirty="0">
                <a:solidFill>
                  <a:schemeClr val="tx2"/>
                </a:solidFill>
              </a:rPr>
              <a:t>HTTP API tests</a:t>
            </a:r>
            <a:endParaRPr lang="en-US" sz="1400" dirty="0"/>
          </a:p>
        </p:txBody>
      </p:sp>
      <p:sp>
        <p:nvSpPr>
          <p:cNvPr id="11" name="text-266"/>
          <p:cNvSpPr txBox="1"/>
          <p:nvPr/>
        </p:nvSpPr>
        <p:spPr>
          <a:xfrm>
            <a:off x="7863840" y="4069080"/>
            <a:ext cx="3474720" cy="566928"/>
          </a:xfrm>
          <a:prstGeom prst="rect">
            <a:avLst/>
          </a:prstGeom>
          <a:noFill/>
          <a:ln/>
        </p:spPr>
        <p:txBody>
          <a:bodyPr wrap="square" lIns="0" tIns="0" rIns="0" bIns="0" rtlCol="0" anchor="t"/>
          <a:lstStyle/>
          <a:p>
            <a:pPr marL="0" indent="0">
              <a:buNone/>
            </a:pPr>
            <a:r>
              <a:rPr lang="en-US" sz="1400" b="1" dirty="0">
                <a:solidFill>
                  <a:schemeClr val="tx1"/>
                </a:solidFill>
              </a:rPr>
              <a:t>Playwright</a:t>
            </a:r>
            <a:endParaRPr lang="en-US" sz="1400" dirty="0"/>
          </a:p>
          <a:p>
            <a:pPr marL="0" indent="0">
              <a:buNone/>
            </a:pPr>
            <a:r>
              <a:rPr lang="en-US" sz="1200" dirty="0">
                <a:solidFill>
                  <a:schemeClr val="tx2"/>
                </a:solidFill>
              </a:rPr>
              <a:t>browser E2E, Page Objects</a:t>
            </a:r>
            <a:endParaRPr lang="en-US" sz="1400" dirty="0"/>
          </a:p>
        </p:txBody>
      </p:sp>
      <p:sp>
        <p:nvSpPr>
          <p:cNvPr id="12" name="text-267"/>
          <p:cNvSpPr txBox="1"/>
          <p:nvPr/>
        </p:nvSpPr>
        <p:spPr>
          <a:xfrm>
            <a:off x="7863840" y="4709160"/>
            <a:ext cx="3474720" cy="566928"/>
          </a:xfrm>
          <a:prstGeom prst="rect">
            <a:avLst/>
          </a:prstGeom>
          <a:noFill/>
          <a:ln/>
        </p:spPr>
        <p:txBody>
          <a:bodyPr wrap="square" lIns="0" tIns="0" rIns="0" bIns="0" rtlCol="0" anchor="t"/>
          <a:lstStyle/>
          <a:p>
            <a:pPr marL="0" indent="0">
              <a:buNone/>
            </a:pPr>
            <a:r>
              <a:rPr lang="en-US" sz="1400" b="1" dirty="0">
                <a:solidFill>
                  <a:schemeClr val="tx1"/>
                </a:solidFill>
              </a:rPr>
              <a:t>Stryker</a:t>
            </a:r>
            <a:endParaRPr lang="en-US" sz="1400" dirty="0"/>
          </a:p>
          <a:p>
            <a:pPr marL="0" indent="0">
              <a:buNone/>
            </a:pPr>
            <a:r>
              <a:rPr lang="en-US" sz="1200" dirty="0">
                <a:solidFill>
                  <a:schemeClr val="tx2"/>
                </a:solidFill>
              </a:rPr>
              <a:t>mutation testing</a:t>
            </a:r>
            <a:endParaRPr lang="en-US" sz="1400" dirty="0"/>
          </a:p>
        </p:txBody>
      </p:sp>
      <p:sp>
        <p:nvSpPr>
          <p:cNvPr id="13" name="text-268"/>
          <p:cNvSpPr txBox="1"/>
          <p:nvPr/>
        </p:nvSpPr>
        <p:spPr>
          <a:xfrm>
            <a:off x="7863840" y="5349240"/>
            <a:ext cx="3474720" cy="566928"/>
          </a:xfrm>
          <a:prstGeom prst="rect">
            <a:avLst/>
          </a:prstGeom>
          <a:noFill/>
          <a:ln/>
        </p:spPr>
        <p:txBody>
          <a:bodyPr wrap="square" lIns="0" tIns="0" rIns="0" bIns="0" rtlCol="0" anchor="t"/>
          <a:lstStyle/>
          <a:p>
            <a:pPr marL="0" indent="0">
              <a:buNone/>
            </a:pPr>
            <a:r>
              <a:rPr lang="en-US" sz="1400" b="1" dirty="0">
                <a:solidFill>
                  <a:schemeClr val="tx1"/>
                </a:solidFill>
              </a:rPr>
              <a:t>autocannon</a:t>
            </a:r>
            <a:endParaRPr lang="en-US" sz="1400" dirty="0"/>
          </a:p>
          <a:p>
            <a:pPr marL="0" indent="0">
              <a:buNone/>
            </a:pPr>
            <a:r>
              <a:rPr lang="en-US" sz="1200" dirty="0">
                <a:solidFill>
                  <a:schemeClr val="tx2"/>
                </a:solidFill>
              </a:rPr>
              <a:t>load and failover tests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Test design techniques, applied where the risks are</a:t>
            </a:r>
            <a:endParaRPr lang="en-US" sz="3000" dirty="0"/>
          </a:p>
        </p:txBody>
      </p:sp>
      <p:sp>
        <p:nvSpPr>
          <p:cNvPr id="3" name="glass-269"/>
          <p:cNvSpPr/>
          <p:nvPr/>
        </p:nvSpPr>
        <p:spPr>
          <a:xfrm>
            <a:off x="54864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4" name="icon-grid-teal-270" descr="C:\Users\hares\AppData\Local\Temp\claude\C--Users-hares-Downloads-distributed-proj\b8b70322-b8bd-48b7-a531-3815c955f6d1\scratchpad\deck\assets\icon-grid-teal.png"/>
          <p:cNvPicPr>
            <a:picLocks noChangeAspect="1"/>
          </p:cNvPicPr>
          <p:nvPr/>
        </p:nvPicPr>
        <p:blipFill>
          <a:blip r:embed="rId3"/>
          <a:stretch>
            <a:fillRect/>
          </a:stretch>
        </p:blipFill>
        <p:spPr>
          <a:xfrm>
            <a:off x="804672" y="1691640"/>
            <a:ext cx="566928" cy="566928"/>
          </a:xfrm>
          <a:prstGeom prst="rect">
            <a:avLst/>
          </a:prstGeom>
        </p:spPr>
      </p:pic>
      <p:sp>
        <p:nvSpPr>
          <p:cNvPr id="5" name="text-271"/>
          <p:cNvSpPr txBox="1"/>
          <p:nvPr/>
        </p:nvSpPr>
        <p:spPr>
          <a:xfrm>
            <a:off x="1508760" y="16459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Equivalence partitioning</a:t>
            </a:r>
            <a:endParaRPr lang="en-US" sz="1500" dirty="0"/>
          </a:p>
        </p:txBody>
      </p:sp>
      <p:sp>
        <p:nvSpPr>
          <p:cNvPr id="6" name="text-272"/>
          <p:cNvSpPr txBox="1"/>
          <p:nvPr/>
        </p:nvSpPr>
        <p:spPr>
          <a:xfrm>
            <a:off x="804672" y="2514600"/>
            <a:ext cx="2048256" cy="1005840"/>
          </a:xfrm>
          <a:prstGeom prst="rect">
            <a:avLst/>
          </a:prstGeom>
          <a:noFill/>
          <a:ln/>
        </p:spPr>
        <p:txBody>
          <a:bodyPr wrap="square" lIns="0" tIns="0" rIns="0" bIns="0" rtlCol="0" anchor="t"/>
          <a:lstStyle/>
          <a:p>
            <a:pPr marL="0" indent="0">
              <a:buNone/>
            </a:pPr>
            <a:r>
              <a:rPr lang="en-US" sz="1300" dirty="0">
                <a:solidFill>
                  <a:schemeClr val="tx2"/>
                </a:solidFill>
              </a:rPr>
              <a:t>Phone, ABHA ID, blood group, record type</a:t>
            </a:r>
            <a:endParaRPr lang="en-US" sz="1300" dirty="0"/>
          </a:p>
        </p:txBody>
      </p:sp>
      <p:sp>
        <p:nvSpPr>
          <p:cNvPr id="7" name="glass-273"/>
          <p:cNvSpPr/>
          <p:nvPr/>
        </p:nvSpPr>
        <p:spPr>
          <a:xfrm>
            <a:off x="338328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8" name="icon-scale-sky-274" descr="C:\Users\hares\AppData\Local\Temp\claude\C--Users-hares-Downloads-distributed-proj\b8b70322-b8bd-48b7-a531-3815c955f6d1\scratchpad\deck\assets\icon-scale-sky.png"/>
          <p:cNvPicPr>
            <a:picLocks noChangeAspect="1"/>
          </p:cNvPicPr>
          <p:nvPr/>
        </p:nvPicPr>
        <p:blipFill>
          <a:blip r:embed="rId4"/>
          <a:stretch>
            <a:fillRect/>
          </a:stretch>
        </p:blipFill>
        <p:spPr>
          <a:xfrm>
            <a:off x="3639312" y="1691640"/>
            <a:ext cx="566928" cy="566928"/>
          </a:xfrm>
          <a:prstGeom prst="rect">
            <a:avLst/>
          </a:prstGeom>
        </p:spPr>
      </p:pic>
      <p:sp>
        <p:nvSpPr>
          <p:cNvPr id="9" name="text-275"/>
          <p:cNvSpPr txBox="1"/>
          <p:nvPr/>
        </p:nvSpPr>
        <p:spPr>
          <a:xfrm>
            <a:off x="4343400" y="16459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Boundary values</a:t>
            </a:r>
            <a:endParaRPr lang="en-US" sz="1500" dirty="0"/>
          </a:p>
        </p:txBody>
      </p:sp>
      <p:sp>
        <p:nvSpPr>
          <p:cNvPr id="10" name="text-276"/>
          <p:cNvSpPr txBox="1"/>
          <p:nvPr/>
        </p:nvSpPr>
        <p:spPr>
          <a:xfrm>
            <a:off x="3639312" y="2514600"/>
            <a:ext cx="2048256" cy="1005840"/>
          </a:xfrm>
          <a:prstGeom prst="rect">
            <a:avLst/>
          </a:prstGeom>
          <a:noFill/>
          <a:ln/>
        </p:spPr>
        <p:txBody>
          <a:bodyPr wrap="square" lIns="0" tIns="0" rIns="0" bIns="0" rtlCol="0" anchor="t"/>
          <a:lstStyle/>
          <a:p>
            <a:pPr marL="0" indent="0">
              <a:buNone/>
            </a:pPr>
            <a:r>
              <a:rPr lang="en-US" sz="1300" dirty="0">
                <a:solidFill>
                  <a:schemeClr val="tx2"/>
                </a:solidFill>
              </a:rPr>
              <a:t>Age 0/130, heart rate 20/250, lockout N−1/N</a:t>
            </a:r>
            <a:endParaRPr lang="en-US" sz="1300" dirty="0"/>
          </a:p>
        </p:txBody>
      </p:sp>
      <p:sp>
        <p:nvSpPr>
          <p:cNvPr id="11" name="glass-277"/>
          <p:cNvSpPr/>
          <p:nvPr/>
        </p:nvSpPr>
        <p:spPr>
          <a:xfrm>
            <a:off x="621792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2" name="icon-workflow-indigo-278" descr="C:\Users\hares\AppData\Local\Temp\claude\C--Users-hares-Downloads-distributed-proj\b8b70322-b8bd-48b7-a531-3815c955f6d1\scratchpad\deck\assets\icon-workflow-indigo.png"/>
          <p:cNvPicPr>
            <a:picLocks noChangeAspect="1"/>
          </p:cNvPicPr>
          <p:nvPr/>
        </p:nvPicPr>
        <p:blipFill>
          <a:blip r:embed="rId5"/>
          <a:stretch>
            <a:fillRect/>
          </a:stretch>
        </p:blipFill>
        <p:spPr>
          <a:xfrm>
            <a:off x="6473952" y="1691640"/>
            <a:ext cx="566928" cy="566928"/>
          </a:xfrm>
          <a:prstGeom prst="rect">
            <a:avLst/>
          </a:prstGeom>
        </p:spPr>
      </p:pic>
      <p:sp>
        <p:nvSpPr>
          <p:cNvPr id="13" name="text-279"/>
          <p:cNvSpPr txBox="1"/>
          <p:nvPr/>
        </p:nvSpPr>
        <p:spPr>
          <a:xfrm>
            <a:off x="7178040" y="16459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Decision table</a:t>
            </a:r>
            <a:endParaRPr lang="en-US" sz="1500" dirty="0"/>
          </a:p>
        </p:txBody>
      </p:sp>
      <p:sp>
        <p:nvSpPr>
          <p:cNvPr id="14" name="text-280"/>
          <p:cNvSpPr txBox="1"/>
          <p:nvPr/>
        </p:nvSpPr>
        <p:spPr>
          <a:xfrm>
            <a:off x="6473952" y="2514600"/>
            <a:ext cx="2048256" cy="1005840"/>
          </a:xfrm>
          <a:prstGeom prst="rect">
            <a:avLst/>
          </a:prstGeom>
          <a:noFill/>
          <a:ln/>
        </p:spPr>
        <p:txBody>
          <a:bodyPr wrap="square" lIns="0" tIns="0" rIns="0" bIns="0" rtlCol="0" anchor="t"/>
          <a:lstStyle/>
          <a:p>
            <a:pPr marL="0" indent="0">
              <a:buNone/>
            </a:pPr>
            <a:r>
              <a:rPr lang="en-US" sz="1300" dirty="0">
                <a:solidFill>
                  <a:schemeClr val="tx2"/>
                </a:solidFill>
              </a:rPr>
              <a:t>28 rules: role × action × consent × expiry</a:t>
            </a:r>
            <a:endParaRPr lang="en-US" sz="1300" dirty="0"/>
          </a:p>
        </p:txBody>
      </p:sp>
      <p:sp>
        <p:nvSpPr>
          <p:cNvPr id="15" name="glass-281"/>
          <p:cNvSpPr/>
          <p:nvPr/>
        </p:nvSpPr>
        <p:spPr>
          <a:xfrm>
            <a:off x="9052560" y="14173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16" name="icon-branch-violet-282" descr="C:\Users\hares\AppData\Local\Temp\claude\C--Users-hares-Downloads-distributed-proj\b8b70322-b8bd-48b7-a531-3815c955f6d1\scratchpad\deck\assets\icon-branch-violet.png"/>
          <p:cNvPicPr>
            <a:picLocks noChangeAspect="1"/>
          </p:cNvPicPr>
          <p:nvPr/>
        </p:nvPicPr>
        <p:blipFill>
          <a:blip r:embed="rId6"/>
          <a:stretch>
            <a:fillRect/>
          </a:stretch>
        </p:blipFill>
        <p:spPr>
          <a:xfrm>
            <a:off x="9308592" y="1691640"/>
            <a:ext cx="566928" cy="566928"/>
          </a:xfrm>
          <a:prstGeom prst="rect">
            <a:avLst/>
          </a:prstGeom>
        </p:spPr>
      </p:pic>
      <p:sp>
        <p:nvSpPr>
          <p:cNvPr id="17" name="text-283"/>
          <p:cNvSpPr txBox="1"/>
          <p:nvPr/>
        </p:nvSpPr>
        <p:spPr>
          <a:xfrm>
            <a:off x="10012680" y="16459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State transition</a:t>
            </a:r>
            <a:endParaRPr lang="en-US" sz="1500" dirty="0"/>
          </a:p>
        </p:txBody>
      </p:sp>
      <p:sp>
        <p:nvSpPr>
          <p:cNvPr id="18" name="text-284"/>
          <p:cNvSpPr txBox="1"/>
          <p:nvPr/>
        </p:nvSpPr>
        <p:spPr>
          <a:xfrm>
            <a:off x="9308592" y="2514600"/>
            <a:ext cx="2048256" cy="1005840"/>
          </a:xfrm>
          <a:prstGeom prst="rect">
            <a:avLst/>
          </a:prstGeom>
          <a:noFill/>
          <a:ln/>
        </p:spPr>
        <p:txBody>
          <a:bodyPr wrap="square" lIns="0" tIns="0" rIns="0" bIns="0" rtlCol="0" anchor="t"/>
          <a:lstStyle/>
          <a:p>
            <a:pPr marL="0" indent="0">
              <a:buNone/>
            </a:pPr>
            <a:r>
              <a:rPr lang="en-US" sz="1300" dirty="0">
                <a:solidFill>
                  <a:schemeClr val="tx2"/>
                </a:solidFill>
              </a:rPr>
              <a:t>Circuit breaker states; Raft roles</a:t>
            </a:r>
            <a:endParaRPr lang="en-US" sz="1300" dirty="0"/>
          </a:p>
        </p:txBody>
      </p:sp>
      <p:sp>
        <p:nvSpPr>
          <p:cNvPr id="19" name="glass-285"/>
          <p:cNvSpPr/>
          <p:nvPr/>
        </p:nvSpPr>
        <p:spPr>
          <a:xfrm>
            <a:off x="54864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20" name="icon-dices-pink-286" descr="C:\Users\hares\AppData\Local\Temp\claude\C--Users-hares-Downloads-distributed-proj\b8b70322-b8bd-48b7-a531-3815c955f6d1\scratchpad\deck\assets\icon-dices-pink.png"/>
          <p:cNvPicPr>
            <a:picLocks noChangeAspect="1"/>
          </p:cNvPicPr>
          <p:nvPr/>
        </p:nvPicPr>
        <p:blipFill>
          <a:blip r:embed="rId7"/>
          <a:stretch>
            <a:fillRect/>
          </a:stretch>
        </p:blipFill>
        <p:spPr>
          <a:xfrm>
            <a:off x="804672" y="4206240"/>
            <a:ext cx="566928" cy="566928"/>
          </a:xfrm>
          <a:prstGeom prst="rect">
            <a:avLst/>
          </a:prstGeom>
        </p:spPr>
      </p:pic>
      <p:sp>
        <p:nvSpPr>
          <p:cNvPr id="21" name="text-287"/>
          <p:cNvSpPr txBox="1"/>
          <p:nvPr/>
        </p:nvSpPr>
        <p:spPr>
          <a:xfrm>
            <a:off x="1508760" y="41605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Property-based</a:t>
            </a:r>
            <a:endParaRPr lang="en-US" sz="1500" dirty="0"/>
          </a:p>
        </p:txBody>
      </p:sp>
      <p:sp>
        <p:nvSpPr>
          <p:cNvPr id="22" name="text-288"/>
          <p:cNvSpPr txBox="1"/>
          <p:nvPr/>
        </p:nvSpPr>
        <p:spPr>
          <a:xfrm>
            <a:off x="804672" y="5029200"/>
            <a:ext cx="2048256" cy="1005840"/>
          </a:xfrm>
          <a:prstGeom prst="rect">
            <a:avLst/>
          </a:prstGeom>
          <a:noFill/>
          <a:ln/>
        </p:spPr>
        <p:txBody>
          <a:bodyPr wrap="square" lIns="0" tIns="0" rIns="0" bIns="0" rtlCol="0" anchor="t"/>
          <a:lstStyle/>
          <a:p>
            <a:pPr marL="0" indent="0">
              <a:buNone/>
            </a:pPr>
            <a:r>
              <a:rPr lang="en-US" sz="1300" dirty="0">
                <a:solidFill>
                  <a:schemeClr val="tx2"/>
                </a:solidFill>
              </a:rPr>
              <a:t>Hash-ring invariants over random inputs</a:t>
            </a:r>
            <a:endParaRPr lang="en-US" sz="1300" dirty="0"/>
          </a:p>
        </p:txBody>
      </p:sp>
      <p:sp>
        <p:nvSpPr>
          <p:cNvPr id="23" name="glass-289"/>
          <p:cNvSpPr/>
          <p:nvPr/>
        </p:nvSpPr>
        <p:spPr>
          <a:xfrm>
            <a:off x="338328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24" name="icon-bomb-rose-290" descr="C:\Users\hares\AppData\Local\Temp\claude\C--Users-hares-Downloads-distributed-proj\b8b70322-b8bd-48b7-a531-3815c955f6d1\scratchpad\deck\assets\icon-bomb-rose.png"/>
          <p:cNvPicPr>
            <a:picLocks noChangeAspect="1"/>
          </p:cNvPicPr>
          <p:nvPr/>
        </p:nvPicPr>
        <p:blipFill>
          <a:blip r:embed="rId8"/>
          <a:stretch>
            <a:fillRect/>
          </a:stretch>
        </p:blipFill>
        <p:spPr>
          <a:xfrm>
            <a:off x="3639312" y="4206240"/>
            <a:ext cx="566928" cy="566928"/>
          </a:xfrm>
          <a:prstGeom prst="rect">
            <a:avLst/>
          </a:prstGeom>
        </p:spPr>
      </p:pic>
      <p:sp>
        <p:nvSpPr>
          <p:cNvPr id="25" name="text-291"/>
          <p:cNvSpPr txBox="1"/>
          <p:nvPr/>
        </p:nvSpPr>
        <p:spPr>
          <a:xfrm>
            <a:off x="4343400" y="41605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Fault injection</a:t>
            </a:r>
            <a:endParaRPr lang="en-US" sz="1500" dirty="0"/>
          </a:p>
        </p:txBody>
      </p:sp>
      <p:sp>
        <p:nvSpPr>
          <p:cNvPr id="26" name="text-292"/>
          <p:cNvSpPr txBox="1"/>
          <p:nvPr/>
        </p:nvSpPr>
        <p:spPr>
          <a:xfrm>
            <a:off x="3639312" y="5029200"/>
            <a:ext cx="2048256" cy="1005840"/>
          </a:xfrm>
          <a:prstGeom prst="rect">
            <a:avLst/>
          </a:prstGeom>
          <a:noFill/>
          <a:ln/>
        </p:spPr>
        <p:txBody>
          <a:bodyPr wrap="square" lIns="0" tIns="0" rIns="0" bIns="0" rtlCol="0" anchor="t"/>
          <a:lstStyle/>
          <a:p>
            <a:pPr marL="0" indent="0">
              <a:buNone/>
            </a:pPr>
            <a:r>
              <a:rPr lang="en-US" sz="1300" dirty="0">
                <a:solidFill>
                  <a:schemeClr val="tx2"/>
                </a:solidFill>
              </a:rPr>
              <a:t>Crashes, partitions, 20% message loss</a:t>
            </a:r>
            <a:endParaRPr lang="en-US" sz="1300" dirty="0"/>
          </a:p>
        </p:txBody>
      </p:sp>
      <p:sp>
        <p:nvSpPr>
          <p:cNvPr id="27" name="glass-293"/>
          <p:cNvSpPr/>
          <p:nvPr/>
        </p:nvSpPr>
        <p:spPr>
          <a:xfrm>
            <a:off x="621792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28" name="icon-shield-green-294" descr="C:\Users\hares\AppData\Local\Temp\claude\C--Users-hares-Downloads-distributed-proj\b8b70322-b8bd-48b7-a531-3815c955f6d1\scratchpad\deck\assets\icon-shield-green.png"/>
          <p:cNvPicPr>
            <a:picLocks noChangeAspect="1"/>
          </p:cNvPicPr>
          <p:nvPr/>
        </p:nvPicPr>
        <p:blipFill>
          <a:blip r:embed="rId9"/>
          <a:stretch>
            <a:fillRect/>
          </a:stretch>
        </p:blipFill>
        <p:spPr>
          <a:xfrm>
            <a:off x="6473952" y="4206240"/>
            <a:ext cx="566928" cy="566928"/>
          </a:xfrm>
          <a:prstGeom prst="rect">
            <a:avLst/>
          </a:prstGeom>
        </p:spPr>
      </p:pic>
      <p:sp>
        <p:nvSpPr>
          <p:cNvPr id="29" name="text-295"/>
          <p:cNvSpPr txBox="1"/>
          <p:nvPr/>
        </p:nvSpPr>
        <p:spPr>
          <a:xfrm>
            <a:off x="7178040" y="41605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Security testing</a:t>
            </a:r>
            <a:endParaRPr lang="en-US" sz="1500" dirty="0"/>
          </a:p>
        </p:txBody>
      </p:sp>
      <p:sp>
        <p:nvSpPr>
          <p:cNvPr id="30" name="text-296"/>
          <p:cNvSpPr txBox="1"/>
          <p:nvPr/>
        </p:nvSpPr>
        <p:spPr>
          <a:xfrm>
            <a:off x="6473952" y="5029200"/>
            <a:ext cx="2048256" cy="1005840"/>
          </a:xfrm>
          <a:prstGeom prst="rect">
            <a:avLst/>
          </a:prstGeom>
          <a:noFill/>
          <a:ln/>
        </p:spPr>
        <p:txBody>
          <a:bodyPr wrap="square" lIns="0" tIns="0" rIns="0" bIns="0" rtlCol="0" anchor="t"/>
          <a:lstStyle/>
          <a:p>
            <a:pPr marL="0" indent="0">
              <a:buNone/>
            </a:pPr>
            <a:r>
              <a:rPr lang="en-US" sz="1300" dirty="0">
                <a:solidFill>
                  <a:schemeClr val="tx2"/>
                </a:solidFill>
              </a:rPr>
              <a:t>Forged tokens, IDOR, injection, XSS, brute force</a:t>
            </a:r>
            <a:endParaRPr lang="en-US" sz="1300" dirty="0"/>
          </a:p>
        </p:txBody>
      </p:sp>
      <p:sp>
        <p:nvSpPr>
          <p:cNvPr id="31" name="glass-297"/>
          <p:cNvSpPr/>
          <p:nvPr/>
        </p:nvSpPr>
        <p:spPr>
          <a:xfrm>
            <a:off x="9052560" y="3931920"/>
            <a:ext cx="2560320" cy="2240280"/>
          </a:xfrm>
          <a:prstGeom prst="roundRect">
            <a:avLst>
              <a:gd name="adj" fmla="val 898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32" name="icon-dna-amber-298" descr="C:\Users\hares\AppData\Local\Temp\claude\C--Users-hares-Downloads-distributed-proj\b8b70322-b8bd-48b7-a531-3815c955f6d1\scratchpad\deck\assets\icon-dna-amber.png"/>
          <p:cNvPicPr>
            <a:picLocks noChangeAspect="1"/>
          </p:cNvPicPr>
          <p:nvPr/>
        </p:nvPicPr>
        <p:blipFill>
          <a:blip r:embed="rId10"/>
          <a:stretch>
            <a:fillRect/>
          </a:stretch>
        </p:blipFill>
        <p:spPr>
          <a:xfrm>
            <a:off x="9308592" y="4206240"/>
            <a:ext cx="566928" cy="566928"/>
          </a:xfrm>
          <a:prstGeom prst="rect">
            <a:avLst/>
          </a:prstGeom>
        </p:spPr>
      </p:pic>
      <p:sp>
        <p:nvSpPr>
          <p:cNvPr id="33" name="text-299"/>
          <p:cNvSpPr txBox="1"/>
          <p:nvPr/>
        </p:nvSpPr>
        <p:spPr>
          <a:xfrm>
            <a:off x="10012680" y="4160520"/>
            <a:ext cx="1371600" cy="658368"/>
          </a:xfrm>
          <a:prstGeom prst="rect">
            <a:avLst/>
          </a:prstGeom>
          <a:noFill/>
          <a:ln/>
        </p:spPr>
        <p:txBody>
          <a:bodyPr wrap="square" lIns="0" tIns="0" rIns="0" bIns="0" rtlCol="0" anchor="ctr"/>
          <a:lstStyle/>
          <a:p>
            <a:pPr marL="0" indent="0">
              <a:buNone/>
            </a:pPr>
            <a:r>
              <a:rPr lang="en-US" sz="1500" b="1" dirty="0">
                <a:solidFill>
                  <a:schemeClr val="tx1"/>
                </a:solidFill>
              </a:rPr>
              <a:t>Mutation testing</a:t>
            </a:r>
            <a:endParaRPr lang="en-US" sz="1500" dirty="0"/>
          </a:p>
        </p:txBody>
      </p:sp>
      <p:sp>
        <p:nvSpPr>
          <p:cNvPr id="34" name="text-300"/>
          <p:cNvSpPr txBox="1"/>
          <p:nvPr/>
        </p:nvSpPr>
        <p:spPr>
          <a:xfrm>
            <a:off x="9308592" y="5029200"/>
            <a:ext cx="2048256" cy="1005840"/>
          </a:xfrm>
          <a:prstGeom prst="rect">
            <a:avLst/>
          </a:prstGeom>
          <a:noFill/>
          <a:ln/>
        </p:spPr>
        <p:txBody>
          <a:bodyPr wrap="square" lIns="0" tIns="0" rIns="0" bIns="0" rtlCol="0" anchor="t"/>
          <a:lstStyle/>
          <a:p>
            <a:pPr marL="0" indent="0">
              <a:buNone/>
            </a:pPr>
            <a:r>
              <a:rPr lang="en-US" sz="1300" dirty="0">
                <a:solidFill>
                  <a:schemeClr val="tx2"/>
                </a:solidFill>
              </a:rPr>
              <a:t>486 injected bugs; survivors drove 15 new tests</a:t>
            </a:r>
            <a:endParaRPr lang="en-US" sz="1300" dirty="0"/>
          </a:p>
        </p:txBody>
      </p:sp>
      <p:sp>
        <p:nvSpPr>
          <p:cNvPr id="3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Results: every exit criterion met</a:t>
            </a:r>
            <a:endParaRPr lang="en-US" sz="3000" dirty="0"/>
          </a:p>
        </p:txBody>
      </p:sp>
      <p:sp>
        <p:nvSpPr>
          <p:cNvPr id="3" name="glass-301"/>
          <p:cNvSpPr/>
          <p:nvPr/>
        </p:nvSpPr>
        <p:spPr>
          <a:xfrm>
            <a:off x="548640" y="1463040"/>
            <a:ext cx="2560320" cy="2377440"/>
          </a:xfrm>
          <a:prstGeom prst="roundRect">
            <a:avLst>
              <a:gd name="adj" fmla="val 846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4" name="text-302"/>
          <p:cNvSpPr txBox="1"/>
          <p:nvPr/>
        </p:nvSpPr>
        <p:spPr>
          <a:xfrm>
            <a:off x="822960" y="2093976"/>
            <a:ext cx="2011680" cy="658368"/>
          </a:xfrm>
          <a:prstGeom prst="rect">
            <a:avLst/>
          </a:prstGeom>
          <a:noFill/>
          <a:ln/>
        </p:spPr>
        <p:txBody>
          <a:bodyPr wrap="square" lIns="0" tIns="0" rIns="0" bIns="0" rtlCol="0" anchor="ctr"/>
          <a:lstStyle/>
          <a:p>
            <a:pPr marL="0" indent="0">
              <a:buNone/>
            </a:pPr>
            <a:r>
              <a:rPr lang="en-US" sz="3600" b="1" dirty="0">
                <a:solidFill>
                  <a:schemeClr val="accent1"/>
                </a:solidFill>
              </a:rPr>
              <a:t>281/281</a:t>
            </a:r>
            <a:endParaRPr lang="en-US" sz="3600" dirty="0"/>
          </a:p>
        </p:txBody>
      </p:sp>
      <p:sp>
        <p:nvSpPr>
          <p:cNvPr id="5" name="text-303"/>
          <p:cNvSpPr txBox="1"/>
          <p:nvPr/>
        </p:nvSpPr>
        <p:spPr>
          <a:xfrm>
            <a:off x="822960" y="2770632"/>
            <a:ext cx="2011680" cy="457200"/>
          </a:xfrm>
          <a:prstGeom prst="rect">
            <a:avLst/>
          </a:prstGeom>
          <a:noFill/>
          <a:ln/>
        </p:spPr>
        <p:txBody>
          <a:bodyPr wrap="square" lIns="0" tIns="0" rIns="0" bIns="0" rtlCol="0" anchor="t"/>
          <a:lstStyle/>
          <a:p>
            <a:pPr marL="0" indent="0">
              <a:buNone/>
            </a:pPr>
            <a:r>
              <a:rPr lang="en-US" sz="1250" dirty="0">
                <a:solidFill>
                  <a:schemeClr val="tx2"/>
                </a:solidFill>
              </a:rPr>
              <a:t>automated tests passing</a:t>
            </a:r>
            <a:endParaRPr lang="en-US" sz="1250" dirty="0"/>
          </a:p>
        </p:txBody>
      </p:sp>
      <p:sp>
        <p:nvSpPr>
          <p:cNvPr id="6" name="glass-304"/>
          <p:cNvSpPr/>
          <p:nvPr/>
        </p:nvSpPr>
        <p:spPr>
          <a:xfrm>
            <a:off x="3383280" y="1463040"/>
            <a:ext cx="2560320" cy="2377440"/>
          </a:xfrm>
          <a:prstGeom prst="roundRect">
            <a:avLst>
              <a:gd name="adj" fmla="val 846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7" name="text-305"/>
          <p:cNvSpPr txBox="1"/>
          <p:nvPr/>
        </p:nvSpPr>
        <p:spPr>
          <a:xfrm>
            <a:off x="3657600" y="2093976"/>
            <a:ext cx="2011680" cy="658368"/>
          </a:xfrm>
          <a:prstGeom prst="rect">
            <a:avLst/>
          </a:prstGeom>
          <a:noFill/>
          <a:ln/>
        </p:spPr>
        <p:txBody>
          <a:bodyPr wrap="square" lIns="0" tIns="0" rIns="0" bIns="0" rtlCol="0" anchor="ctr"/>
          <a:lstStyle/>
          <a:p>
            <a:pPr marL="0" indent="0">
              <a:buNone/>
            </a:pPr>
            <a:r>
              <a:rPr lang="en-US" sz="3600" b="1" dirty="0">
                <a:solidFill>
                  <a:schemeClr val="accent2"/>
                </a:solidFill>
              </a:rPr>
              <a:t>98.4%</a:t>
            </a:r>
            <a:endParaRPr lang="en-US" sz="3600" dirty="0"/>
          </a:p>
        </p:txBody>
      </p:sp>
      <p:sp>
        <p:nvSpPr>
          <p:cNvPr id="8" name="text-306"/>
          <p:cNvSpPr txBox="1"/>
          <p:nvPr/>
        </p:nvSpPr>
        <p:spPr>
          <a:xfrm>
            <a:off x="3657600" y="2770632"/>
            <a:ext cx="2011680" cy="457200"/>
          </a:xfrm>
          <a:prstGeom prst="rect">
            <a:avLst/>
          </a:prstGeom>
          <a:noFill/>
          <a:ln/>
        </p:spPr>
        <p:txBody>
          <a:bodyPr wrap="square" lIns="0" tIns="0" rIns="0" bIns="0" rtlCol="0" anchor="t"/>
          <a:lstStyle/>
          <a:p>
            <a:pPr marL="0" indent="0">
              <a:buNone/>
            </a:pPr>
            <a:r>
              <a:rPr lang="en-US" sz="1250" dirty="0">
                <a:solidFill>
                  <a:schemeClr val="tx2"/>
                </a:solidFill>
              </a:rPr>
              <a:t>line coverage (target 80%)</a:t>
            </a:r>
            <a:endParaRPr lang="en-US" sz="1250" dirty="0"/>
          </a:p>
        </p:txBody>
      </p:sp>
      <p:sp>
        <p:nvSpPr>
          <p:cNvPr id="9" name="glass-307"/>
          <p:cNvSpPr/>
          <p:nvPr/>
        </p:nvSpPr>
        <p:spPr>
          <a:xfrm>
            <a:off x="6217920" y="1463040"/>
            <a:ext cx="2560320" cy="2377440"/>
          </a:xfrm>
          <a:prstGeom prst="roundRect">
            <a:avLst>
              <a:gd name="adj" fmla="val 846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0" name="text-308"/>
          <p:cNvSpPr txBox="1"/>
          <p:nvPr/>
        </p:nvSpPr>
        <p:spPr>
          <a:xfrm>
            <a:off x="6492240" y="2093976"/>
            <a:ext cx="2011680" cy="658368"/>
          </a:xfrm>
          <a:prstGeom prst="rect">
            <a:avLst/>
          </a:prstGeom>
          <a:noFill/>
          <a:ln/>
        </p:spPr>
        <p:txBody>
          <a:bodyPr wrap="square" lIns="0" tIns="0" rIns="0" bIns="0" rtlCol="0" anchor="ctr"/>
          <a:lstStyle/>
          <a:p>
            <a:pPr marL="0" indent="0">
              <a:buNone/>
            </a:pPr>
            <a:r>
              <a:rPr lang="en-US" sz="3600" b="1" dirty="0">
                <a:solidFill>
                  <a:schemeClr val="accent3"/>
                </a:solidFill>
              </a:rPr>
              <a:t>96.5%</a:t>
            </a:r>
            <a:endParaRPr lang="en-US" sz="3600" dirty="0"/>
          </a:p>
        </p:txBody>
      </p:sp>
      <p:sp>
        <p:nvSpPr>
          <p:cNvPr id="11" name="text-309"/>
          <p:cNvSpPr txBox="1"/>
          <p:nvPr/>
        </p:nvSpPr>
        <p:spPr>
          <a:xfrm>
            <a:off x="6492240" y="2770632"/>
            <a:ext cx="2011680" cy="457200"/>
          </a:xfrm>
          <a:prstGeom prst="rect">
            <a:avLst/>
          </a:prstGeom>
          <a:noFill/>
          <a:ln/>
        </p:spPr>
        <p:txBody>
          <a:bodyPr wrap="square" lIns="0" tIns="0" rIns="0" bIns="0" rtlCol="0" anchor="t"/>
          <a:lstStyle/>
          <a:p>
            <a:pPr marL="0" indent="0">
              <a:buNone/>
            </a:pPr>
            <a:r>
              <a:rPr lang="en-US" sz="1250" dirty="0">
                <a:solidFill>
                  <a:schemeClr val="tx2"/>
                </a:solidFill>
              </a:rPr>
              <a:t>mutation score (target 85%)</a:t>
            </a:r>
            <a:endParaRPr lang="en-US" sz="1250" dirty="0"/>
          </a:p>
        </p:txBody>
      </p:sp>
      <p:sp>
        <p:nvSpPr>
          <p:cNvPr id="12" name="glass-310"/>
          <p:cNvSpPr/>
          <p:nvPr/>
        </p:nvSpPr>
        <p:spPr>
          <a:xfrm>
            <a:off x="9052560" y="1463040"/>
            <a:ext cx="2560320" cy="2377440"/>
          </a:xfrm>
          <a:prstGeom prst="roundRect">
            <a:avLst>
              <a:gd name="adj" fmla="val 8462"/>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3" name="text-311"/>
          <p:cNvSpPr txBox="1"/>
          <p:nvPr/>
        </p:nvSpPr>
        <p:spPr>
          <a:xfrm>
            <a:off x="9326880" y="2093976"/>
            <a:ext cx="2011680" cy="658368"/>
          </a:xfrm>
          <a:prstGeom prst="rect">
            <a:avLst/>
          </a:prstGeom>
          <a:noFill/>
          <a:ln/>
        </p:spPr>
        <p:txBody>
          <a:bodyPr wrap="square" lIns="0" tIns="0" rIns="0" bIns="0" rtlCol="0" anchor="ctr"/>
          <a:lstStyle/>
          <a:p>
            <a:pPr marL="0" indent="0">
              <a:buNone/>
            </a:pPr>
            <a:r>
              <a:rPr lang="en-US" sz="3600" b="1" dirty="0">
                <a:solidFill>
                  <a:schemeClr val="accent5"/>
                </a:solidFill>
              </a:rPr>
              <a:t>0 / 0</a:t>
            </a:r>
            <a:endParaRPr lang="en-US" sz="3600" dirty="0"/>
          </a:p>
        </p:txBody>
      </p:sp>
      <p:sp>
        <p:nvSpPr>
          <p:cNvPr id="14" name="text-312"/>
          <p:cNvSpPr txBox="1"/>
          <p:nvPr/>
        </p:nvSpPr>
        <p:spPr>
          <a:xfrm>
            <a:off x="9326880" y="2770632"/>
            <a:ext cx="2011680" cy="457200"/>
          </a:xfrm>
          <a:prstGeom prst="rect">
            <a:avLst/>
          </a:prstGeom>
          <a:noFill/>
          <a:ln/>
        </p:spPr>
        <p:txBody>
          <a:bodyPr wrap="square" lIns="0" tIns="0" rIns="0" bIns="0" rtlCol="0" anchor="t"/>
          <a:lstStyle/>
          <a:p>
            <a:pPr marL="0" indent="0">
              <a:buNone/>
            </a:pPr>
            <a:r>
              <a:rPr lang="en-US" sz="1250" dirty="0">
                <a:solidFill>
                  <a:schemeClr val="tx2"/>
                </a:solidFill>
              </a:rPr>
              <a:t>writes lost / duplicated under chaos</a:t>
            </a:r>
            <a:endParaRPr lang="en-US" sz="1250" dirty="0"/>
          </a:p>
        </p:txBody>
      </p:sp>
      <p:sp>
        <p:nvSpPr>
          <p:cNvPr id="15" name="glass-313"/>
          <p:cNvSpPr/>
          <p:nvPr/>
        </p:nvSpPr>
        <p:spPr>
          <a:xfrm>
            <a:off x="548640" y="4114800"/>
            <a:ext cx="3502152" cy="2011680"/>
          </a:xfrm>
          <a:prstGeom prst="roundRect">
            <a:avLst>
              <a:gd name="adj" fmla="val 1000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6" name="text-314"/>
          <p:cNvSpPr txBox="1"/>
          <p:nvPr/>
        </p:nvSpPr>
        <p:spPr>
          <a:xfrm>
            <a:off x="822960" y="4343400"/>
            <a:ext cx="2926080" cy="731520"/>
          </a:xfrm>
          <a:prstGeom prst="rect">
            <a:avLst/>
          </a:prstGeom>
          <a:noFill/>
          <a:ln/>
        </p:spPr>
        <p:txBody>
          <a:bodyPr wrap="square" lIns="0" tIns="0" rIns="0" bIns="0" rtlCol="0" anchor="ctr"/>
          <a:lstStyle/>
          <a:p>
            <a:pPr marL="0" indent="0">
              <a:buNone/>
            </a:pPr>
            <a:r>
              <a:rPr lang="en-US" sz="3200" b="1" dirty="0">
                <a:solidFill>
                  <a:schemeClr val="tx1"/>
                </a:solidFill>
              </a:rPr>
              <a:t>89.0%</a:t>
            </a:r>
            <a:endParaRPr lang="en-US" sz="3200" dirty="0"/>
          </a:p>
        </p:txBody>
      </p:sp>
      <p:sp>
        <p:nvSpPr>
          <p:cNvPr id="17" name="text-315"/>
          <p:cNvSpPr txBox="1"/>
          <p:nvPr/>
        </p:nvSpPr>
        <p:spPr>
          <a:xfrm>
            <a:off x="822960" y="5120640"/>
            <a:ext cx="2926080" cy="731520"/>
          </a:xfrm>
          <a:prstGeom prst="rect">
            <a:avLst/>
          </a:prstGeom>
          <a:noFill/>
          <a:ln/>
        </p:spPr>
        <p:txBody>
          <a:bodyPr wrap="square" lIns="0" tIns="0" rIns="0" bIns="0" rtlCol="0" anchor="t"/>
          <a:lstStyle/>
          <a:p>
            <a:pPr marL="0" indent="0">
              <a:buNone/>
            </a:pPr>
            <a:r>
              <a:rPr lang="en-US" sz="1300" dirty="0">
                <a:solidFill>
                  <a:schemeClr val="tx2"/>
                </a:solidFill>
              </a:rPr>
              <a:t>branch coverage (target 70%)</a:t>
            </a:r>
            <a:endParaRPr lang="en-US" sz="1300" dirty="0"/>
          </a:p>
        </p:txBody>
      </p:sp>
      <p:sp>
        <p:nvSpPr>
          <p:cNvPr id="18" name="glass-316"/>
          <p:cNvSpPr/>
          <p:nvPr/>
        </p:nvSpPr>
        <p:spPr>
          <a:xfrm>
            <a:off x="4325112" y="4114800"/>
            <a:ext cx="3502152" cy="2011680"/>
          </a:xfrm>
          <a:prstGeom prst="roundRect">
            <a:avLst>
              <a:gd name="adj" fmla="val 1000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9" name="text-317"/>
          <p:cNvSpPr txBox="1"/>
          <p:nvPr/>
        </p:nvSpPr>
        <p:spPr>
          <a:xfrm>
            <a:off x="4599432" y="4343400"/>
            <a:ext cx="2926080" cy="731520"/>
          </a:xfrm>
          <a:prstGeom prst="rect">
            <a:avLst/>
          </a:prstGeom>
          <a:noFill/>
          <a:ln/>
        </p:spPr>
        <p:txBody>
          <a:bodyPr wrap="square" lIns="0" tIns="0" rIns="0" bIns="0" rtlCol="0" anchor="ctr"/>
          <a:lstStyle/>
          <a:p>
            <a:pPr marL="0" indent="0">
              <a:buNone/>
            </a:pPr>
            <a:r>
              <a:rPr lang="en-US" sz="3200" b="1" dirty="0">
                <a:solidFill>
                  <a:schemeClr val="tx1"/>
                </a:solidFill>
              </a:rPr>
              <a:t>0</a:t>
            </a:r>
            <a:endParaRPr lang="en-US" sz="3200" dirty="0"/>
          </a:p>
        </p:txBody>
      </p:sp>
      <p:sp>
        <p:nvSpPr>
          <p:cNvPr id="20" name="text-318"/>
          <p:cNvSpPr txBox="1"/>
          <p:nvPr/>
        </p:nvSpPr>
        <p:spPr>
          <a:xfrm>
            <a:off x="4599432" y="5120640"/>
            <a:ext cx="2926080" cy="731520"/>
          </a:xfrm>
          <a:prstGeom prst="rect">
            <a:avLst/>
          </a:prstGeom>
          <a:noFill/>
          <a:ln/>
        </p:spPr>
        <p:txBody>
          <a:bodyPr wrap="square" lIns="0" tIns="0" rIns="0" bIns="0" rtlCol="0" anchor="t"/>
          <a:lstStyle/>
          <a:p>
            <a:pPr marL="0" indent="0">
              <a:buNone/>
            </a:pPr>
            <a:r>
              <a:rPr lang="en-US" sz="1300" dirty="0">
                <a:solidFill>
                  <a:schemeClr val="tx2"/>
                </a:solidFill>
              </a:rPr>
              <a:t>client errors during leader failover under load</a:t>
            </a:r>
            <a:endParaRPr lang="en-US" sz="1300" dirty="0"/>
          </a:p>
        </p:txBody>
      </p:sp>
      <p:sp>
        <p:nvSpPr>
          <p:cNvPr id="21" name="glass-319"/>
          <p:cNvSpPr/>
          <p:nvPr/>
        </p:nvSpPr>
        <p:spPr>
          <a:xfrm>
            <a:off x="8101584" y="4114800"/>
            <a:ext cx="3502152" cy="2011680"/>
          </a:xfrm>
          <a:prstGeom prst="roundRect">
            <a:avLst>
              <a:gd name="adj" fmla="val 1000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22" name="text-320"/>
          <p:cNvSpPr txBox="1"/>
          <p:nvPr/>
        </p:nvSpPr>
        <p:spPr>
          <a:xfrm>
            <a:off x="8375904" y="4343400"/>
            <a:ext cx="2926080" cy="731520"/>
          </a:xfrm>
          <a:prstGeom prst="rect">
            <a:avLst/>
          </a:prstGeom>
          <a:noFill/>
          <a:ln/>
        </p:spPr>
        <p:txBody>
          <a:bodyPr wrap="square" lIns="0" tIns="0" rIns="0" bIns="0" rtlCol="0" anchor="ctr"/>
          <a:lstStyle/>
          <a:p>
            <a:pPr marL="0" indent="0">
              <a:buNone/>
            </a:pPr>
            <a:r>
              <a:rPr lang="en-US" sz="3200" b="1" dirty="0">
                <a:solidFill>
                  <a:schemeClr val="tx1"/>
                </a:solidFill>
              </a:rPr>
              <a:t>14</a:t>
            </a:r>
            <a:endParaRPr lang="en-US" sz="3200" dirty="0"/>
          </a:p>
        </p:txBody>
      </p:sp>
      <p:sp>
        <p:nvSpPr>
          <p:cNvPr id="23" name="text-321"/>
          <p:cNvSpPr txBox="1"/>
          <p:nvPr/>
        </p:nvSpPr>
        <p:spPr>
          <a:xfrm>
            <a:off x="8375904" y="5120640"/>
            <a:ext cx="2926080" cy="731520"/>
          </a:xfrm>
          <a:prstGeom prst="rect">
            <a:avLst/>
          </a:prstGeom>
          <a:noFill/>
          <a:ln/>
        </p:spPr>
        <p:txBody>
          <a:bodyPr wrap="square" lIns="0" tIns="0" rIns="0" bIns="0" rtlCol="0" anchor="t"/>
          <a:lstStyle/>
          <a:p>
            <a:pPr marL="0" indent="0">
              <a:buNone/>
            </a:pPr>
            <a:r>
              <a:rPr lang="en-US" sz="1300" dirty="0">
                <a:solidFill>
                  <a:schemeClr val="tx2"/>
                </a:solidFill>
              </a:rPr>
              <a:t>defects found by testing, all fixed</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Mutation testing raised test strength from 84% to 96.5%</a:t>
            </a:r>
            <a:endParaRPr lang="en-US" sz="3000" dirty="0"/>
          </a:p>
        </p:txBody>
      </p:sp>
      <p:sp>
        <p:nvSpPr>
          <p:cNvPr id="3" name="mutation-chart-322"/>
          <p:cNvSpPr/>
          <p:nvPr/>
        </p:nvSpPr>
        <p:spPr>
          <a:xfrm>
            <a:off x="548640" y="1417320"/>
            <a:ext cx="704088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graphicFrame>
        <p:nvGraphicFramePr>
          <p:cNvPr id="4" name="Chart 0"/>
          <p:cNvGraphicFramePr/>
          <p:nvPr/>
        </p:nvGraphicFramePr>
        <p:xfrm>
          <a:off x="685800" y="1600200"/>
          <a:ext cx="676656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findings-323"/>
          <p:cNvSpPr/>
          <p:nvPr/>
        </p:nvSpPr>
        <p:spPr>
          <a:xfrm>
            <a:off x="7863840" y="1417320"/>
            <a:ext cx="3749040" cy="4754880"/>
          </a:xfrm>
          <a:prstGeom prst="roundRect">
            <a:avLst>
              <a:gd name="adj" fmla="val 5366"/>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6" name="text-324"/>
          <p:cNvSpPr txBox="1"/>
          <p:nvPr/>
        </p:nvSpPr>
        <p:spPr>
          <a:xfrm>
            <a:off x="8138160" y="1645920"/>
            <a:ext cx="3200400" cy="685800"/>
          </a:xfrm>
          <a:prstGeom prst="rect">
            <a:avLst/>
          </a:prstGeom>
          <a:noFill/>
          <a:ln/>
        </p:spPr>
        <p:txBody>
          <a:bodyPr wrap="square" lIns="0" tIns="0" rIns="0" bIns="0" rtlCol="0" anchor="t"/>
          <a:lstStyle/>
          <a:p>
            <a:pPr marL="0" indent="0">
              <a:buNone/>
            </a:pPr>
            <a:r>
              <a:rPr lang="en-US" sz="1600" b="1" dirty="0">
                <a:solidFill>
                  <a:schemeClr val="tx1"/>
                </a:solidFill>
              </a:rPr>
              <a:t>What the surviving mutants revealed</a:t>
            </a:r>
            <a:endParaRPr lang="en-US" sz="1600" dirty="0"/>
          </a:p>
        </p:txBody>
      </p:sp>
      <p:sp>
        <p:nvSpPr>
          <p:cNvPr id="7" name="text-325"/>
          <p:cNvSpPr txBox="1"/>
          <p:nvPr/>
        </p:nvSpPr>
        <p:spPr>
          <a:xfrm>
            <a:off x="8138160" y="2423160"/>
            <a:ext cx="3246120" cy="29260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A property test that passed even when node removal did nothing</a:t>
            </a:r>
            <a:endParaRPr lang="en-US" sz="1300" dirty="0"/>
          </a:p>
          <a:p>
            <a:pPr marL="342900" indent="-342900">
              <a:spcAft>
                <a:spcPts val="800"/>
              </a:spcAft>
              <a:buSzPct val="100000"/>
              <a:buChar char="•"/>
            </a:pPr>
            <a:r>
              <a:rPr lang="en-US" sz="1300" dirty="0">
                <a:solidFill>
                  <a:schemeClr val="tx1"/>
                </a:solidFill>
              </a:rPr>
              <a:t>Clocks starting at 0 hid now − t vs now + t bugs</a:t>
            </a:r>
            <a:endParaRPr lang="en-US" sz="1300" dirty="0"/>
          </a:p>
          <a:p>
            <a:pPr marL="342900" indent="-342900">
              <a:spcAft>
                <a:spcPts val="800"/>
              </a:spcAft>
              <a:buSzPct val="100000"/>
              <a:buChar char="•"/>
            </a:pPr>
            <a:r>
              <a:rPr lang="en-US" sz="1300" dirty="0">
                <a:solidFill>
                  <a:schemeClr val="tx1"/>
                </a:solidFill>
              </a:rPr>
              <a:t>Untested exact boundaries: hash position, cache expiry</a:t>
            </a:r>
            <a:endParaRPr lang="en-US" sz="1300" dirty="0"/>
          </a:p>
          <a:p>
            <a:pPr marL="342900" indent="-342900">
              <a:spcAft>
                <a:spcPts val="800"/>
              </a:spcAft>
              <a:buSzPct val="100000"/>
              <a:buChar char="•"/>
            </a:pPr>
            <a:r>
              <a:rPr lang="en-US" sz="1300" dirty="0">
                <a:solidFill>
                  <a:schemeClr val="tx1"/>
                </a:solidFill>
              </a:rPr>
              <a:t>A real circuit-breaker flaw (DEF-08)</a:t>
            </a:r>
            <a:endParaRPr lang="en-US" sz="1300" dirty="0"/>
          </a:p>
        </p:txBody>
      </p:sp>
      <p:sp>
        <p:nvSpPr>
          <p:cNvPr id="8" name="text-326"/>
          <p:cNvSpPr txBox="1"/>
          <p:nvPr/>
        </p:nvSpPr>
        <p:spPr>
          <a:xfrm>
            <a:off x="8138160" y="5349240"/>
            <a:ext cx="3200400" cy="640080"/>
          </a:xfrm>
          <a:prstGeom prst="rect">
            <a:avLst/>
          </a:prstGeom>
          <a:noFill/>
          <a:ln/>
        </p:spPr>
        <p:txBody>
          <a:bodyPr wrap="square" lIns="0" tIns="0" rIns="0" bIns="0" rtlCol="0" anchor="t"/>
          <a:lstStyle/>
          <a:p>
            <a:pPr marL="0" indent="0">
              <a:buNone/>
            </a:pPr>
            <a:r>
              <a:rPr lang="en-US" sz="1200" b="1" dirty="0">
                <a:solidFill>
                  <a:schemeClr val="accent1"/>
                </a:solidFill>
              </a:rPr>
              <a:t>At 98% line coverage, coverage alone overstated test quality.</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Chaos and load: no lost writes, no client errors</a:t>
            </a:r>
            <a:endParaRPr lang="en-US" sz="3000" dirty="0"/>
          </a:p>
        </p:txBody>
      </p:sp>
      <p:sp>
        <p:nvSpPr>
          <p:cNvPr id="3" name="chaos-327"/>
          <p:cNvSpPr/>
          <p:nvPr/>
        </p:nvSpPr>
        <p:spPr>
          <a:xfrm>
            <a:off x="548640" y="1417320"/>
            <a:ext cx="4480560" cy="4754880"/>
          </a:xfrm>
          <a:prstGeom prst="roundRect">
            <a:avLst>
              <a:gd name="adj" fmla="val 449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pic>
        <p:nvPicPr>
          <p:cNvPr id="4" name="icon-bomb-rose-328" descr="C:\Users\hares\AppData\Local\Temp\claude\C--Users-hares-Downloads-distributed-proj\b8b70322-b8bd-48b7-a531-3815c955f6d1\scratchpad\deck\assets\icon-bomb-rose.png"/>
          <p:cNvPicPr>
            <a:picLocks noChangeAspect="1"/>
          </p:cNvPicPr>
          <p:nvPr/>
        </p:nvPicPr>
        <p:blipFill>
          <a:blip r:embed="rId3"/>
          <a:stretch>
            <a:fillRect/>
          </a:stretch>
        </p:blipFill>
        <p:spPr>
          <a:xfrm>
            <a:off x="822960" y="1645920"/>
            <a:ext cx="502920" cy="502920"/>
          </a:xfrm>
          <a:prstGeom prst="rect">
            <a:avLst/>
          </a:prstGeom>
        </p:spPr>
      </p:pic>
      <p:sp>
        <p:nvSpPr>
          <p:cNvPr id="5" name="text-329"/>
          <p:cNvSpPr txBox="1"/>
          <p:nvPr/>
        </p:nvSpPr>
        <p:spPr>
          <a:xfrm>
            <a:off x="1463040" y="1691640"/>
            <a:ext cx="3383280" cy="411480"/>
          </a:xfrm>
          <a:prstGeom prst="rect">
            <a:avLst/>
          </a:prstGeom>
          <a:noFill/>
          <a:ln/>
        </p:spPr>
        <p:txBody>
          <a:bodyPr wrap="square" lIns="0" tIns="0" rIns="0" bIns="0" rtlCol="0" anchor="ctr"/>
          <a:lstStyle/>
          <a:p>
            <a:pPr marL="0" indent="0">
              <a:buNone/>
            </a:pPr>
            <a:r>
              <a:rPr lang="en-US" sz="1600" b="1" dirty="0">
                <a:solidFill>
                  <a:schemeClr val="tx1"/>
                </a:solidFill>
              </a:rPr>
              <a:t>Jepsen-style chaos test</a:t>
            </a:r>
            <a:endParaRPr lang="en-US" sz="1600" dirty="0"/>
          </a:p>
        </p:txBody>
      </p:sp>
      <p:sp>
        <p:nvSpPr>
          <p:cNvPr id="6" name="text-330"/>
          <p:cNvSpPr txBox="1"/>
          <p:nvPr/>
        </p:nvSpPr>
        <p:spPr>
          <a:xfrm>
            <a:off x="822960" y="2286000"/>
            <a:ext cx="3931920" cy="822960"/>
          </a:xfrm>
          <a:prstGeom prst="rect">
            <a:avLst/>
          </a:prstGeom>
          <a:noFill/>
          <a:ln/>
        </p:spPr>
        <p:txBody>
          <a:bodyPr wrap="square" lIns="0" tIns="0" rIns="0" bIns="0" rtlCol="0" anchor="t"/>
          <a:lstStyle/>
          <a:p>
            <a:pPr marL="0" indent="0">
              <a:buNone/>
            </a:pPr>
            <a:r>
              <a:rPr lang="en-US" sz="1300" dirty="0">
                <a:solidFill>
                  <a:schemeClr val="tx2"/>
                </a:solidFill>
              </a:rPr>
              <a:t>3 clients × 25 writes while a nemesis killed the leader 3 times and partitioned a follower.</a:t>
            </a:r>
            <a:endParaRPr lang="en-US" sz="1300" dirty="0"/>
          </a:p>
        </p:txBody>
      </p:sp>
      <p:sp>
        <p:nvSpPr>
          <p:cNvPr id="7" name="text-331"/>
          <p:cNvSpPr txBox="1"/>
          <p:nvPr/>
        </p:nvSpPr>
        <p:spPr>
          <a:xfrm>
            <a:off x="822960" y="3246120"/>
            <a:ext cx="1828800" cy="822960"/>
          </a:xfrm>
          <a:prstGeom prst="rect">
            <a:avLst/>
          </a:prstGeom>
          <a:noFill/>
          <a:ln/>
        </p:spPr>
        <p:txBody>
          <a:bodyPr wrap="square" lIns="0" tIns="0" rIns="0" bIns="0" rtlCol="0" anchor="t"/>
          <a:lstStyle/>
          <a:p>
            <a:pPr marL="0" indent="0">
              <a:buNone/>
            </a:pPr>
            <a:r>
              <a:rPr lang="en-US" sz="2200" b="1" dirty="0">
                <a:solidFill>
                  <a:schemeClr val="accent1"/>
                </a:solidFill>
              </a:rPr>
              <a:t>75 / 75</a:t>
            </a:r>
            <a:endParaRPr lang="en-US" sz="1400" dirty="0"/>
          </a:p>
          <a:p>
            <a:pPr marL="0" indent="0">
              <a:buNone/>
            </a:pPr>
            <a:r>
              <a:rPr lang="en-US" sz="1200" dirty="0">
                <a:solidFill>
                  <a:schemeClr val="tx2"/>
                </a:solidFill>
              </a:rPr>
              <a:t>acknowledged</a:t>
            </a:r>
            <a:endParaRPr lang="en-US" sz="1400" dirty="0"/>
          </a:p>
        </p:txBody>
      </p:sp>
      <p:sp>
        <p:nvSpPr>
          <p:cNvPr id="8" name="text-332"/>
          <p:cNvSpPr txBox="1"/>
          <p:nvPr/>
        </p:nvSpPr>
        <p:spPr>
          <a:xfrm>
            <a:off x="2834640" y="3246120"/>
            <a:ext cx="1828800" cy="822960"/>
          </a:xfrm>
          <a:prstGeom prst="rect">
            <a:avLst/>
          </a:prstGeom>
          <a:noFill/>
          <a:ln/>
        </p:spPr>
        <p:txBody>
          <a:bodyPr wrap="square" lIns="0" tIns="0" rIns="0" bIns="0" rtlCol="0" anchor="t"/>
          <a:lstStyle/>
          <a:p>
            <a:pPr marL="0" indent="0">
              <a:buNone/>
            </a:pPr>
            <a:r>
              <a:rPr lang="en-US" sz="2200" b="1" dirty="0">
                <a:solidFill>
                  <a:schemeClr val="accent1"/>
                </a:solidFill>
              </a:rPr>
              <a:t>0</a:t>
            </a:r>
            <a:endParaRPr lang="en-US" sz="1400" dirty="0"/>
          </a:p>
          <a:p>
            <a:pPr marL="0" indent="0">
              <a:buNone/>
            </a:pPr>
            <a:r>
              <a:rPr lang="en-US" sz="1200" dirty="0">
                <a:solidFill>
                  <a:schemeClr val="tx2"/>
                </a:solidFill>
              </a:rPr>
              <a:t>lost</a:t>
            </a:r>
            <a:endParaRPr lang="en-US" sz="1400" dirty="0"/>
          </a:p>
        </p:txBody>
      </p:sp>
      <p:sp>
        <p:nvSpPr>
          <p:cNvPr id="9" name="text-333"/>
          <p:cNvSpPr txBox="1"/>
          <p:nvPr/>
        </p:nvSpPr>
        <p:spPr>
          <a:xfrm>
            <a:off x="822960" y="4160520"/>
            <a:ext cx="1828800" cy="822960"/>
          </a:xfrm>
          <a:prstGeom prst="rect">
            <a:avLst/>
          </a:prstGeom>
          <a:noFill/>
          <a:ln/>
        </p:spPr>
        <p:txBody>
          <a:bodyPr wrap="square" lIns="0" tIns="0" rIns="0" bIns="0" rtlCol="0" anchor="t"/>
          <a:lstStyle/>
          <a:p>
            <a:pPr marL="0" indent="0">
              <a:buNone/>
            </a:pPr>
            <a:r>
              <a:rPr lang="en-US" sz="2200" b="1" dirty="0">
                <a:solidFill>
                  <a:schemeClr val="accent1"/>
                </a:solidFill>
              </a:rPr>
              <a:t>0</a:t>
            </a:r>
            <a:endParaRPr lang="en-US" sz="1400" dirty="0"/>
          </a:p>
          <a:p>
            <a:pPr marL="0" indent="0">
              <a:buNone/>
            </a:pPr>
            <a:r>
              <a:rPr lang="en-US" sz="1200" dirty="0">
                <a:solidFill>
                  <a:schemeClr val="tx2"/>
                </a:solidFill>
              </a:rPr>
              <a:t>duplicated</a:t>
            </a:r>
            <a:endParaRPr lang="en-US" sz="1400" dirty="0"/>
          </a:p>
        </p:txBody>
      </p:sp>
      <p:sp>
        <p:nvSpPr>
          <p:cNvPr id="10" name="text-334"/>
          <p:cNvSpPr txBox="1"/>
          <p:nvPr/>
        </p:nvSpPr>
        <p:spPr>
          <a:xfrm>
            <a:off x="2834640" y="4160520"/>
            <a:ext cx="1828800" cy="822960"/>
          </a:xfrm>
          <a:prstGeom prst="rect">
            <a:avLst/>
          </a:prstGeom>
          <a:noFill/>
          <a:ln/>
        </p:spPr>
        <p:txBody>
          <a:bodyPr wrap="square" lIns="0" tIns="0" rIns="0" bIns="0" rtlCol="0" anchor="t"/>
          <a:lstStyle/>
          <a:p>
            <a:pPr marL="0" indent="0">
              <a:buNone/>
            </a:pPr>
            <a:r>
              <a:rPr lang="en-US" sz="2200" b="1" dirty="0">
                <a:solidFill>
                  <a:schemeClr val="accent1"/>
                </a:solidFill>
              </a:rPr>
              <a:t>4</a:t>
            </a:r>
            <a:endParaRPr lang="en-US" sz="1400" dirty="0"/>
          </a:p>
          <a:p>
            <a:pPr marL="0" indent="0">
              <a:buNone/>
            </a:pPr>
            <a:r>
              <a:rPr lang="en-US" sz="1200" dirty="0">
                <a:solidFill>
                  <a:schemeClr val="tx2"/>
                </a:solidFill>
              </a:rPr>
              <a:t>Raft terms</a:t>
            </a:r>
            <a:endParaRPr lang="en-US" sz="1400" dirty="0"/>
          </a:p>
        </p:txBody>
      </p:sp>
      <p:sp>
        <p:nvSpPr>
          <p:cNvPr id="11" name="text-335"/>
          <p:cNvSpPr txBox="1"/>
          <p:nvPr/>
        </p:nvSpPr>
        <p:spPr>
          <a:xfrm>
            <a:off x="822960" y="5074920"/>
            <a:ext cx="1828800" cy="822960"/>
          </a:xfrm>
          <a:prstGeom prst="rect">
            <a:avLst/>
          </a:prstGeom>
          <a:noFill/>
          <a:ln/>
        </p:spPr>
        <p:txBody>
          <a:bodyPr wrap="square" lIns="0" tIns="0" rIns="0" bIns="0" rtlCol="0" anchor="t"/>
          <a:lstStyle/>
          <a:p>
            <a:pPr marL="0" indent="0">
              <a:buNone/>
            </a:pPr>
            <a:r>
              <a:rPr lang="en-US" sz="2200" b="1" dirty="0">
                <a:solidFill>
                  <a:schemeClr val="accent1"/>
                </a:solidFill>
              </a:rPr>
              <a:t>0</a:t>
            </a:r>
            <a:endParaRPr lang="en-US" sz="1400" dirty="0"/>
          </a:p>
          <a:p>
            <a:pPr marL="0" indent="0">
              <a:buNone/>
            </a:pPr>
            <a:r>
              <a:rPr lang="en-US" sz="1200" dirty="0">
                <a:solidFill>
                  <a:schemeClr val="tx2"/>
                </a:solidFill>
              </a:rPr>
              <a:t>client retries</a:t>
            </a:r>
            <a:endParaRPr lang="en-US" sz="1400" dirty="0"/>
          </a:p>
        </p:txBody>
      </p:sp>
      <p:sp>
        <p:nvSpPr>
          <p:cNvPr id="12" name="text-336"/>
          <p:cNvSpPr txBox="1"/>
          <p:nvPr/>
        </p:nvSpPr>
        <p:spPr>
          <a:xfrm>
            <a:off x="2834640" y="5074920"/>
            <a:ext cx="1828800" cy="822960"/>
          </a:xfrm>
          <a:prstGeom prst="rect">
            <a:avLst/>
          </a:prstGeom>
          <a:noFill/>
          <a:ln/>
        </p:spPr>
        <p:txBody>
          <a:bodyPr wrap="square" lIns="0" tIns="0" rIns="0" bIns="0" rtlCol="0" anchor="t"/>
          <a:lstStyle/>
          <a:p>
            <a:pPr marL="0" indent="0">
              <a:buNone/>
            </a:pPr>
            <a:r>
              <a:rPr lang="en-US" sz="2200" b="1" dirty="0">
                <a:solidFill>
                  <a:schemeClr val="accent1"/>
                </a:solidFill>
              </a:rPr>
              <a:t>1</a:t>
            </a:r>
            <a:endParaRPr lang="en-US" sz="1400" dirty="0"/>
          </a:p>
          <a:p>
            <a:pPr marL="0" indent="0">
              <a:buNone/>
            </a:pPr>
            <a:r>
              <a:rPr lang="en-US" sz="1200" dirty="0">
                <a:solidFill>
                  <a:schemeClr val="tx2"/>
                </a:solidFill>
              </a:rPr>
              <a:t>identical state</a:t>
            </a:r>
            <a:endParaRPr lang="en-US" sz="1400" dirty="0"/>
          </a:p>
        </p:txBody>
      </p:sp>
      <p:sp>
        <p:nvSpPr>
          <p:cNvPr id="13" name="performance-337"/>
          <p:cNvSpPr/>
          <p:nvPr/>
        </p:nvSpPr>
        <p:spPr>
          <a:xfrm>
            <a:off x="5303520" y="1417320"/>
            <a:ext cx="630936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4" name="text-338"/>
          <p:cNvSpPr txBox="1"/>
          <p:nvPr/>
        </p:nvSpPr>
        <p:spPr>
          <a:xfrm>
            <a:off x="5577840" y="1645920"/>
            <a:ext cx="5760720" cy="411480"/>
          </a:xfrm>
          <a:prstGeom prst="rect">
            <a:avLst/>
          </a:prstGeom>
          <a:noFill/>
          <a:ln/>
        </p:spPr>
        <p:txBody>
          <a:bodyPr wrap="square" lIns="0" tIns="0" rIns="0" bIns="0" rtlCol="0" anchor="t"/>
          <a:lstStyle/>
          <a:p>
            <a:pPr marL="0" indent="0">
              <a:buNone/>
            </a:pPr>
            <a:r>
              <a:rPr lang="en-US" sz="1600" b="1" dirty="0">
                <a:solidFill>
                  <a:schemeClr val="tx1"/>
                </a:solidFill>
              </a:rPr>
              <a:t>Load test · 20 connections · 6 s each</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577840" y="2194560"/>
          <a:ext cx="5760720" cy="914400"/>
        </p:xfrm>
        <a:graphic>
          <a:graphicData uri="http://schemas.openxmlformats.org/drawingml/2006/table">
            <a:tbl>
              <a:tblPr/>
              <a:tblGrid>
                <a:gridCol w="24231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475488">
                <a:tc>
                  <a:txBody>
                    <a:bodyPr/>
                    <a:lstStyle/>
                    <a:p>
                      <a:pPr marL="0" indent="0" algn="l">
                        <a:buNone/>
                      </a:pPr>
                      <a:r>
                        <a:rPr lang="en-US" sz="1200" b="1" dirty="0">
                          <a:solidFill>
                            <a:schemeClr val="tx2"/>
                          </a:solidFill>
                        </a:rPr>
                        <a:t>Scenario</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200" b="1" dirty="0">
                          <a:solidFill>
                            <a:schemeClr val="tx2"/>
                          </a:solidFill>
                        </a:rPr>
                        <a:t>req/s</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200" b="1" dirty="0">
                          <a:solidFill>
                            <a:schemeClr val="tx2"/>
                          </a:solidFill>
                        </a:rPr>
                        <a:t>p50 ms</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200" b="1" dirty="0">
                          <a:solidFill>
                            <a:schemeClr val="tx2"/>
                          </a:solidFill>
                        </a:rPr>
                        <a:t>p99 ms</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200" b="1" dirty="0">
                          <a:solidFill>
                            <a:schemeClr val="tx2"/>
                          </a:solidFill>
                        </a:rPr>
                        <a:t>Errors</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0"/>
                  </a:ext>
                </a:extLst>
              </a:tr>
              <a:tr h="475488">
                <a:tc>
                  <a:txBody>
                    <a:bodyPr/>
                    <a:lstStyle/>
                    <a:p>
                      <a:pPr marL="0" indent="0" algn="l">
                        <a:buNone/>
                      </a:pPr>
                      <a:r>
                        <a:rPr lang="en-US" sz="1300" dirty="0">
                          <a:solidFill>
                            <a:schemeClr val="tx1"/>
                          </a:solidFill>
                        </a:rPr>
                        <a:t>Read record (cache hit)</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319</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59</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282</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0</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l">
                        <a:buNone/>
                      </a:pPr>
                      <a:r>
                        <a:rPr lang="en-US" sz="1300" dirty="0">
                          <a:solidFill>
                            <a:schemeClr val="tx1"/>
                          </a:solidFill>
                        </a:rPr>
                        <a:t>Read across 2 shards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251</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78</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263</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0</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l">
                        <a:buNone/>
                      </a:pPr>
                      <a:r>
                        <a:rPr lang="en-US" sz="1300" dirty="0">
                          <a:solidFill>
                            <a:schemeClr val="tx1"/>
                          </a:solidFill>
                        </a:rPr>
                        <a:t>Directory (both shards)</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114</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169</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344</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0</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l">
                        <a:buNone/>
                      </a:pPr>
                      <a:r>
                        <a:rPr lang="en-US" sz="1300" dirty="0">
                          <a:solidFill>
                            <a:schemeClr val="tx1"/>
                          </a:solidFill>
                        </a:rPr>
                        <a:t>Add note (majority commit)</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87</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231</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314</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0</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lgn="l">
                        <a:buNone/>
                      </a:pPr>
                      <a:r>
                        <a:rPr lang="en-US" sz="1300" b="1" dirty="0">
                          <a:solidFill>
                            <a:schemeClr val="tx1"/>
                          </a:solidFill>
                        </a:rPr>
                        <a:t>Add notes, leader killed</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66</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dirty="0">
                          <a:solidFill>
                            <a:schemeClr val="tx1"/>
                          </a:solidFill>
                        </a:rPr>
                        <a:t>291</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b="1" dirty="0">
                          <a:solidFill>
                            <a:schemeClr val="accent6"/>
                          </a:solidFill>
                        </a:rPr>
                        <a:t>1,041</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lgn="l">
                        <a:buNone/>
                      </a:pPr>
                      <a:r>
                        <a:rPr lang="en-US" sz="1300" b="1" dirty="0">
                          <a:solidFill>
                            <a:schemeClr val="accent5"/>
                          </a:solidFill>
                        </a:rPr>
                        <a:t>0</a:t>
                      </a:r>
                      <a:endParaRPr lang="en-US" sz="13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 name="text-339"/>
          <p:cNvSpPr txBox="1"/>
          <p:nvPr/>
        </p:nvSpPr>
        <p:spPr>
          <a:xfrm>
            <a:off x="5577840" y="5257800"/>
            <a:ext cx="5760720" cy="640080"/>
          </a:xfrm>
          <a:prstGeom prst="rect">
            <a:avLst/>
          </a:prstGeom>
          <a:noFill/>
          <a:ln/>
        </p:spPr>
        <p:txBody>
          <a:bodyPr wrap="square" lIns="0" tIns="0" rIns="0" bIns="0" rtlCol="0" anchor="t"/>
          <a:lstStyle/>
          <a:p>
            <a:pPr marL="0" indent="0">
              <a:buNone/>
            </a:pPr>
            <a:r>
              <a:rPr lang="en-US" sz="1300" dirty="0">
                <a:solidFill>
                  <a:schemeClr val="tx2"/>
                </a:solidFill>
              </a:rPr>
              <a:t>A leader crash costs one election timeout of tail latency, and no failed requests.</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tx1"/>
                </a:solidFill>
              </a:rPr>
              <a:t>Testing found 14 defects, all fixed</a:t>
            </a:r>
            <a:endParaRPr lang="en-US" sz="3000" dirty="0"/>
          </a:p>
        </p:txBody>
      </p:sp>
      <p:sp>
        <p:nvSpPr>
          <p:cNvPr id="3" name="defects-340"/>
          <p:cNvSpPr/>
          <p:nvPr/>
        </p:nvSpPr>
        <p:spPr>
          <a:xfrm>
            <a:off x="548640" y="1417320"/>
            <a:ext cx="8138160" cy="4754880"/>
          </a:xfrm>
          <a:prstGeom prst="roundRect">
            <a:avLst>
              <a:gd name="adj" fmla="val 4231"/>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645920"/>
          <a:ext cx="7680960" cy="914400"/>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566928">
                <a:tc>
                  <a:txBody>
                    <a:bodyPr/>
                    <a:lstStyle/>
                    <a:p>
                      <a:pPr marL="0" indent="0">
                        <a:buNone/>
                      </a:pPr>
                      <a:r>
                        <a:rPr lang="en-US" sz="1200" b="1" dirty="0">
                          <a:solidFill>
                            <a:schemeClr val="tx2"/>
                          </a:solidFill>
                        </a:rPr>
                        <a:t>ID</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Found by</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Defect</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00" b="1" dirty="0">
                          <a:solidFill>
                            <a:schemeClr val="tx2"/>
                          </a:solidFill>
                        </a:rPr>
                        <a:t>Severity</a:t>
                      </a:r>
                      <a:endParaRPr lang="en-US" sz="120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buNone/>
                      </a:pPr>
                      <a:r>
                        <a:rPr lang="en-US" sz="1250" dirty="0">
                          <a:solidFill>
                            <a:schemeClr val="tx1"/>
                          </a:solidFill>
                        </a:rPr>
                        <a:t>DEF-01</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Boundary value test</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Tamil and other Indic-script names were rejected at registration</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b="1" dirty="0">
                          <a:solidFill>
                            <a:schemeClr val="accent6"/>
                          </a:solidFill>
                        </a:rPr>
                        <a:t>High</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50" dirty="0">
                          <a:solidFill>
                            <a:schemeClr val="tx1"/>
                          </a:solidFill>
                        </a:rPr>
                        <a:t>DEF-02</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First system start</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Every service crashed on start-up (schema library limitation)</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b="1" dirty="0">
                          <a:solidFill>
                            <a:schemeClr val="accent6"/>
                          </a:solidFill>
                        </a:rPr>
                        <a:t>High</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50" dirty="0">
                          <a:solidFill>
                            <a:schemeClr val="tx1"/>
                          </a:solidFill>
                        </a:rPr>
                        <a:t>DEF-03</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Exploratory testing</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"No access" shown after break-glass: stale follower read</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b="1" dirty="0">
                          <a:solidFill>
                            <a:schemeClr val="accent4"/>
                          </a:solidFill>
                        </a:rPr>
                        <a:t>Medium</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250" dirty="0">
                          <a:solidFill>
                            <a:schemeClr val="tx1"/>
                          </a:solidFill>
                        </a:rPr>
                        <a:t>DEF-04</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Idempotency test</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A retried write reported a different record ID</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b="1" dirty="0">
                          <a:solidFill>
                            <a:schemeClr val="accent4"/>
                          </a:solidFill>
                        </a:rPr>
                        <a:t>Medium</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250" dirty="0">
                          <a:solidFill>
                            <a:schemeClr val="tx1"/>
                          </a:solidFill>
                        </a:rPr>
                        <a:t>DEF-08</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Mutation testing</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Half-open circuit breaker relied on a stale failure count</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b="1" dirty="0">
                          <a:solidFill>
                            <a:schemeClr val="accent4"/>
                          </a:solidFill>
                        </a:rPr>
                        <a:t>Medium</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250" dirty="0">
                          <a:solidFill>
                            <a:schemeClr val="tx1"/>
                          </a:solidFill>
                        </a:rPr>
                        <a:t>DEF-13</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E2E test</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dirty="0">
                          <a:solidFill>
                            <a:schemeClr val="tx1"/>
                          </a:solidFill>
                        </a:rPr>
                        <a:t>Chaos-lab buttons rebuilt 5×/s, so clicks could be lost</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tc>
                  <a:txBody>
                    <a:bodyPr/>
                    <a:lstStyle/>
                    <a:p>
                      <a:pPr marL="0" indent="0">
                        <a:buNone/>
                      </a:pPr>
                      <a:r>
                        <a:rPr lang="en-US" sz="1250" b="1" dirty="0">
                          <a:solidFill>
                            <a:schemeClr val="accent4"/>
                          </a:solidFill>
                        </a:rPr>
                        <a:t>Medium</a:t>
                      </a:r>
                      <a:endParaRPr lang="en-US" sz="1250" dirty="0"/>
                    </a:p>
                  </a:txBody>
                  <a:tcPr marL="109728" marR="109728" marT="54864" marB="54864" anchor="ctr">
                    <a:lnL w="9525" cap="flat" cmpd="sng" algn="ctr">
                      <a:solidFill>
                        <a:srgbClr val="D3DAE6"/>
                      </a:solidFill>
                      <a:prstDash val="solid"/>
                      <a:round/>
                      <a:headEnd type="none" w="med" len="med"/>
                      <a:tailEnd type="none" w="med" len="med"/>
                    </a:lnL>
                    <a:lnR w="9525" cap="flat" cmpd="sng" algn="ctr">
                      <a:solidFill>
                        <a:srgbClr val="D3DAE6"/>
                      </a:solidFill>
                      <a:prstDash val="solid"/>
                      <a:round/>
                      <a:headEnd type="none" w="med" len="med"/>
                      <a:tailEnd type="none" w="med" len="med"/>
                    </a:lnR>
                    <a:lnT w="9525" cap="flat" cmpd="sng" algn="ctr">
                      <a:solidFill>
                        <a:srgbClr val="D3DAE6"/>
                      </a:solidFill>
                      <a:prstDash val="solid"/>
                      <a:round/>
                      <a:headEnd type="none" w="med" len="med"/>
                      <a:tailEnd type="none" w="med" len="med"/>
                    </a:lnT>
                    <a:lnB w="9525" cap="flat" cmpd="sng" algn="ctr">
                      <a:solidFill>
                        <a:srgbClr val="D3DA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glass-341"/>
          <p:cNvSpPr/>
          <p:nvPr/>
        </p:nvSpPr>
        <p:spPr>
          <a:xfrm>
            <a:off x="8961120" y="1417320"/>
            <a:ext cx="2651760" cy="1463040"/>
          </a:xfrm>
          <a:prstGeom prst="roundRect">
            <a:avLst>
              <a:gd name="adj" fmla="val 1375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6" name="text-342"/>
          <p:cNvSpPr txBox="1"/>
          <p:nvPr/>
        </p:nvSpPr>
        <p:spPr>
          <a:xfrm>
            <a:off x="9235440" y="1609344"/>
            <a:ext cx="2103120" cy="621792"/>
          </a:xfrm>
          <a:prstGeom prst="rect">
            <a:avLst/>
          </a:prstGeom>
          <a:noFill/>
          <a:ln/>
        </p:spPr>
        <p:txBody>
          <a:bodyPr wrap="square" lIns="0" tIns="0" rIns="0" bIns="0" rtlCol="0" anchor="ctr"/>
          <a:lstStyle/>
          <a:p>
            <a:pPr marL="0" indent="0">
              <a:buNone/>
            </a:pPr>
            <a:r>
              <a:rPr lang="en-US" sz="3400" b="1" dirty="0">
                <a:solidFill>
                  <a:schemeClr val="accent6"/>
                </a:solidFill>
              </a:rPr>
              <a:t>10</a:t>
            </a:r>
            <a:endParaRPr lang="en-US" sz="3400" dirty="0"/>
          </a:p>
        </p:txBody>
      </p:sp>
      <p:sp>
        <p:nvSpPr>
          <p:cNvPr id="7" name="text-343"/>
          <p:cNvSpPr txBox="1"/>
          <p:nvPr/>
        </p:nvSpPr>
        <p:spPr>
          <a:xfrm>
            <a:off x="9235440" y="2249424"/>
            <a:ext cx="2103120" cy="457200"/>
          </a:xfrm>
          <a:prstGeom prst="rect">
            <a:avLst/>
          </a:prstGeom>
          <a:noFill/>
          <a:ln/>
        </p:spPr>
        <p:txBody>
          <a:bodyPr wrap="square" lIns="0" tIns="0" rIns="0" bIns="0" rtlCol="0" anchor="t"/>
          <a:lstStyle/>
          <a:p>
            <a:pPr marL="0" indent="0">
              <a:buNone/>
            </a:pPr>
            <a:r>
              <a:rPr lang="en-US" sz="1250" dirty="0">
                <a:solidFill>
                  <a:schemeClr val="tx2"/>
                </a:solidFill>
              </a:rPr>
              <a:t>product defects</a:t>
            </a:r>
            <a:endParaRPr lang="en-US" sz="1250" dirty="0"/>
          </a:p>
        </p:txBody>
      </p:sp>
      <p:sp>
        <p:nvSpPr>
          <p:cNvPr id="8" name="glass-344"/>
          <p:cNvSpPr/>
          <p:nvPr/>
        </p:nvSpPr>
        <p:spPr>
          <a:xfrm>
            <a:off x="8961120" y="3063240"/>
            <a:ext cx="2651760" cy="1463040"/>
          </a:xfrm>
          <a:prstGeom prst="roundRect">
            <a:avLst>
              <a:gd name="adj" fmla="val 1375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9" name="text-345"/>
          <p:cNvSpPr txBox="1"/>
          <p:nvPr/>
        </p:nvSpPr>
        <p:spPr>
          <a:xfrm>
            <a:off x="9235440" y="3255264"/>
            <a:ext cx="2103120" cy="621792"/>
          </a:xfrm>
          <a:prstGeom prst="rect">
            <a:avLst/>
          </a:prstGeom>
          <a:noFill/>
          <a:ln/>
        </p:spPr>
        <p:txBody>
          <a:bodyPr wrap="square" lIns="0" tIns="0" rIns="0" bIns="0" rtlCol="0" anchor="ctr"/>
          <a:lstStyle/>
          <a:p>
            <a:pPr marL="0" indent="0">
              <a:buNone/>
            </a:pPr>
            <a:r>
              <a:rPr lang="en-US" sz="3400" b="1" dirty="0">
                <a:solidFill>
                  <a:schemeClr val="accent4"/>
                </a:solidFill>
              </a:rPr>
              <a:t>3</a:t>
            </a:r>
            <a:endParaRPr lang="en-US" sz="3400" dirty="0"/>
          </a:p>
        </p:txBody>
      </p:sp>
      <p:sp>
        <p:nvSpPr>
          <p:cNvPr id="10" name="text-346"/>
          <p:cNvSpPr txBox="1"/>
          <p:nvPr/>
        </p:nvSpPr>
        <p:spPr>
          <a:xfrm>
            <a:off x="9235440" y="3895344"/>
            <a:ext cx="2103120" cy="457200"/>
          </a:xfrm>
          <a:prstGeom prst="rect">
            <a:avLst/>
          </a:prstGeom>
          <a:noFill/>
          <a:ln/>
        </p:spPr>
        <p:txBody>
          <a:bodyPr wrap="square" lIns="0" tIns="0" rIns="0" bIns="0" rtlCol="0" anchor="t"/>
          <a:lstStyle/>
          <a:p>
            <a:pPr marL="0" indent="0">
              <a:buNone/>
            </a:pPr>
            <a:r>
              <a:rPr lang="en-US" sz="1250" dirty="0">
                <a:solidFill>
                  <a:schemeClr val="tx2"/>
                </a:solidFill>
              </a:rPr>
              <a:t>defects in the tests themselves</a:t>
            </a:r>
            <a:endParaRPr lang="en-US" sz="1250" dirty="0"/>
          </a:p>
        </p:txBody>
      </p:sp>
      <p:sp>
        <p:nvSpPr>
          <p:cNvPr id="11" name="glass-347"/>
          <p:cNvSpPr/>
          <p:nvPr/>
        </p:nvSpPr>
        <p:spPr>
          <a:xfrm>
            <a:off x="8961120" y="4709160"/>
            <a:ext cx="2651760" cy="1463040"/>
          </a:xfrm>
          <a:prstGeom prst="roundRect">
            <a:avLst>
              <a:gd name="adj" fmla="val 13750"/>
            </a:avLst>
          </a:prstGeom>
          <a:solidFill>
            <a:schemeClr val="bg1">
              <a:alpha val="58000"/>
            </a:schemeClr>
          </a:solidFill>
          <a:ln w="15875">
            <a:solidFill>
              <a:schemeClr val="bg1">
                <a:alpha val="88000"/>
              </a:schemeClr>
            </a:solidFill>
            <a:prstDash val="solid"/>
          </a:ln>
          <a:effectLst>
            <a:outerShdw blurRad="228600" dist="50800" dir="5400000" algn="bl" rotWithShape="0">
              <a:srgbClr val="1E293B">
                <a:alpha val="10000"/>
              </a:srgbClr>
            </a:outerShdw>
          </a:effectLst>
        </p:spPr>
      </p:sp>
      <p:sp>
        <p:nvSpPr>
          <p:cNvPr id="12" name="text-348"/>
          <p:cNvSpPr txBox="1"/>
          <p:nvPr/>
        </p:nvSpPr>
        <p:spPr>
          <a:xfrm>
            <a:off x="9235440" y="4901184"/>
            <a:ext cx="2103120" cy="621792"/>
          </a:xfrm>
          <a:prstGeom prst="rect">
            <a:avLst/>
          </a:prstGeom>
          <a:noFill/>
          <a:ln/>
        </p:spPr>
        <p:txBody>
          <a:bodyPr wrap="square" lIns="0" tIns="0" rIns="0" bIns="0" rtlCol="0" anchor="ctr"/>
          <a:lstStyle/>
          <a:p>
            <a:pPr marL="0" indent="0">
              <a:buNone/>
            </a:pPr>
            <a:r>
              <a:rPr lang="en-US" sz="3400" b="1" dirty="0">
                <a:solidFill>
                  <a:schemeClr val="accent2"/>
                </a:solidFill>
              </a:rPr>
              <a:t>1</a:t>
            </a:r>
            <a:endParaRPr lang="en-US" sz="3400" dirty="0"/>
          </a:p>
        </p:txBody>
      </p:sp>
      <p:sp>
        <p:nvSpPr>
          <p:cNvPr id="13" name="text-349"/>
          <p:cNvSpPr txBox="1"/>
          <p:nvPr/>
        </p:nvSpPr>
        <p:spPr>
          <a:xfrm>
            <a:off x="9235440" y="5541264"/>
            <a:ext cx="2103120" cy="457200"/>
          </a:xfrm>
          <a:prstGeom prst="rect">
            <a:avLst/>
          </a:prstGeom>
          <a:noFill/>
          <a:ln/>
        </p:spPr>
        <p:txBody>
          <a:bodyPr wrap="square" lIns="0" tIns="0" rIns="0" bIns="0" rtlCol="0" anchor="t"/>
          <a:lstStyle/>
          <a:p>
            <a:pPr marL="0" indent="0">
              <a:buNone/>
            </a:pPr>
            <a:r>
              <a:rPr lang="en-US" sz="1250" dirty="0">
                <a:solidFill>
                  <a:schemeClr val="tx2"/>
                </a:solidFill>
              </a:rPr>
              <a:t>tooling incompatibility</a:t>
            </a:r>
            <a:endParaRPr lang="en-US" sz="125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64240" cy="777240"/>
          </a:xfrm>
          <a:prstGeom prst="rect">
            <a:avLst/>
          </a:prstGeom>
          <a:noFill/>
          <a:ln/>
        </p:spPr>
        <p:txBody>
          <a:bodyPr wrap="square" lIns="0" tIns="0" rIns="0" bIns="0" rtlCol="0" anchor="ctr"/>
          <a:lstStyle/>
          <a:p>
            <a:pPr marL="0" indent="0" algn="l">
              <a:buNone/>
            </a:pPr>
            <a:r>
              <a:rPr lang="en-US" sz="3000" dirty="0">
                <a:solidFill>
                  <a:schemeClr val="bg1"/>
                </a:solidFill>
              </a:rPr>
              <a:t>Conclusion</a:t>
            </a:r>
            <a:endParaRPr lang="en-US" sz="3000" dirty="0"/>
          </a:p>
        </p:txBody>
      </p:sp>
      <p:sp>
        <p:nvSpPr>
          <p:cNvPr id="3" name="glass-350"/>
          <p:cNvSpPr/>
          <p:nvPr/>
        </p:nvSpPr>
        <p:spPr>
          <a:xfrm>
            <a:off x="548640" y="1417320"/>
            <a:ext cx="2514600" cy="2606040"/>
          </a:xfrm>
          <a:prstGeom prst="roundRect">
            <a:avLst>
              <a:gd name="adj" fmla="val 8000"/>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pic>
        <p:nvPicPr>
          <p:cNvPr id="4" name="icon-server-sky-351" descr="C:\Users\hares\AppData\Local\Temp\claude\C--Users-hares-Downloads-distributed-proj\b8b70322-b8bd-48b7-a531-3815c955f6d1\scratchpad\deck\assets\icon-server-sky.png"/>
          <p:cNvPicPr>
            <a:picLocks noChangeAspect="1"/>
          </p:cNvPicPr>
          <p:nvPr/>
        </p:nvPicPr>
        <p:blipFill>
          <a:blip r:embed="rId3"/>
          <a:stretch>
            <a:fillRect/>
          </a:stretch>
        </p:blipFill>
        <p:spPr>
          <a:xfrm>
            <a:off x="804672" y="1691640"/>
            <a:ext cx="566928" cy="566928"/>
          </a:xfrm>
          <a:prstGeom prst="rect">
            <a:avLst/>
          </a:prstGeom>
        </p:spPr>
      </p:pic>
      <p:sp>
        <p:nvSpPr>
          <p:cNvPr id="5" name="text-352"/>
          <p:cNvSpPr txBox="1"/>
          <p:nvPr/>
        </p:nvSpPr>
        <p:spPr>
          <a:xfrm>
            <a:off x="1508760" y="1645920"/>
            <a:ext cx="1325880" cy="658368"/>
          </a:xfrm>
          <a:prstGeom prst="rect">
            <a:avLst/>
          </a:prstGeom>
          <a:noFill/>
          <a:ln/>
        </p:spPr>
        <p:txBody>
          <a:bodyPr wrap="square" lIns="0" tIns="0" rIns="0" bIns="0" rtlCol="0" anchor="ctr"/>
          <a:lstStyle/>
          <a:p>
            <a:pPr marL="0" indent="0">
              <a:buNone/>
            </a:pPr>
            <a:r>
              <a:rPr lang="en-US" sz="1800" b="1" dirty="0">
                <a:solidFill>
                  <a:schemeClr val="bg1"/>
                </a:solidFill>
              </a:rPr>
              <a:t>Available</a:t>
            </a:r>
            <a:endParaRPr lang="en-US" sz="1800" dirty="0"/>
          </a:p>
        </p:txBody>
      </p:sp>
      <p:sp>
        <p:nvSpPr>
          <p:cNvPr id="6" name="text-353"/>
          <p:cNvSpPr txBox="1"/>
          <p:nvPr/>
        </p:nvSpPr>
        <p:spPr>
          <a:xfrm>
            <a:off x="804672" y="2514600"/>
            <a:ext cx="2002536" cy="1371600"/>
          </a:xfrm>
          <a:prstGeom prst="rect">
            <a:avLst/>
          </a:prstGeom>
          <a:noFill/>
          <a:ln/>
        </p:spPr>
        <p:txBody>
          <a:bodyPr wrap="square" lIns="0" tIns="0" rIns="0" bIns="0" rtlCol="0" anchor="t"/>
          <a:lstStyle/>
          <a:p>
            <a:pPr marL="0" indent="0">
              <a:buNone/>
            </a:pPr>
            <a:r>
              <a:rPr lang="en-US" sz="1300" dirty="0">
                <a:solidFill>
                  <a:schemeClr val="bg1"/>
                </a:solidFill>
              </a:rPr>
              <a:t>A leader crash costs about one election timeout and loses zero writes.</a:t>
            </a:r>
            <a:endParaRPr lang="en-US" sz="1300" dirty="0"/>
          </a:p>
        </p:txBody>
      </p:sp>
      <p:sp>
        <p:nvSpPr>
          <p:cNvPr id="7" name="glass-354"/>
          <p:cNvSpPr/>
          <p:nvPr/>
        </p:nvSpPr>
        <p:spPr>
          <a:xfrm>
            <a:off x="3291840" y="1417320"/>
            <a:ext cx="2514600" cy="2606040"/>
          </a:xfrm>
          <a:prstGeom prst="roundRect">
            <a:avLst>
              <a:gd name="adj" fmla="val 8000"/>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pic>
        <p:nvPicPr>
          <p:cNvPr id="8" name="icon-shield-green-355" descr="C:\Users\hares\AppData\Local\Temp\claude\C--Users-hares-Downloads-distributed-proj\b8b70322-b8bd-48b7-a531-3815c955f6d1\scratchpad\deck\assets\icon-shield-green.png"/>
          <p:cNvPicPr>
            <a:picLocks noChangeAspect="1"/>
          </p:cNvPicPr>
          <p:nvPr/>
        </p:nvPicPr>
        <p:blipFill>
          <a:blip r:embed="rId4"/>
          <a:stretch>
            <a:fillRect/>
          </a:stretch>
        </p:blipFill>
        <p:spPr>
          <a:xfrm>
            <a:off x="3547872" y="1691640"/>
            <a:ext cx="566928" cy="566928"/>
          </a:xfrm>
          <a:prstGeom prst="rect">
            <a:avLst/>
          </a:prstGeom>
        </p:spPr>
      </p:pic>
      <p:sp>
        <p:nvSpPr>
          <p:cNvPr id="9" name="text-356"/>
          <p:cNvSpPr txBox="1"/>
          <p:nvPr/>
        </p:nvSpPr>
        <p:spPr>
          <a:xfrm>
            <a:off x="4251960" y="1645920"/>
            <a:ext cx="1325880" cy="658368"/>
          </a:xfrm>
          <a:prstGeom prst="rect">
            <a:avLst/>
          </a:prstGeom>
          <a:noFill/>
          <a:ln/>
        </p:spPr>
        <p:txBody>
          <a:bodyPr wrap="square" lIns="0" tIns="0" rIns="0" bIns="0" rtlCol="0" anchor="ctr"/>
          <a:lstStyle/>
          <a:p>
            <a:pPr marL="0" indent="0">
              <a:buNone/>
            </a:pPr>
            <a:r>
              <a:rPr lang="en-US" sz="1800" b="1" dirty="0">
                <a:solidFill>
                  <a:schemeClr val="bg1"/>
                </a:solidFill>
              </a:rPr>
              <a:t>Private</a:t>
            </a:r>
            <a:endParaRPr lang="en-US" sz="1800" dirty="0"/>
          </a:p>
        </p:txBody>
      </p:sp>
      <p:sp>
        <p:nvSpPr>
          <p:cNvPr id="10" name="text-357"/>
          <p:cNvSpPr txBox="1"/>
          <p:nvPr/>
        </p:nvSpPr>
        <p:spPr>
          <a:xfrm>
            <a:off x="3547872" y="2514600"/>
            <a:ext cx="2002536" cy="1371600"/>
          </a:xfrm>
          <a:prstGeom prst="rect">
            <a:avLst/>
          </a:prstGeom>
          <a:noFill/>
          <a:ln/>
        </p:spPr>
        <p:txBody>
          <a:bodyPr wrap="square" lIns="0" tIns="0" rIns="0" bIns="0" rtlCol="0" anchor="t"/>
          <a:lstStyle/>
          <a:p>
            <a:pPr marL="0" indent="0">
              <a:buNone/>
            </a:pPr>
            <a:r>
              <a:rPr lang="en-US" sz="1300" dirty="0">
                <a:solidFill>
                  <a:schemeClr val="bg1"/>
                </a:solidFill>
              </a:rPr>
              <a:t>Consent, field encryption and a verifiable ledger on every access.</a:t>
            </a:r>
            <a:endParaRPr lang="en-US" sz="1300" dirty="0"/>
          </a:p>
        </p:txBody>
      </p:sp>
      <p:sp>
        <p:nvSpPr>
          <p:cNvPr id="11" name="glass-358"/>
          <p:cNvSpPr/>
          <p:nvPr/>
        </p:nvSpPr>
        <p:spPr>
          <a:xfrm>
            <a:off x="6035040" y="1417320"/>
            <a:ext cx="2514600" cy="2606040"/>
          </a:xfrm>
          <a:prstGeom prst="roundRect">
            <a:avLst>
              <a:gd name="adj" fmla="val 8000"/>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pic>
        <p:nvPicPr>
          <p:cNvPr id="12" name="icon-check-green-359" descr="C:\Users\hares\AppData\Local\Temp\claude\C--Users-hares-Downloads-distributed-proj\b8b70322-b8bd-48b7-a531-3815c955f6d1\scratchpad\deck\assets\icon-check-green.png"/>
          <p:cNvPicPr>
            <a:picLocks noChangeAspect="1"/>
          </p:cNvPicPr>
          <p:nvPr/>
        </p:nvPicPr>
        <p:blipFill>
          <a:blip r:embed="rId5"/>
          <a:stretch>
            <a:fillRect/>
          </a:stretch>
        </p:blipFill>
        <p:spPr>
          <a:xfrm>
            <a:off x="6291072" y="1691640"/>
            <a:ext cx="566928" cy="566928"/>
          </a:xfrm>
          <a:prstGeom prst="rect">
            <a:avLst/>
          </a:prstGeom>
        </p:spPr>
      </p:pic>
      <p:sp>
        <p:nvSpPr>
          <p:cNvPr id="13" name="text-360"/>
          <p:cNvSpPr txBox="1"/>
          <p:nvPr/>
        </p:nvSpPr>
        <p:spPr>
          <a:xfrm>
            <a:off x="6995160" y="1645920"/>
            <a:ext cx="1325880" cy="658368"/>
          </a:xfrm>
          <a:prstGeom prst="rect">
            <a:avLst/>
          </a:prstGeom>
          <a:noFill/>
          <a:ln/>
        </p:spPr>
        <p:txBody>
          <a:bodyPr wrap="square" lIns="0" tIns="0" rIns="0" bIns="0" rtlCol="0" anchor="ctr"/>
          <a:lstStyle/>
          <a:p>
            <a:pPr marL="0" indent="0">
              <a:buNone/>
            </a:pPr>
            <a:r>
              <a:rPr lang="en-US" sz="1800" b="1" dirty="0">
                <a:solidFill>
                  <a:schemeClr val="bg1"/>
                </a:solidFill>
              </a:rPr>
              <a:t>Proven</a:t>
            </a:r>
            <a:endParaRPr lang="en-US" sz="1800" dirty="0"/>
          </a:p>
        </p:txBody>
      </p:sp>
      <p:sp>
        <p:nvSpPr>
          <p:cNvPr id="14" name="text-361"/>
          <p:cNvSpPr txBox="1"/>
          <p:nvPr/>
        </p:nvSpPr>
        <p:spPr>
          <a:xfrm>
            <a:off x="6291072" y="2514600"/>
            <a:ext cx="2002536" cy="1371600"/>
          </a:xfrm>
          <a:prstGeom prst="rect">
            <a:avLst/>
          </a:prstGeom>
          <a:noFill/>
          <a:ln/>
        </p:spPr>
        <p:txBody>
          <a:bodyPr wrap="square" lIns="0" tIns="0" rIns="0" bIns="0" rtlCol="0" anchor="t"/>
          <a:lstStyle/>
          <a:p>
            <a:pPr marL="0" indent="0">
              <a:buNone/>
            </a:pPr>
            <a:r>
              <a:rPr lang="en-US" sz="1300" dirty="0">
                <a:solidFill>
                  <a:schemeClr val="bg1"/>
                </a:solidFill>
              </a:rPr>
              <a:t>281 tests, 96.5% mutation score and a Jepsen-style chaos test.</a:t>
            </a:r>
            <a:endParaRPr lang="en-US" sz="1300" dirty="0"/>
          </a:p>
        </p:txBody>
      </p:sp>
      <p:sp>
        <p:nvSpPr>
          <p:cNvPr id="15" name="future-362"/>
          <p:cNvSpPr/>
          <p:nvPr/>
        </p:nvSpPr>
        <p:spPr>
          <a:xfrm>
            <a:off x="8778240" y="1417320"/>
            <a:ext cx="2834640" cy="4754880"/>
          </a:xfrm>
          <a:prstGeom prst="roundRect">
            <a:avLst>
              <a:gd name="adj" fmla="val 7097"/>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16" name="text-363"/>
          <p:cNvSpPr txBox="1"/>
          <p:nvPr/>
        </p:nvSpPr>
        <p:spPr>
          <a:xfrm>
            <a:off x="9006840" y="1645920"/>
            <a:ext cx="2468880" cy="365760"/>
          </a:xfrm>
          <a:prstGeom prst="rect">
            <a:avLst/>
          </a:prstGeom>
          <a:noFill/>
          <a:ln/>
        </p:spPr>
        <p:txBody>
          <a:bodyPr wrap="square" lIns="0" tIns="0" rIns="0" bIns="0" rtlCol="0" anchor="t"/>
          <a:lstStyle/>
          <a:p>
            <a:pPr marL="0" indent="0">
              <a:buNone/>
            </a:pPr>
            <a:r>
              <a:rPr lang="en-US" sz="1600" b="1" dirty="0">
                <a:solidFill>
                  <a:schemeClr val="bg1"/>
                </a:solidFill>
              </a:rPr>
              <a:t>Future work</a:t>
            </a:r>
            <a:endParaRPr lang="en-US" sz="1600" dirty="0"/>
          </a:p>
        </p:txBody>
      </p:sp>
      <p:sp>
        <p:nvSpPr>
          <p:cNvPr id="17" name="text-364"/>
          <p:cNvSpPr txBox="1"/>
          <p:nvPr/>
        </p:nvSpPr>
        <p:spPr>
          <a:xfrm>
            <a:off x="9006840" y="2148840"/>
            <a:ext cx="2468880" cy="38404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bg1"/>
                </a:solidFill>
              </a:rPr>
              <a:t>Raft snapshots and log compaction</a:t>
            </a:r>
            <a:endParaRPr lang="en-US" sz="1250" dirty="0"/>
          </a:p>
          <a:p>
            <a:pPr marL="342900" indent="-342900">
              <a:spcAft>
                <a:spcPts val="800"/>
              </a:spcAft>
              <a:buSzPct val="100000"/>
              <a:buChar char="•"/>
            </a:pPr>
            <a:r>
              <a:rPr lang="en-US" sz="1250" dirty="0">
                <a:solidFill>
                  <a:schemeClr val="bg1"/>
                </a:solidFill>
              </a:rPr>
              <a:t>Dynamic cluster membership</a:t>
            </a:r>
            <a:endParaRPr lang="en-US" sz="1250" dirty="0"/>
          </a:p>
          <a:p>
            <a:pPr marL="342900" indent="-342900">
              <a:spcAft>
                <a:spcPts val="800"/>
              </a:spcAft>
              <a:buSzPct val="100000"/>
              <a:buChar char="•"/>
            </a:pPr>
            <a:r>
              <a:rPr lang="en-US" sz="1250" dirty="0">
                <a:solidFill>
                  <a:schemeClr val="bg1"/>
                </a:solidFill>
              </a:rPr>
              <a:t>Several gateways, shared cache invalidation</a:t>
            </a:r>
            <a:endParaRPr lang="en-US" sz="1250" dirty="0"/>
          </a:p>
          <a:p>
            <a:pPr marL="342900" indent="-342900">
              <a:spcAft>
                <a:spcPts val="800"/>
              </a:spcAft>
              <a:buSzPct val="100000"/>
              <a:buChar char="•"/>
            </a:pPr>
            <a:r>
              <a:rPr lang="en-US" sz="1250" dirty="0">
                <a:solidFill>
                  <a:schemeClr val="bg1"/>
                </a:solidFill>
              </a:rPr>
              <a:t>MFA and an OIDC identity provider</a:t>
            </a:r>
            <a:endParaRPr lang="en-US" sz="1250" dirty="0"/>
          </a:p>
          <a:p>
            <a:pPr marL="342900" indent="-342900">
              <a:spcAft>
                <a:spcPts val="800"/>
              </a:spcAft>
              <a:buSzPct val="100000"/>
              <a:buChar char="•"/>
            </a:pPr>
            <a:r>
              <a:rPr lang="en-US" sz="1250" dirty="0">
                <a:solidFill>
                  <a:schemeClr val="bg1"/>
                </a:solidFill>
              </a:rPr>
              <a:t>Kubernetes multi-host deployment</a:t>
            </a:r>
            <a:endParaRPr lang="en-US" sz="1250" dirty="0"/>
          </a:p>
          <a:p>
            <a:pPr marL="342900" indent="-342900">
              <a:spcAft>
                <a:spcPts val="800"/>
              </a:spcAft>
              <a:buSzPct val="100000"/>
              <a:buChar char="•"/>
            </a:pPr>
            <a:r>
              <a:rPr lang="en-US" sz="1250" dirty="0">
                <a:solidFill>
                  <a:schemeClr val="bg1"/>
                </a:solidFill>
              </a:rPr>
              <a:t>FHIR / ABDM interoperability</a:t>
            </a:r>
            <a:endParaRPr lang="en-US" sz="1250" dirty="0"/>
          </a:p>
        </p:txBody>
      </p:sp>
      <p:sp>
        <p:nvSpPr>
          <p:cNvPr id="18" name="quote-365"/>
          <p:cNvSpPr/>
          <p:nvPr/>
        </p:nvSpPr>
        <p:spPr>
          <a:xfrm>
            <a:off x="548640" y="4297680"/>
            <a:ext cx="8001000" cy="1874520"/>
          </a:xfrm>
          <a:prstGeom prst="roundRect">
            <a:avLst>
              <a:gd name="adj" fmla="val 10732"/>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19" name="text-366"/>
          <p:cNvSpPr txBox="1"/>
          <p:nvPr/>
        </p:nvSpPr>
        <p:spPr>
          <a:xfrm>
            <a:off x="868680" y="4572000"/>
            <a:ext cx="7406640" cy="822960"/>
          </a:xfrm>
          <a:prstGeom prst="rect">
            <a:avLst/>
          </a:prstGeom>
          <a:noFill/>
          <a:ln/>
        </p:spPr>
        <p:txBody>
          <a:bodyPr wrap="square" lIns="0" tIns="0" rIns="0" bIns="0" rtlCol="0" anchor="t"/>
          <a:lstStyle/>
          <a:p>
            <a:pPr marL="0" indent="0">
              <a:buNone/>
            </a:pPr>
            <a:r>
              <a:rPr lang="en-US" sz="2000" i="1" dirty="0">
                <a:solidFill>
                  <a:schemeClr val="bg1"/>
                </a:solidFill>
              </a:rPr>
              <a:t>"In healthcare, the system must be as resilient as the people it serves."</a:t>
            </a:r>
            <a:endParaRPr lang="en-US" sz="2000" dirty="0"/>
          </a:p>
        </p:txBody>
      </p:sp>
      <p:sp>
        <p:nvSpPr>
          <p:cNvPr id="20" name="text-367"/>
          <p:cNvSpPr txBox="1"/>
          <p:nvPr/>
        </p:nvSpPr>
        <p:spPr>
          <a:xfrm>
            <a:off x="868680" y="5486400"/>
            <a:ext cx="7406640" cy="365760"/>
          </a:xfrm>
          <a:prstGeom prst="rect">
            <a:avLst/>
          </a:prstGeom>
          <a:noFill/>
          <a:ln/>
        </p:spPr>
        <p:txBody>
          <a:bodyPr wrap="square" lIns="0" tIns="0" rIns="0" bIns="0" rtlCol="0" anchor="t"/>
          <a:lstStyle/>
          <a:p>
            <a:pPr marL="0" indent="0">
              <a:buNone/>
            </a:pPr>
            <a:r>
              <a:rPr lang="en-US" sz="1200" dirty="0">
                <a:solidFill>
                  <a:schemeClr val="bg1">
                    <a:alpha val="70000"/>
                  </a:schemeClr>
                </a:solidFill>
              </a:rPr>
              <a:t>From our proposal; MediChain shows it working under real failures.</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3CCDD"/>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17320"/>
            <a:ext cx="6949440" cy="1097280"/>
          </a:xfrm>
          <a:prstGeom prst="rect">
            <a:avLst/>
          </a:prstGeom>
          <a:noFill/>
          <a:ln/>
        </p:spPr>
        <p:txBody>
          <a:bodyPr wrap="square" lIns="0" tIns="0" rIns="0" bIns="0" rtlCol="0" anchor="b"/>
          <a:lstStyle/>
          <a:p>
            <a:pPr marL="0" indent="0" algn="l">
              <a:buNone/>
            </a:pPr>
            <a:r>
              <a:rPr lang="en-US" sz="6000" dirty="0">
                <a:solidFill>
                  <a:schemeClr val="bg1"/>
                </a:solidFill>
              </a:rPr>
              <a:t>Thank you</a:t>
            </a:r>
            <a:endParaRPr lang="en-US" sz="6000" dirty="0"/>
          </a:p>
        </p:txBody>
      </p:sp>
      <p:sp>
        <p:nvSpPr>
          <p:cNvPr id="3" name="Text 0"/>
          <p:cNvSpPr>
            <a:spLocks noGrp="1"/>
          </p:cNvSpPr>
          <p:nvPr>
            <p:ph type="body" idx="101" hasCustomPrompt="1"/>
          </p:nvPr>
        </p:nvSpPr>
        <p:spPr>
          <a:xfrm>
            <a:off x="731520" y="2606040"/>
            <a:ext cx="6766560" cy="1005840"/>
          </a:xfrm>
          <a:prstGeom prst="rect">
            <a:avLst/>
          </a:prstGeom>
          <a:noFill/>
          <a:ln/>
        </p:spPr>
        <p:txBody>
          <a:bodyPr wrap="square" lIns="0" tIns="0" rIns="0" bIns="0" rtlCol="0" anchor="t"/>
          <a:lstStyle/>
          <a:p>
            <a:pPr marL="0" indent="0" algn="l">
              <a:buNone/>
            </a:pPr>
            <a:r>
              <a:rPr lang="en-US" sz="2200" dirty="0">
                <a:solidFill>
                  <a:schemeClr val="bg1"/>
                </a:solidFill>
              </a:rPr>
              <a:t>Questions, and a live demo</a:t>
            </a:r>
            <a:endParaRPr lang="en-US" sz="2200" dirty="0"/>
          </a:p>
        </p:txBody>
      </p:sp>
      <p:sp>
        <p:nvSpPr>
          <p:cNvPr id="4" name="demo-368"/>
          <p:cNvSpPr/>
          <p:nvPr/>
        </p:nvSpPr>
        <p:spPr>
          <a:xfrm>
            <a:off x="7680960" y="1325880"/>
            <a:ext cx="3977640" cy="4526280"/>
          </a:xfrm>
          <a:prstGeom prst="roundRect">
            <a:avLst>
              <a:gd name="adj" fmla="val 5057"/>
            </a:avLst>
          </a:prstGeom>
          <a:solidFill>
            <a:schemeClr val="bg1">
              <a:alpha val="12000"/>
            </a:schemeClr>
          </a:solidFill>
          <a:ln w="15875">
            <a:solidFill>
              <a:schemeClr val="bg1">
                <a:alpha val="28000"/>
              </a:schemeClr>
            </a:solidFill>
            <a:prstDash val="solid"/>
          </a:ln>
          <a:effectLst>
            <a:outerShdw blurRad="228600" dist="50800" dir="5400000" algn="bl" rotWithShape="0">
              <a:srgbClr val="000000">
                <a:alpha val="35000"/>
              </a:srgbClr>
            </a:outerShdw>
          </a:effectLst>
        </p:spPr>
      </p:sp>
      <p:sp>
        <p:nvSpPr>
          <p:cNvPr id="5" name="text-369"/>
          <p:cNvSpPr txBox="1"/>
          <p:nvPr/>
        </p:nvSpPr>
        <p:spPr>
          <a:xfrm>
            <a:off x="7955280" y="1554480"/>
            <a:ext cx="3200400" cy="274320"/>
          </a:xfrm>
          <a:prstGeom prst="rect">
            <a:avLst/>
          </a:prstGeom>
          <a:noFill/>
          <a:ln/>
        </p:spPr>
        <p:txBody>
          <a:bodyPr wrap="square" lIns="0" tIns="0" rIns="0" bIns="0" rtlCol="0" anchor="t"/>
          <a:lstStyle/>
          <a:p>
            <a:pPr marL="0" indent="0">
              <a:buNone/>
            </a:pPr>
            <a:r>
              <a:rPr lang="en-US" sz="1100" b="1" kern="0" spc="200" dirty="0">
                <a:solidFill>
                  <a:schemeClr val="bg1">
                    <a:alpha val="65000"/>
                  </a:schemeClr>
                </a:solidFill>
              </a:rPr>
              <a:t>TRY IT LIVE</a:t>
            </a:r>
            <a:endParaRPr lang="en-US" sz="1100" dirty="0"/>
          </a:p>
        </p:txBody>
      </p:sp>
      <p:sp>
        <p:nvSpPr>
          <p:cNvPr id="6" name="text-370"/>
          <p:cNvSpPr txBox="1"/>
          <p:nvPr/>
        </p:nvSpPr>
        <p:spPr>
          <a:xfrm>
            <a:off x="7955280" y="1920240"/>
            <a:ext cx="3474720" cy="731520"/>
          </a:xfrm>
          <a:prstGeom prst="rect">
            <a:avLst/>
          </a:prstGeom>
          <a:noFill/>
          <a:ln/>
        </p:spPr>
        <p:txBody>
          <a:bodyPr wrap="square" lIns="0" tIns="0" rIns="0" bIns="0" rtlCol="0" anchor="t"/>
          <a:lstStyle/>
          <a:p>
            <a:pPr marL="0" indent="0">
              <a:buNone/>
            </a:pPr>
            <a:r>
              <a:rPr lang="en-US" sz="1600" b="1" dirty="0">
                <a:solidFill>
                  <a:srgbClr val="5EEAD4"/>
                </a:solidFill>
              </a:rPr>
              <a:t>npm start</a:t>
            </a:r>
            <a:endParaRPr lang="en-US" sz="1600" dirty="0"/>
          </a:p>
          <a:p>
            <a:pPr marL="0" indent="0">
              <a:buNone/>
            </a:pPr>
            <a:r>
              <a:rPr lang="en-US" sz="1600" dirty="0">
                <a:solidFill>
                  <a:schemeClr val="bg1"/>
                </a:solidFill>
              </a:rPr>
              <a:t>http://127.0.0.1:8080</a:t>
            </a:r>
            <a:endParaRPr lang="en-US" sz="1600" dirty="0"/>
          </a:p>
        </p:txBody>
      </p:sp>
      <p:sp>
        <p:nvSpPr>
          <p:cNvPr id="7" name="text-371"/>
          <p:cNvSpPr txBox="1"/>
          <p:nvPr/>
        </p:nvSpPr>
        <p:spPr>
          <a:xfrm>
            <a:off x="7955280" y="2880360"/>
            <a:ext cx="3474720" cy="640080"/>
          </a:xfrm>
          <a:prstGeom prst="rect">
            <a:avLst/>
          </a:prstGeom>
          <a:noFill/>
          <a:ln/>
        </p:spPr>
        <p:txBody>
          <a:bodyPr wrap="square" lIns="0" tIns="0" rIns="0" bIns="0" rtlCol="0" anchor="t"/>
          <a:lstStyle/>
          <a:p>
            <a:pPr marL="0" indent="0">
              <a:buNone/>
            </a:pPr>
            <a:r>
              <a:rPr lang="en-US" sz="1500" b="1" dirty="0">
                <a:solidFill>
                  <a:schemeClr val="bg1"/>
                </a:solidFill>
              </a:rPr>
              <a:t>dr.rohit</a:t>
            </a:r>
            <a:endParaRPr lang="en-US" sz="1500" dirty="0"/>
          </a:p>
          <a:p>
            <a:pPr marL="0" indent="0">
              <a:buNone/>
            </a:pPr>
            <a:r>
              <a:rPr lang="en-US" sz="1200" dirty="0">
                <a:solidFill>
                  <a:schemeClr val="bg1">
                    <a:alpha val="70000"/>
                  </a:schemeClr>
                </a:solidFill>
              </a:rPr>
              <a:t>treating doctor</a:t>
            </a:r>
            <a:endParaRPr lang="en-US" sz="1500" dirty="0"/>
          </a:p>
        </p:txBody>
      </p:sp>
      <p:sp>
        <p:nvSpPr>
          <p:cNvPr id="8" name="text-372"/>
          <p:cNvSpPr txBox="1"/>
          <p:nvPr/>
        </p:nvSpPr>
        <p:spPr>
          <a:xfrm>
            <a:off x="7955280" y="3566160"/>
            <a:ext cx="3474720" cy="640080"/>
          </a:xfrm>
          <a:prstGeom prst="rect">
            <a:avLst/>
          </a:prstGeom>
          <a:noFill/>
          <a:ln/>
        </p:spPr>
        <p:txBody>
          <a:bodyPr wrap="square" lIns="0" tIns="0" rIns="0" bIns="0" rtlCol="0" anchor="t"/>
          <a:lstStyle/>
          <a:p>
            <a:pPr marL="0" indent="0">
              <a:buNone/>
            </a:pPr>
            <a:r>
              <a:rPr lang="en-US" sz="1500" b="1" dirty="0">
                <a:solidFill>
                  <a:schemeClr val="bg1"/>
                </a:solidFill>
              </a:rPr>
              <a:t>dr.varun</a:t>
            </a:r>
            <a:endParaRPr lang="en-US" sz="1500" dirty="0"/>
          </a:p>
          <a:p>
            <a:pPr marL="0" indent="0">
              <a:buNone/>
            </a:pPr>
            <a:r>
              <a:rPr lang="en-US" sz="1200" dirty="0">
                <a:solidFill>
                  <a:schemeClr val="bg1">
                    <a:alpha val="70000"/>
                  </a:schemeClr>
                </a:solidFill>
              </a:rPr>
              <a:t>emergency, break-glass</a:t>
            </a:r>
            <a:endParaRPr lang="en-US" sz="1500" dirty="0"/>
          </a:p>
        </p:txBody>
      </p:sp>
      <p:sp>
        <p:nvSpPr>
          <p:cNvPr id="9" name="text-373"/>
          <p:cNvSpPr txBox="1"/>
          <p:nvPr/>
        </p:nvSpPr>
        <p:spPr>
          <a:xfrm>
            <a:off x="7955280" y="4251960"/>
            <a:ext cx="3474720" cy="640080"/>
          </a:xfrm>
          <a:prstGeom prst="rect">
            <a:avLst/>
          </a:prstGeom>
          <a:noFill/>
          <a:ln/>
        </p:spPr>
        <p:txBody>
          <a:bodyPr wrap="square" lIns="0" tIns="0" rIns="0" bIns="0" rtlCol="0" anchor="t"/>
          <a:lstStyle/>
          <a:p>
            <a:pPr marL="0" indent="0">
              <a:buNone/>
            </a:pPr>
            <a:r>
              <a:rPr lang="en-US" sz="1500" b="1" dirty="0">
                <a:solidFill>
                  <a:schemeClr val="bg1"/>
                </a:solidFill>
              </a:rPr>
              <a:t>hemanth</a:t>
            </a:r>
            <a:endParaRPr lang="en-US" sz="1500" dirty="0"/>
          </a:p>
          <a:p>
            <a:pPr marL="0" indent="0">
              <a:buNone/>
            </a:pPr>
            <a:r>
              <a:rPr lang="en-US" sz="1200" dirty="0">
                <a:solidFill>
                  <a:schemeClr val="bg1">
                    <a:alpha val="70000"/>
                  </a:schemeClr>
                </a:solidFill>
              </a:rPr>
              <a:t>patient portal</a:t>
            </a:r>
            <a:endParaRPr lang="en-US" sz="1500" dirty="0"/>
          </a:p>
        </p:txBody>
      </p:sp>
      <p:sp>
        <p:nvSpPr>
          <p:cNvPr id="10" name="text-374"/>
          <p:cNvSpPr txBox="1"/>
          <p:nvPr/>
        </p:nvSpPr>
        <p:spPr>
          <a:xfrm>
            <a:off x="7955280" y="4937760"/>
            <a:ext cx="3474720" cy="640080"/>
          </a:xfrm>
          <a:prstGeom prst="rect">
            <a:avLst/>
          </a:prstGeom>
          <a:noFill/>
          <a:ln/>
        </p:spPr>
        <p:txBody>
          <a:bodyPr wrap="square" lIns="0" tIns="0" rIns="0" bIns="0" rtlCol="0" anchor="t"/>
          <a:lstStyle/>
          <a:p>
            <a:pPr marL="0" indent="0">
              <a:buNone/>
            </a:pPr>
            <a:r>
              <a:rPr lang="en-US" sz="1500" b="1" dirty="0">
                <a:solidFill>
                  <a:schemeClr val="bg1"/>
                </a:solidFill>
              </a:rPr>
              <a:t>admin</a:t>
            </a:r>
            <a:endParaRPr lang="en-US" sz="1500" dirty="0"/>
          </a:p>
          <a:p>
            <a:pPr marL="0" indent="0">
              <a:buNone/>
            </a:pPr>
            <a:r>
              <a:rPr lang="en-US" sz="1200" dirty="0">
                <a:solidFill>
                  <a:schemeClr val="bg1">
                    <a:alpha val="70000"/>
                  </a:schemeClr>
                </a:solidFill>
              </a:rPr>
              <a:t>ops console, chaos lab</a:t>
            </a:r>
            <a:endParaRPr lang="en-US" sz="1500" dirty="0"/>
          </a:p>
        </p:txBody>
      </p:sp>
      <p:sp>
        <p:nvSpPr>
          <p:cNvPr id="11" name="text-375"/>
          <p:cNvSpPr txBox="1"/>
          <p:nvPr/>
        </p:nvSpPr>
        <p:spPr>
          <a:xfrm>
            <a:off x="731520" y="5212080"/>
            <a:ext cx="6766560" cy="365760"/>
          </a:xfrm>
          <a:prstGeom prst="rect">
            <a:avLst/>
          </a:prstGeom>
          <a:noFill/>
          <a:ln/>
        </p:spPr>
        <p:txBody>
          <a:bodyPr wrap="square" lIns="0" tIns="0" rIns="0" bIns="0" rtlCol="0" anchor="t"/>
          <a:lstStyle/>
          <a:p>
            <a:pPr marL="0" indent="0">
              <a:buNone/>
            </a:pPr>
            <a:r>
              <a:rPr lang="en-US" sz="1600" b="1" dirty="0">
                <a:solidFill>
                  <a:schemeClr val="bg1"/>
                </a:solidFill>
              </a:rPr>
              <a:t>N. Sankkarshana  ·  Ganesan P.V  ·  Hemanth S</a:t>
            </a:r>
            <a:endParaRPr lang="en-US" sz="1600" dirty="0"/>
          </a:p>
        </p:txBody>
      </p:sp>
    </p:spTree>
  </p:cSld>
  <p:clrMapOvr>
    <a:masterClrMapping/>
  </p:clrMapOvr>
</p:sld>
</file>

<file path=ppt/theme/theme1.xml><?xml version="1.0" encoding="utf-8"?>
<a:theme xmlns:a="http://schemas.openxmlformats.org/drawingml/2006/main" name="MediChain Liquid Glass">
  <a:themeElements>
    <a:clrScheme name="MediChain Liquid Glass">
      <a:dk1>
        <a:srgbClr val="0C1222"/>
      </a:dk1>
      <a:lt1>
        <a:srgbClr val="FFFFFF"/>
      </a:lt1>
      <a:dk2>
        <a:srgbClr val="475569"/>
      </a:dk2>
      <a:lt2>
        <a:srgbClr val="EEF1F7"/>
      </a:lt2>
      <a:accent1>
        <a:srgbClr val="0F9488"/>
      </a:accent1>
      <a:accent2>
        <a:srgbClr val="6366F1"/>
      </a:accent2>
      <a:accent3>
        <a:srgbClr val="DB2777"/>
      </a:accent3>
      <a:accent4>
        <a:srgbClr val="F59E0B"/>
      </a:accent4>
      <a:accent5>
        <a:srgbClr val="059669"/>
      </a:accent5>
      <a:accent6>
        <a:srgbClr val="E11D48"/>
      </a:accent6>
      <a:hlink>
        <a:srgbClr val="4F46E5"/>
      </a:hlink>
      <a:folHlink>
        <a:srgbClr val="7C3AED"/>
      </a:folHlink>
    </a:clrScheme>
    <a:fontScheme name="MediChain Liquid Glass">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3245</Words>
  <Application>Microsoft Office PowerPoint</Application>
  <PresentationFormat>Widescreen</PresentationFormat>
  <Paragraphs>463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Segoe UI</vt:lpstr>
      <vt:lpstr>Segoe UI Semibold</vt:lpstr>
      <vt:lpstr>MediChain Liquid Glass</vt:lpstr>
      <vt:lpstr>MediChain</vt:lpstr>
      <vt:lpstr>A single database can't keep health records safe</vt:lpstr>
      <vt:lpstr>From one central server to a fault-tolerant cluster</vt:lpstr>
      <vt:lpstr>Architecture: every request passes the gateway</vt:lpstr>
      <vt:lpstr>Raft keeps every shard consistent through failures</vt:lpstr>
      <vt:lpstr>Consistent hashing spreads patients evenly across shards</vt:lpstr>
      <vt:lpstr>The gateway hides failovers from clients</vt:lpstr>
      <vt:lpstr>Every access is authorized, encrypted and audited</vt:lpstr>
      <vt:lpstr>No external infrastructure: one command starts 11 processes</vt:lpstr>
      <vt:lpstr>Clinician portal: every read shows its path through the cluster</vt:lpstr>
      <vt:lpstr>Break-glass: emergency access the patient sees in real time</vt:lpstr>
      <vt:lpstr>Chaos lab: killing a leader loses nothing</vt:lpstr>
      <vt:lpstr>Tamper-evident audit: an edit is caught at the exact block</vt:lpstr>
      <vt:lpstr>281 automated tests across five levels</vt:lpstr>
      <vt:lpstr>Test design techniques, applied where the risks are</vt:lpstr>
      <vt:lpstr>Results: every exit criterion met</vt:lpstr>
      <vt:lpstr>Mutation testing raised test strength from 84% to 96.5%</vt:lpstr>
      <vt:lpstr>Chaos and load: no lost writes, no client errors</vt:lpstr>
      <vt:lpstr>Testing found 14 defects, all fixed</vt:lpstr>
      <vt:lpstr>Conclusion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MediChain — Distributed Healthcare Records System</dc:title>
  <dc:subject>Distributed Systems and Applications · Software Testing</dc:subject>
  <dc:creator>N. Sankkarshana, Ganesan P.V, Hemanth S</dc:creator>
  <cp:lastModifiedBy>H GANESAN</cp:lastModifiedBy>
  <cp:revision>2</cp:revision>
  <dcterms:created xsi:type="dcterms:W3CDTF">2026-10-02T19:11:51Z</dcterms:created>
  <dcterms:modified xsi:type="dcterms:W3CDTF">2026-10-02T19:16:50Z</dcterms:modified>
</cp:coreProperties>
</file>