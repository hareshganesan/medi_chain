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3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86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0345A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548640"/>
            <a:ext cx="3108960" cy="3108960"/>
          </a:xfrm>
          <a:prstGeom prst="ellipse">
            <a:avLst/>
          </a:prstGeom>
          <a:solidFill>
            <a:srgbClr val="0F6E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AND APPLICATIONS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595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&amp; Performance-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Distributed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Records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fault-tolerant, scalable and privacy-preserving architecture for real-time electronic health record access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9260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7" y="5175504"/>
            <a:ext cx="93310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Sankkarshana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CH.EN.U4CCE23023, Ganesan P.V – CH.EN.U4CCE23008, Hemanth S – CH.EN.U4CCE23008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5413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&amp; Communication Engineering, Amrita Vishwa Vidyapeetham, Chennai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5989320"/>
            <a:ext cx="566928" cy="566928"/>
          </a:xfrm>
          <a:prstGeom prst="ellipse">
            <a:avLst/>
          </a:prstGeom>
          <a:solidFill>
            <a:srgbClr val="123A5E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5971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🏥</a:t>
            </a:r>
            <a:endParaRPr lang="en-US" sz="1612" dirty="0"/>
          </a:p>
        </p:txBody>
      </p:sp>
      <p:sp>
        <p:nvSpPr>
          <p:cNvPr id="13" name="Shape 11"/>
          <p:cNvSpPr/>
          <p:nvPr/>
        </p:nvSpPr>
        <p:spPr>
          <a:xfrm>
            <a:off x="1435608" y="5989320"/>
            <a:ext cx="566928" cy="566928"/>
          </a:xfrm>
          <a:prstGeom prst="ellipse">
            <a:avLst/>
          </a:prstGeom>
          <a:solidFill>
            <a:srgbClr val="123A5E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5608" y="5971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🔒</a:t>
            </a:r>
            <a:endParaRPr lang="en-US" sz="1612" dirty="0"/>
          </a:p>
        </p:txBody>
      </p:sp>
      <p:sp>
        <p:nvSpPr>
          <p:cNvPr id="15" name="Shape 13"/>
          <p:cNvSpPr/>
          <p:nvPr/>
        </p:nvSpPr>
        <p:spPr>
          <a:xfrm>
            <a:off x="2212848" y="5989320"/>
            <a:ext cx="566928" cy="566928"/>
          </a:xfrm>
          <a:prstGeom prst="ellipse">
            <a:avLst/>
          </a:prstGeom>
          <a:solidFill>
            <a:srgbClr val="123A5E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5971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⚡</a:t>
            </a:r>
            <a:endParaRPr lang="en-US" sz="1612" dirty="0"/>
          </a:p>
        </p:txBody>
      </p:sp>
      <p:sp>
        <p:nvSpPr>
          <p:cNvPr id="17" name="Shape 15"/>
          <p:cNvSpPr/>
          <p:nvPr/>
        </p:nvSpPr>
        <p:spPr>
          <a:xfrm>
            <a:off x="2990088" y="5989320"/>
            <a:ext cx="566928" cy="566928"/>
          </a:xfrm>
          <a:prstGeom prst="ellipse">
            <a:avLst/>
          </a:prstGeom>
          <a:solidFill>
            <a:srgbClr val="123A5E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0088" y="5971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12" dirty="0">
                <a:solidFill>
                  <a:srgbClr val="000000"/>
                </a:solidFill>
              </a:rPr>
              <a:t>🌐</a:t>
            </a:r>
            <a:endParaRPr lang="en-US" sz="161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Healthcare Records Need a Rethink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Health Records (EHRs) hold a patient's clinical history, prescriptions, lab results and imaging. As hospitals, clinics, labs and insurers digitize, this data has grown from single-hospital databases into a nationwide web of systems that must talk to each other instantly, securely, and without ever going offline.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6035040" cy="1417320"/>
          </a:xfrm>
          <a:prstGeom prst="rect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015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distributed system for healthcare records that stays available under failure, scales to millions of concurrent users, and enforces strict security and regulatory compliance — without sacrificing response 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95160" y="1554480"/>
            <a:ext cx="502920" cy="50292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🛡️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7635240" y="152704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8105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is authenticated, authorized and audited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2606040"/>
            <a:ext cx="502920" cy="50292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⚡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635240" y="2578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35240" y="28620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reachable in milliseconds, even in emergencies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3657600"/>
            <a:ext cx="502920" cy="50292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639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🔁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7635240" y="36301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635240" y="391363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 across the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4709160"/>
            <a:ext cx="502920" cy="50292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4690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📈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635240" y="46817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35240" y="49651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from one hospital to a national network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of Health Records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health record spans clinical notes, prescriptions, diagnostic imaging, lab results and billing data — generated and consumed by many independent parties who each need fast, correct, and permissioned access.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1417320"/>
          </a:xfrm>
          <a:prstGeom prst="rect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4871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3273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Diagnoses, visit summaries, discharge 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0712" y="2331720"/>
            <a:ext cx="2697480" cy="1417320"/>
          </a:xfrm>
          <a:prstGeom prst="rect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5304" y="24871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5304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🧪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75304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75304" y="3273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work, pathology, diagnostic reports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72784" y="2331720"/>
            <a:ext cx="2697480" cy="1417320"/>
          </a:xfrm>
          <a:prstGeom prst="rect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4871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37376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37376" y="3273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X-rays, MRI, CT scans — large binary files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34856" y="2331720"/>
            <a:ext cx="2697480" cy="1417320"/>
          </a:xfrm>
          <a:prstGeom prst="rect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99448" y="24871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💊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99448" y="29992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99448" y="3273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history and dosage records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886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ACCESSING THE SAME RECORD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2377440" y="4553712"/>
            <a:ext cx="0" cy="749808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 flipV="1">
            <a:off x="2377440" y="5071829"/>
            <a:ext cx="713067" cy="231691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377440" y="5303520"/>
            <a:ext cx="440887" cy="606595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 flipH="1">
            <a:off x="1936553" y="5303520"/>
            <a:ext cx="440887" cy="606595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 flipH="1" flipV="1">
            <a:off x="1664373" y="5071829"/>
            <a:ext cx="713067" cy="231691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2148840" y="432511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874520" y="480974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1907" y="4843229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61907" y="48249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🧑‍⚕️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87587" y="5327861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89727" y="5681515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89727" y="566322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315407" y="6166147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707953" y="5681515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07953" y="566322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🧾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33633" y="6166147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435773" y="4843229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35773" y="482494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🔬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61453" y="5327861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029968" y="4956048"/>
            <a:ext cx="694944" cy="694944"/>
          </a:xfrm>
          <a:prstGeom prst="ellipse">
            <a:avLst/>
          </a:prstGeom>
          <a:solidFill>
            <a:srgbClr val="0F6E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29968" y="4956048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120640" y="4617720"/>
            <a:ext cx="6519672" cy="15087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9" name="Text 47"/>
          <p:cNvSpPr/>
          <p:nvPr/>
        </p:nvSpPr>
        <p:spPr>
          <a:xfrm>
            <a:off x="5349240" y="4617720"/>
            <a:ext cx="6080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backdrop: HIPAA (US), GDPR (EU) and India's Ayushman Bharat Digital Mission (ABDM) all require encrypted storage, consent-based sharing, and full auditability of every access to patient data — every stakeholder above must be independently authenticated and authorized.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594360"/>
          </a:xfrm>
          <a:prstGeom prst="rect">
            <a:avLst/>
          </a:prstGeom>
          <a:solidFill>
            <a:srgbClr val="FCEBE8"/>
          </a:solidFill>
          <a:ln w="12700">
            <a:solidFill>
              <a:srgbClr val="E85D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 single hospital's database cannot safely serve a national network — it becomes a bottleneck, a security target, and a single point of failure all at once.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  <a:effectLst>
            <a:outerShdw blurRad="76200" dist="25400" dir="5400000" algn="bl" rotWithShape="0">
              <a:srgbClr val="5C7B7B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514600"/>
            <a:ext cx="457200" cy="45720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4963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30632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hospital stores records independently — no shared view of a patient's history.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  <a:effectLst>
            <a:outerShdw blurRad="76200" dist="25400" dir="5400000" algn="bl" rotWithShape="0">
              <a:srgbClr val="5C7B7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514600"/>
            <a:ext cx="457200" cy="45720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4963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44568" y="30632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DB can't handle concurrent access from thousands of clinics at once.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233172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  <a:effectLst>
            <a:outerShdw blurRad="76200" dist="25400" dir="5400000" algn="bl" rotWithShape="0">
              <a:srgbClr val="5C7B7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39328" y="2514600"/>
            <a:ext cx="457200" cy="45720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24963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9328" y="30632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is a high-value target; weak access control risks breaches.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  <a:effectLst>
            <a:outerShdw blurRad="76200" dist="25400" dir="5400000" algn="bl" rotWithShape="0">
              <a:srgbClr val="5C7B7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434840"/>
            <a:ext cx="457200" cy="45720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4165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4983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crashed central server halts record access nationwide, even in emergencies.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425196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  <a:effectLst>
            <a:outerShdw blurRad="76200" dist="25400" dir="5400000" algn="bl" rotWithShape="0">
              <a:srgbClr val="5C7B7B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44568" y="4434840"/>
            <a:ext cx="457200" cy="45720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44165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44568" y="4983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vendors, formats and APIs make cross-hospital data exchange painful.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160" y="425196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  <a:effectLst>
            <a:outerShdw blurRad="76200" dist="25400" dir="5400000" algn="bl" rotWithShape="0">
              <a:srgbClr val="5C7B7B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9328" y="4434840"/>
            <a:ext cx="457200" cy="45720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61120" y="441655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Load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39328" y="49834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spikes during outbreaks or mass events overwhelm fixed capacity.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Centralized Model — and Its Ceiling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/ Clinics / Apps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2331720"/>
            <a:ext cx="914400" cy="0"/>
          </a:xfrm>
          <a:prstGeom prst="line">
            <a:avLst/>
          </a:prstGeom>
          <a:noFill/>
          <a:ln w="19050">
            <a:solidFill>
              <a:srgbClr val="5C7B7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297680" y="16002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0" y="2286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Application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0" y="2331720"/>
            <a:ext cx="914400" cy="0"/>
          </a:xfrm>
          <a:prstGeom prst="line">
            <a:avLst/>
          </a:prstGeom>
          <a:noFill/>
          <a:ln w="19050">
            <a:solidFill>
              <a:srgbClr val="5C7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63840" y="16002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E85D4C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1737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863840" y="2286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Central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flows through one server and one database — every request, every hospital, every hour of the day.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THIS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4160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 tolerance — server downtime means total system downtime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72200" y="41605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4808" y="41605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 hits hardware limits; can't add capacity on demand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7548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converges on one node, capping concurrent throughput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72200" y="47548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4808" y="47548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isolation — one tenant's load can degrade service for everyone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5349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is slow, often hours, since there is no live replica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72200" y="53492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64808" y="5349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Cross-hospital data sharing needs manual exports or brittle integrations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Architecture — End-to-End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65960" y="141732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0" y="141732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Clinician App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EHR Client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4114800" cy="502920"/>
          </a:xfrm>
          <a:prstGeom prst="roundRect">
            <a:avLst>
              <a:gd name="adj" fmla="val 10909"/>
            </a:avLst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3317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—  Auth · Rate Limiting · TLS Termination · Routing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1920240"/>
            <a:ext cx="2331720" cy="411480"/>
          </a:xfrm>
          <a:prstGeom prst="line">
            <a:avLst/>
          </a:prstGeom>
          <a:noFill/>
          <a:ln w="12700">
            <a:solidFill>
              <a:srgbClr val="AFC9C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49240" y="1920240"/>
            <a:ext cx="0" cy="411480"/>
          </a:xfrm>
          <a:prstGeom prst="line">
            <a:avLst/>
          </a:prstGeom>
          <a:noFill/>
          <a:ln w="12700">
            <a:solidFill>
              <a:srgbClr val="AFC9C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5349240" y="1920240"/>
            <a:ext cx="2331720" cy="411480"/>
          </a:xfrm>
          <a:prstGeom prst="line">
            <a:avLst/>
          </a:prstGeom>
          <a:noFill/>
          <a:ln w="12700">
            <a:solidFill>
              <a:srgbClr val="AFC9C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49240" y="1938528"/>
            <a:ext cx="0" cy="393192"/>
          </a:xfrm>
          <a:prstGeom prst="line">
            <a:avLst/>
          </a:prstGeom>
          <a:noFill/>
          <a:ln w="22225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" y="3246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H="1">
            <a:off x="1508760" y="2834640"/>
            <a:ext cx="3840480" cy="411480"/>
          </a:xfrm>
          <a:prstGeom prst="line">
            <a:avLst/>
          </a:prstGeom>
          <a:noFill/>
          <a:ln w="12700">
            <a:solidFill>
              <a:srgbClr val="9FB3B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37460" y="3246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3180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H="1">
            <a:off x="3429000" y="2834640"/>
            <a:ext cx="1920240" cy="411480"/>
          </a:xfrm>
          <a:prstGeom prst="line">
            <a:avLst/>
          </a:prstGeom>
          <a:noFill/>
          <a:ln w="12700">
            <a:solidFill>
              <a:srgbClr val="9FB3B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57700" y="3246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3420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9240" y="2834640"/>
            <a:ext cx="0" cy="411480"/>
          </a:xfrm>
          <a:prstGeom prst="line">
            <a:avLst/>
          </a:prstGeom>
          <a:noFill/>
          <a:ln w="12700">
            <a:solidFill>
              <a:srgbClr val="9FB3B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77940" y="3246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3660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2834640"/>
            <a:ext cx="1920240" cy="411480"/>
          </a:xfrm>
          <a:prstGeom prst="line">
            <a:avLst/>
          </a:prstGeom>
          <a:noFill/>
          <a:ln w="12700">
            <a:solidFill>
              <a:srgbClr val="9FB3B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298180" y="324612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43900" y="32461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49240" y="2834640"/>
            <a:ext cx="3840480" cy="411480"/>
          </a:xfrm>
          <a:prstGeom prst="line">
            <a:avLst/>
          </a:prstGeom>
          <a:noFill/>
          <a:ln w="12700">
            <a:solidFill>
              <a:srgbClr val="9FB3B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143000" y="43434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E85D4C"/>
          </a:solidFill>
          <a:ln w="12700">
            <a:solidFill>
              <a:srgbClr val="E85D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43434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— Event Streaming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43434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0A398"/>
          </a:solidFill>
          <a:ln w="12700">
            <a:solidFill>
              <a:srgbClr val="E85D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— Tasks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508760" y="3931920"/>
            <a:ext cx="2171700" cy="411480"/>
          </a:xfrm>
          <a:prstGeom prst="line">
            <a:avLst/>
          </a:prstGeom>
          <a:noFill/>
          <a:ln w="12700">
            <a:solidFill>
              <a:srgbClr val="E8A79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429000" y="3931920"/>
            <a:ext cx="251460" cy="411480"/>
          </a:xfrm>
          <a:prstGeom prst="line">
            <a:avLst/>
          </a:prstGeom>
          <a:noFill/>
          <a:ln w="12700">
            <a:solidFill>
              <a:srgbClr val="E8A79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3680460" y="3931920"/>
            <a:ext cx="5509260" cy="411480"/>
          </a:xfrm>
          <a:prstGeom prst="line">
            <a:avLst/>
          </a:prstGeom>
          <a:noFill/>
          <a:ln w="12700">
            <a:solidFill>
              <a:srgbClr val="E8A79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349240" y="3931920"/>
            <a:ext cx="2651760" cy="411480"/>
          </a:xfrm>
          <a:prstGeom prst="line">
            <a:avLst/>
          </a:prstGeom>
          <a:noFill/>
          <a:ln w="12700">
            <a:solidFill>
              <a:srgbClr val="E8A79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269480" y="3931920"/>
            <a:ext cx="731520" cy="411480"/>
          </a:xfrm>
          <a:prstGeom prst="line">
            <a:avLst/>
          </a:prstGeom>
          <a:noFill/>
          <a:ln w="12700">
            <a:solidFill>
              <a:srgbClr val="E8A79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68680" y="534924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349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54680" y="534924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5349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(documents)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40680" y="534924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0" y="5349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26680" y="534924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0" y="53492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(imaging)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 flipH="1">
            <a:off x="1920240" y="4800600"/>
            <a:ext cx="1760220" cy="548640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680460" y="4800600"/>
            <a:ext cx="525780" cy="548640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H="1">
            <a:off x="6492240" y="4800600"/>
            <a:ext cx="1508760" cy="548640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001000" y="4800600"/>
            <a:ext cx="777240" cy="548640"/>
          </a:xfrm>
          <a:prstGeom prst="line">
            <a:avLst/>
          </a:prstGeom>
          <a:noFill/>
          <a:ln w="15875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561320" y="3246120"/>
            <a:ext cx="1325880" cy="1965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0F6E6E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10561320" y="335584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0607040" y="37490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607040" y="40233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/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634472" y="4526280"/>
            <a:ext cx="1179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· leader election · config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349240" y="3589020"/>
            <a:ext cx="5212080" cy="640080"/>
          </a:xfrm>
          <a:prstGeom prst="line">
            <a:avLst/>
          </a:prstGeom>
          <a:noFill/>
          <a:ln w="12700">
            <a:solidFill>
              <a:srgbClr val="0F6E6E"/>
            </a:solidFill>
            <a:prstDash val="dash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Services Talk to Each Other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 ·  REST / gRPC / RPC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2468880"/>
            <a:ext cx="0" cy="1508760"/>
          </a:xfrm>
          <a:prstGeom prst="line">
            <a:avLst/>
          </a:prstGeom>
          <a:noFill/>
          <a:ln w="12700">
            <a:solidFill>
              <a:srgbClr val="C9DEDB"/>
            </a:solidFill>
            <a:prstDash val="dash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423160" y="210312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2468880"/>
            <a:ext cx="0" cy="1508760"/>
          </a:xfrm>
          <a:prstGeom prst="line">
            <a:avLst/>
          </a:prstGeom>
          <a:noFill/>
          <a:ln w="12700">
            <a:solidFill>
              <a:srgbClr val="C9DEDB"/>
            </a:solidFill>
            <a:prstDash val="dash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526280" y="210312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2468880"/>
            <a:ext cx="0" cy="1508760"/>
          </a:xfrm>
          <a:prstGeom prst="line">
            <a:avLst/>
          </a:prstGeom>
          <a:noFill/>
          <a:ln w="12700">
            <a:solidFill>
              <a:srgbClr val="C9DEDB"/>
            </a:solidFill>
            <a:prstDash val="dash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188720" y="2743200"/>
            <a:ext cx="1737360" cy="0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325880" y="2468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request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26080" y="3200400"/>
            <a:ext cx="2103120" cy="0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017520" y="29260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route + authorize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flipH="1">
            <a:off x="2926080" y="3657600"/>
            <a:ext cx="2103120" cy="0"/>
          </a:xfrm>
          <a:prstGeom prst="line">
            <a:avLst/>
          </a:prstGeom>
          <a:noFill/>
          <a:ln w="19050">
            <a:solidFill>
              <a:srgbClr val="E85D4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291840" y="3703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response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 flipH="1">
            <a:off x="1188720" y="4023360"/>
            <a:ext cx="1737360" cy="0"/>
          </a:xfrm>
          <a:prstGeom prst="line">
            <a:avLst/>
          </a:prstGeom>
          <a:noFill/>
          <a:ln w="19050">
            <a:solidFill>
              <a:srgbClr val="E85D4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463040" y="3749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response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72200" y="1508760"/>
            <a:ext cx="546811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64592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 ·  KAFKA / RABBITMQ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1031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(Record Svc)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29600" y="21031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85D4C"/>
          </a:solidFill>
          <a:ln w="12700">
            <a:solidFill>
              <a:srgbClr val="E85D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(Topic / Queue)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58400" y="178308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04120" y="178308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058400" y="2496312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04120" y="2496312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058400" y="3209544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320954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Svc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72400" y="2331720"/>
            <a:ext cx="457200" cy="0"/>
          </a:xfrm>
          <a:prstGeom prst="line">
            <a:avLst/>
          </a:prstGeom>
          <a:noFill/>
          <a:ln w="19050">
            <a:solidFill>
              <a:srgbClr val="E85D4C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726680" y="203911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 flipV="1">
            <a:off x="9601200" y="2048256"/>
            <a:ext cx="457200" cy="283464"/>
          </a:xfrm>
          <a:prstGeom prst="line">
            <a:avLst/>
          </a:prstGeom>
          <a:noFill/>
          <a:ln w="15875">
            <a:solidFill>
              <a:srgbClr val="E8A79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01200" y="2331720"/>
            <a:ext cx="457200" cy="429768"/>
          </a:xfrm>
          <a:prstGeom prst="line">
            <a:avLst/>
          </a:prstGeom>
          <a:noFill/>
          <a:ln w="15875">
            <a:solidFill>
              <a:srgbClr val="E8A79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01200" y="2331720"/>
            <a:ext cx="457200" cy="1143000"/>
          </a:xfrm>
          <a:prstGeom prst="line">
            <a:avLst/>
          </a:prstGeom>
          <a:noFill/>
          <a:ln w="15875">
            <a:solidFill>
              <a:srgbClr val="E8A79C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400800" y="3794760"/>
            <a:ext cx="5010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to every subscriber — producer never waits on consumers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4526280"/>
            <a:ext cx="2157984" cy="777240"/>
          </a:xfrm>
          <a:prstGeom prst="roundRect">
            <a:avLst>
              <a:gd name="adj" fmla="val 7059"/>
            </a:avLst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" y="459943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" y="487375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app-facing APIs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4640" y="4526280"/>
            <a:ext cx="2157984" cy="777240"/>
          </a:xfrm>
          <a:prstGeom prst="roundRect">
            <a:avLst>
              <a:gd name="adj" fmla="val 7059"/>
            </a:avLst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44368" y="459943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944368" y="487375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service calls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120640" y="4526280"/>
            <a:ext cx="2157984" cy="777240"/>
          </a:xfrm>
          <a:prstGeom prst="roundRect">
            <a:avLst>
              <a:gd name="adj" fmla="val 7059"/>
            </a:avLst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0368" y="459943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30368" y="487375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Tightly-coupled internal calls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06640" y="4526280"/>
            <a:ext cx="2157984" cy="777240"/>
          </a:xfrm>
          <a:prstGeom prst="roundRect">
            <a:avLst>
              <a:gd name="adj" fmla="val 7059"/>
            </a:avLst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16368" y="459943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516368" y="487375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streams &amp; audit trail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692640" y="4526280"/>
            <a:ext cx="2157984" cy="777240"/>
          </a:xfrm>
          <a:prstGeom prst="roundRect">
            <a:avLst>
              <a:gd name="adj" fmla="val 7059"/>
            </a:avLst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02368" y="459943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802368" y="487375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 queues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" y="54864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gRPC links internal microservices for speed; REST fronts stable public APIs; Kafka streams every record change for audit/analytics; RabbitMQ queues time-bound tasks so a slow consumer never blocks a request.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Up When a Node Fails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210312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97280" y="33375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3375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33375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33375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H="1">
            <a:off x="1691640" y="2606040"/>
            <a:ext cx="1234440" cy="731520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66160" y="2606040"/>
            <a:ext cx="1234440" cy="731520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7240" y="38221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every write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468112" cy="2697480"/>
          </a:xfrm>
          <a:prstGeom prst="rect">
            <a:avLst/>
          </a:prstGeom>
          <a:solidFill>
            <a:srgbClr val="FCEBE8"/>
          </a:solidFill>
          <a:ln w="12700">
            <a:solidFill>
              <a:srgbClr val="E85D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4592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FAILURE → AUTOMATIC FAILOVER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11896" y="210312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9C6C0"/>
          </a:solidFill>
          <a:ln w="15875">
            <a:solidFill>
              <a:srgbClr val="E85D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8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Node A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8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33375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3375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LEADER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902952" y="33375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48672" y="33375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flipH="1">
            <a:off x="7315200" y="2359152"/>
            <a:ext cx="1271016" cy="978408"/>
          </a:xfrm>
          <a:prstGeom prst="line">
            <a:avLst/>
          </a:prstGeom>
          <a:noFill/>
          <a:ln w="19050">
            <a:solidFill>
              <a:srgbClr val="E85D4C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543800" y="2651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election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 flipV="1">
            <a:off x="7315200" y="3044952"/>
            <a:ext cx="3182112" cy="292608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400800" y="3822192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client traffic rerouted to new leader — no downtime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MECHANISMS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22128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937760"/>
            <a:ext cx="384048" cy="384048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</a:rPr>
              <a:t>🗳️</a:t>
            </a:r>
            <a:endParaRPr lang="en-US" sz="1092" dirty="0"/>
          </a:p>
        </p:txBody>
      </p:sp>
      <p:sp>
        <p:nvSpPr>
          <p:cNvPr id="31" name="Text 29"/>
          <p:cNvSpPr/>
          <p:nvPr/>
        </p:nvSpPr>
        <p:spPr>
          <a:xfrm>
            <a:off x="658368" y="53949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(Raft/Paxos)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" y="571500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Elects the new leader deterministically, avoiding split-brain.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880360" y="4800600"/>
            <a:ext cx="22128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17520" y="4937760"/>
            <a:ext cx="384048" cy="384048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</a:rPr>
              <a:t>🧯</a:t>
            </a:r>
            <a:endParaRPr lang="en-US" sz="1092" dirty="0"/>
          </a:p>
        </p:txBody>
      </p:sp>
      <p:sp>
        <p:nvSpPr>
          <p:cNvPr id="36" name="Text 34"/>
          <p:cNvSpPr/>
          <p:nvPr/>
        </p:nvSpPr>
        <p:spPr>
          <a:xfrm>
            <a:off x="2990088" y="53949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990088" y="571500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 failing service fast so failures don't cascade.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212080" y="4800600"/>
            <a:ext cx="22128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49240" y="4937760"/>
            <a:ext cx="384048" cy="384048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</a:rPr>
              <a:t>🔄</a:t>
            </a:r>
            <a:endParaRPr lang="en-US" sz="1092" dirty="0"/>
          </a:p>
        </p:txBody>
      </p:sp>
      <p:sp>
        <p:nvSpPr>
          <p:cNvPr id="41" name="Text 39"/>
          <p:cNvSpPr/>
          <p:nvPr/>
        </p:nvSpPr>
        <p:spPr>
          <a:xfrm>
            <a:off x="5321808" y="53949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Backoff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21808" y="571500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errors retried with exponential backoff.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543800" y="4800600"/>
            <a:ext cx="22128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80960" y="4937760"/>
            <a:ext cx="384048" cy="384048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</a:rPr>
              <a:t>📜</a:t>
            </a:r>
            <a:endParaRPr lang="en-US" sz="1092" dirty="0"/>
          </a:p>
        </p:txBody>
      </p:sp>
      <p:sp>
        <p:nvSpPr>
          <p:cNvPr id="46" name="Text 44"/>
          <p:cNvSpPr/>
          <p:nvPr/>
        </p:nvSpPr>
        <p:spPr>
          <a:xfrm>
            <a:off x="7653528" y="53949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Write-Ahead Log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653528" y="571500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logged first, replayable after a crash.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875520" y="4800600"/>
            <a:ext cx="2212848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12680" y="4937760"/>
            <a:ext cx="384048" cy="384048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12680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dirty="0">
                <a:solidFill>
                  <a:srgbClr val="000000"/>
                </a:solidFill>
              </a:rPr>
              <a:t>🌍</a:t>
            </a:r>
            <a:endParaRPr lang="en-US" sz="1092" dirty="0"/>
          </a:p>
        </p:txBody>
      </p:sp>
      <p:sp>
        <p:nvSpPr>
          <p:cNvPr id="51" name="Text 49"/>
          <p:cNvSpPr/>
          <p:nvPr/>
        </p:nvSpPr>
        <p:spPr>
          <a:xfrm>
            <a:off x="9985248" y="53949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Geo-Redundant Backup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985248" y="5715000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backups protect against regional outages.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From One Hospital to a 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631436" y="146304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77156" y="1463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Requests — millions of concurrent users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94476" y="1920240"/>
            <a:ext cx="0" cy="320040"/>
          </a:xfrm>
          <a:prstGeom prst="line">
            <a:avLst/>
          </a:prstGeom>
          <a:noFill/>
          <a:ln w="22225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22876" y="22402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8596" y="2240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 (least-conn · consistent hash)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76756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22476" y="32461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 flipH="1">
            <a:off x="2185416" y="2743200"/>
            <a:ext cx="3909060" cy="502920"/>
          </a:xfrm>
          <a:prstGeom prst="line">
            <a:avLst/>
          </a:prstGeom>
          <a:noFill/>
          <a:ln w="12700">
            <a:solidFill>
              <a:srgbClr val="AFC9C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40380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6100" y="32461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 flipH="1">
            <a:off x="3749040" y="2743200"/>
            <a:ext cx="2345436" cy="502920"/>
          </a:xfrm>
          <a:prstGeom prst="line">
            <a:avLst/>
          </a:prstGeom>
          <a:noFill/>
          <a:ln w="12700">
            <a:solidFill>
              <a:srgbClr val="AFC9C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04004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9724" y="32461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 flipH="1">
            <a:off x="5312664" y="2743200"/>
            <a:ext cx="781812" cy="502920"/>
          </a:xfrm>
          <a:prstGeom prst="line">
            <a:avLst/>
          </a:prstGeom>
          <a:noFill/>
          <a:ln w="12700">
            <a:solidFill>
              <a:srgbClr val="AFC9C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67628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3348" y="32461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94476" y="2743200"/>
            <a:ext cx="781812" cy="502920"/>
          </a:xfrm>
          <a:prstGeom prst="line">
            <a:avLst/>
          </a:prstGeom>
          <a:noFill/>
          <a:ln w="12700">
            <a:solidFill>
              <a:srgbClr val="AFC9C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31252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6972" y="32461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Instance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(auto-scaled)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94476" y="2743200"/>
            <a:ext cx="2345436" cy="502920"/>
          </a:xfrm>
          <a:prstGeom prst="line">
            <a:avLst/>
          </a:prstGeom>
          <a:noFill/>
          <a:ln w="12700">
            <a:solidFill>
              <a:srgbClr val="AFC9C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94876" y="3246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0596" y="32461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Instance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(auto-scaled)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94476" y="2743200"/>
            <a:ext cx="3909060" cy="502920"/>
          </a:xfrm>
          <a:prstGeom prst="line">
            <a:avLst/>
          </a:prstGeom>
          <a:noFill/>
          <a:ln w="12700">
            <a:solidFill>
              <a:srgbClr val="AFC9C6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8640" y="386791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HPA adds instances automatically as CPU / request-rate rises, and removes them as load drops.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35124" y="461772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0F7F6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80844" y="4617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A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(patients A–F)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65092" y="461772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0F7F6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10812" y="4617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B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(patients G–M)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95060" y="461772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0F7F6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0780" y="4617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C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(patients N–S)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25028" y="461772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F0F7F6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0748" y="4617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D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(patients T–Z)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185416" y="3794760"/>
            <a:ext cx="864108" cy="822960"/>
          </a:xfrm>
          <a:prstGeom prst="line">
            <a:avLst/>
          </a:prstGeom>
          <a:noFill/>
          <a:ln w="9525">
            <a:solidFill>
              <a:srgbClr val="D9E9E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3049524" y="3794760"/>
            <a:ext cx="699516" cy="822960"/>
          </a:xfrm>
          <a:prstGeom prst="line">
            <a:avLst/>
          </a:prstGeom>
          <a:noFill/>
          <a:ln w="9525">
            <a:solidFill>
              <a:srgbClr val="D9E9E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5079492" y="3794760"/>
            <a:ext cx="233172" cy="822960"/>
          </a:xfrm>
          <a:prstGeom prst="line">
            <a:avLst/>
          </a:prstGeom>
          <a:noFill/>
          <a:ln w="9525">
            <a:solidFill>
              <a:srgbClr val="D9E9E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876288" y="3794760"/>
            <a:ext cx="233172" cy="822960"/>
          </a:xfrm>
          <a:prstGeom prst="line">
            <a:avLst/>
          </a:prstGeom>
          <a:noFill/>
          <a:ln w="9525">
            <a:solidFill>
              <a:srgbClr val="D9E9E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H="1">
            <a:off x="7109460" y="3794760"/>
            <a:ext cx="1330452" cy="822960"/>
          </a:xfrm>
          <a:prstGeom prst="line">
            <a:avLst/>
          </a:prstGeom>
          <a:noFill/>
          <a:ln w="9525">
            <a:solidFill>
              <a:srgbClr val="D9E9E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9139428" y="3794760"/>
            <a:ext cx="864108" cy="822960"/>
          </a:xfrm>
          <a:prstGeom prst="line">
            <a:avLst/>
          </a:prstGeom>
          <a:noFill/>
          <a:ln w="9525">
            <a:solidFill>
              <a:srgbClr val="D9E9E6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48640" y="5486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TECHNIQUES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806440"/>
            <a:ext cx="3611880" cy="384048"/>
          </a:xfrm>
          <a:prstGeom prst="roundRect">
            <a:avLst>
              <a:gd name="adj" fmla="val 11905"/>
            </a:avLst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58064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Redis caching for hot records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88536" y="5806440"/>
            <a:ext cx="3611880" cy="384048"/>
          </a:xfrm>
          <a:prstGeom prst="roundRect">
            <a:avLst>
              <a:gd name="adj" fmla="val 11905"/>
            </a:avLst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88536" y="58064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CDN for imaging / large files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028432" y="5806440"/>
            <a:ext cx="3611880" cy="384048"/>
          </a:xfrm>
          <a:prstGeom prst="roundRect">
            <a:avLst>
              <a:gd name="adj" fmla="val 11905"/>
            </a:avLst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28432" y="58064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Read replicas for query-heavy loads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AUTHENTICATION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 Earns Its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69164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783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🪪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67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credentials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68296" y="2217420"/>
            <a:ext cx="1371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05456" y="169164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1783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2167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244144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factor check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97096" y="2217420"/>
            <a:ext cx="1371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169164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34256" y="1783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2167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/ OIDC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0" y="244144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 issues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25896" y="2217420"/>
            <a:ext cx="1371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63056" y="169164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783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🎫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2167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0" y="244144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Short-lived, signed token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854696" y="2217420"/>
            <a:ext cx="1371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91856" y="169164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91856" y="1783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46720" y="2167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ABAC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244144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context checked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683496" y="2217420"/>
            <a:ext cx="13716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20656" y="1691640"/>
            <a:ext cx="1691640" cy="1051560"/>
          </a:xfrm>
          <a:prstGeom prst="roundRect">
            <a:avLst>
              <a:gd name="adj" fmla="val 6087"/>
            </a:avLst>
          </a:prstGeom>
          <a:solidFill>
            <a:srgbClr val="0F6E6E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0656" y="17830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75520" y="216712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875520" y="244144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reaches service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failed step redirects to Access Denied + an audit-log entry — never a silent pass-through.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LAYERS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3611880" cy="1691640"/>
          </a:xfrm>
          <a:prstGeom prst="rect">
            <a:avLst/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4187952"/>
            <a:ext cx="457200" cy="45720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🔐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4754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Everywhere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1520" y="5074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rest, TLS 1.3 in transit, field-level encryption for identifiers.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88536" y="4023360"/>
            <a:ext cx="3611880" cy="1691640"/>
          </a:xfrm>
          <a:prstGeom prst="rect">
            <a:avLst/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71416" y="4187952"/>
            <a:ext cx="457200" cy="45720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71416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📚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471416" y="4754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471416" y="5074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logged; tamper-evident hashing / blockchain option for integrity.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28432" y="4023360"/>
            <a:ext cx="3611880" cy="1691640"/>
          </a:xfrm>
          <a:prstGeom prst="rect">
            <a:avLst/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11312" y="4187952"/>
            <a:ext cx="457200" cy="45720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1131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🚫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211312" y="47548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Network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211312" y="5074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implicit trust between services — every internal call is verified too.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Shaving Milliseconds at Every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371600" cy="512064"/>
          </a:xfrm>
          <a:prstGeom prst="roundRect">
            <a:avLst>
              <a:gd name="adj" fmla="val 1071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74520" y="2359152"/>
            <a:ext cx="320040" cy="0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4560" y="1924812"/>
            <a:ext cx="1463040" cy="868680"/>
          </a:xfrm>
          <a:prstGeom prst="diamond">
            <a:avLst/>
          </a:prstGeom>
          <a:solidFill>
            <a:srgbClr val="EAF6F4"/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924812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Redis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0" y="2359152"/>
            <a:ext cx="320040" cy="0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675888" y="184708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77640" y="2103120"/>
            <a:ext cx="2148840" cy="512064"/>
          </a:xfrm>
          <a:prstGeom prst="roundRect">
            <a:avLst>
              <a:gd name="adj" fmla="val 10714"/>
            </a:avLst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2103120"/>
            <a:ext cx="2057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from Cache — &lt;10ms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2359152"/>
            <a:ext cx="320040" cy="0"/>
          </a:xfrm>
          <a:prstGeom prst="line">
            <a:avLst/>
          </a:prstGeom>
          <a:noFill/>
          <a:ln w="1905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46520" y="2103120"/>
            <a:ext cx="2011680" cy="512064"/>
          </a:xfrm>
          <a:prstGeom prst="roundRect">
            <a:avLst>
              <a:gd name="adj" fmla="val 1071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0312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0" y="2793492"/>
            <a:ext cx="0" cy="635508"/>
          </a:xfrm>
          <a:prstGeom prst="line">
            <a:avLst/>
          </a:prstGeom>
          <a:noFill/>
          <a:ln w="19050">
            <a:solidFill>
              <a:srgbClr val="E85D4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423160" y="283921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5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508760" y="3429000"/>
            <a:ext cx="2286000" cy="512064"/>
          </a:xfrm>
          <a:prstGeom prst="roundRect">
            <a:avLst>
              <a:gd name="adj" fmla="val 10714"/>
            </a:avLst>
          </a:prstGeom>
          <a:solidFill>
            <a:srgbClr val="F0A398"/>
          </a:solidFill>
          <a:ln w="15875">
            <a:solidFill>
              <a:srgbClr val="E85D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342900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Sharded DB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(indexed)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3685032"/>
            <a:ext cx="320040" cy="0"/>
          </a:xfrm>
          <a:prstGeom prst="line">
            <a:avLst/>
          </a:prstGeom>
          <a:noFill/>
          <a:ln w="19050">
            <a:solidFill>
              <a:srgbClr val="E85D4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14800" y="3429000"/>
            <a:ext cx="1828800" cy="512064"/>
          </a:xfrm>
          <a:prstGeom prst="roundRect">
            <a:avLst>
              <a:gd name="adj" fmla="val 10714"/>
            </a:avLst>
          </a:prstGeom>
          <a:solidFill>
            <a:srgbClr val="EAF6F4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342900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</a:t>
            </a:r>
            <a:endParaRPr lang="en-US" sz="9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V="1">
            <a:off x="5029200" y="2615184"/>
            <a:ext cx="2423160" cy="813816"/>
          </a:xfrm>
          <a:prstGeom prst="line">
            <a:avLst/>
          </a:prstGeom>
          <a:noFill/>
          <a:ln w="15875">
            <a:solidFill>
              <a:srgbClr val="5C7B7B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48640" y="407822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hits return in single-digit milliseconds; misses still complete fast via indexed shards, then warm the cache for next time.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4714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TECHNIQUES APPLIED THROUGHOUT THE STACK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09744"/>
            <a:ext cx="18105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71016" y="4937760"/>
            <a:ext cx="365760" cy="36576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71016" y="4919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🔌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603504" y="5358384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3504" y="5724144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DB connections cut per-request setup overhead.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450592" y="4809744"/>
            <a:ext cx="18105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2968" y="4937760"/>
            <a:ext cx="365760" cy="36576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72968" y="4919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🧵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2505456" y="5358384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05456" y="5724144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Non-urgent work (notifications, reports) offloaded to queues.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352544" y="4809744"/>
            <a:ext cx="18105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74920" y="4937760"/>
            <a:ext cx="365760" cy="36576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4919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📉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4407408" y="5358384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07408" y="5724144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gzip/Brotli payloads shrink network transfer time.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254496" y="4809744"/>
            <a:ext cx="18105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76872" y="4937760"/>
            <a:ext cx="365760" cy="36576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4919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🧮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6309360" y="5358384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Splitting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09360" y="5724144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hit replicas; writes hit the primary in parallel.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156448" y="4809744"/>
            <a:ext cx="18105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4937760"/>
            <a:ext cx="365760" cy="36576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78824" y="4919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📍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8211312" y="5358384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211312" y="5724144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Latency-sensitive requests processed near the hospital.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0058400" y="4809744"/>
            <a:ext cx="18105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780776" y="4937760"/>
            <a:ext cx="365760" cy="365760"/>
          </a:xfrm>
          <a:prstGeom prst="ellipse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80776" y="4919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000000"/>
                </a:solidFill>
              </a:rPr>
              <a:t>🗃️</a:t>
            </a:r>
            <a:endParaRPr lang="en-US" sz="1040" dirty="0"/>
          </a:p>
        </p:txBody>
      </p:sp>
      <p:sp>
        <p:nvSpPr>
          <p:cNvPr id="54" name="Text 52"/>
          <p:cNvSpPr/>
          <p:nvPr/>
        </p:nvSpPr>
        <p:spPr>
          <a:xfrm>
            <a:off x="10113264" y="5358384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113264" y="5724144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reviewed; denormalized views used for hot paths.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Powers Each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0F6E6E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23360" y="1508760"/>
            <a:ext cx="7434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patient portal &amp; doctor dashboard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76656" y="2075688"/>
            <a:ext cx="10835640" cy="475488"/>
          </a:xfrm>
          <a:prstGeom prst="roundRect">
            <a:avLst>
              <a:gd name="adj" fmla="val 11538"/>
            </a:avLst>
          </a:prstGeom>
          <a:solidFill>
            <a:srgbClr val="12807E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215798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1579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25296" y="20756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51376" y="2075688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/ NGINX — routing, rate limiting, TLS termination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" y="2642616"/>
            <a:ext cx="10579608" cy="475488"/>
          </a:xfrm>
          <a:prstGeom prst="roundRect">
            <a:avLst>
              <a:gd name="adj" fmla="val 11538"/>
            </a:avLst>
          </a:prstGeom>
          <a:solidFill>
            <a:srgbClr val="0F6E6E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272491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724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53312" y="264261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Microservices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79392" y="2642616"/>
            <a:ext cx="6922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Spring Boot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2688" y="3209544"/>
            <a:ext cx="10323576" cy="475488"/>
          </a:xfrm>
          <a:prstGeom prst="roundRect">
            <a:avLst>
              <a:gd name="adj" fmla="val 11538"/>
            </a:avLst>
          </a:prstGeom>
          <a:solidFill>
            <a:srgbClr val="12807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" y="329184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" y="3291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320954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07408" y="3209544"/>
            <a:ext cx="66659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· REST · Apache Kafka · RabbitMQ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60704" y="3776472"/>
            <a:ext cx="10067544" cy="475488"/>
          </a:xfrm>
          <a:prstGeom prst="roundRect">
            <a:avLst>
              <a:gd name="adj" fmla="val 11538"/>
            </a:avLst>
          </a:prstGeom>
          <a:solidFill>
            <a:srgbClr val="0F6E6E"/>
          </a:solidFill>
          <a:ln/>
        </p:spPr>
      </p:sp>
      <p:sp>
        <p:nvSpPr>
          <p:cNvPr id="25" name="Shape 23"/>
          <p:cNvSpPr/>
          <p:nvPr/>
        </p:nvSpPr>
        <p:spPr>
          <a:xfrm>
            <a:off x="1170432" y="38587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70432" y="38587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9344" y="377647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35424" y="3776472"/>
            <a:ext cx="6409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(sharded) · MongoDB · Redis · S3 / MinIO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188720" y="4343400"/>
            <a:ext cx="9811512" cy="475488"/>
          </a:xfrm>
          <a:prstGeom prst="roundRect">
            <a:avLst>
              <a:gd name="adj" fmla="val 11538"/>
            </a:avLst>
          </a:prstGeom>
          <a:solidFill>
            <a:srgbClr val="12807E"/>
          </a:solidFill>
          <a:ln/>
        </p:spPr>
      </p:sp>
      <p:sp>
        <p:nvSpPr>
          <p:cNvPr id="30" name="Shape 28"/>
          <p:cNvSpPr/>
          <p:nvPr/>
        </p:nvSpPr>
        <p:spPr>
          <a:xfrm>
            <a:off x="1298448" y="44256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98448" y="4425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37360" y="43434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Security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63440" y="4343400"/>
            <a:ext cx="6153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— OAuth2 / OIDC, JWT issuance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16736" y="4910328"/>
            <a:ext cx="9555480" cy="475488"/>
          </a:xfrm>
          <a:prstGeom prst="roundRect">
            <a:avLst>
              <a:gd name="adj" fmla="val 11538"/>
            </a:avLst>
          </a:prstGeom>
          <a:solidFill>
            <a:srgbClr val="0F6E6E"/>
          </a:solidFill>
          <a:ln/>
        </p:spPr>
      </p:sp>
      <p:sp>
        <p:nvSpPr>
          <p:cNvPr id="35" name="Shape 33"/>
          <p:cNvSpPr/>
          <p:nvPr/>
        </p:nvSpPr>
        <p:spPr>
          <a:xfrm>
            <a:off x="1426464" y="499262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426464" y="4992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865376" y="491032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Orchestration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91456" y="4910328"/>
            <a:ext cx="5897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Kubernetes (HPA) · etcd / ZooKeeper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444752" y="5477256"/>
            <a:ext cx="9299448" cy="475488"/>
          </a:xfrm>
          <a:prstGeom prst="roundRect">
            <a:avLst>
              <a:gd name="adj" fmla="val 11538"/>
            </a:avLst>
          </a:prstGeom>
          <a:solidFill>
            <a:srgbClr val="12807E"/>
          </a:solidFill>
          <a:ln/>
        </p:spPr>
      </p:sp>
      <p:sp>
        <p:nvSpPr>
          <p:cNvPr id="40" name="Shape 38"/>
          <p:cNvSpPr/>
          <p:nvPr/>
        </p:nvSpPr>
        <p:spPr>
          <a:xfrm>
            <a:off x="1554480" y="55595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554480" y="55595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993392" y="547725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Cloud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919472" y="5477256"/>
            <a:ext cx="5641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· ELK · AWS / GCP (multi-region)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Success Looks 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79192" cy="1965960"/>
          </a:xfrm>
          <a:prstGeom prst="rect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679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target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node or regional failures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0712" y="1554480"/>
            <a:ext cx="2679192" cy="1965960"/>
          </a:xfrm>
          <a:prstGeom prst="rect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691640"/>
            <a:ext cx="2679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&lt;200ms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47872" y="24231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record fetch latency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47872" y="288036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routine patient lookup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72784" y="1554480"/>
            <a:ext cx="2679192" cy="1965960"/>
          </a:xfrm>
          <a:prstGeom prst="rect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691640"/>
            <a:ext cx="2679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10M+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9944" y="24231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served concurrently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9944" y="288036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performance degradation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79192" cy="1965960"/>
          </a:xfrm>
          <a:prstGeom prst="rect">
            <a:avLst/>
          </a:prstGeom>
          <a:solidFill>
            <a:srgbClr val="EAF6F4"/>
          </a:solidFill>
          <a:ln w="12700">
            <a:solidFill>
              <a:srgbClr val="D9E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4856" y="1691640"/>
            <a:ext cx="26791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72016" y="242316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events audited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272016" y="288036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read/write logged and traceable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OUTCOMES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25196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get a unified, real-time view of a patient's history across hospitals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6908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690872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staff can pull critical records within seconds, anywhere in the network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12978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512978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onboard as new nodes without redesigning the core system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56869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568696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gain visibility and consent control over who accesses their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00760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600760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meets HIPAA/GDPR/ABDM audit requirements out of the box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Outlast Failure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11880" cy="1417320"/>
          </a:xfrm>
          <a:prstGeom prst="rect">
            <a:avLst/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system that stores, secures and serves healthcare records across hospitals in real time.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611880" cy="1417320"/>
          </a:xfrm>
          <a:prstGeom prst="rect">
            <a:avLst/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14884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systems can't meet healthcare's demand for availability, security and scale simultaneously.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611880" cy="1417320"/>
          </a:xfrm>
          <a:prstGeom prst="rect">
            <a:avLst/>
          </a:prstGeom>
          <a:solidFill>
            <a:srgbClr val="10345A"/>
          </a:solidFill>
          <a:ln w="12700">
            <a:solidFill>
              <a:srgbClr val="1D52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48840"/>
            <a:ext cx="3246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+ Kafka/RabbitMQ + sharded, replicated data stores + zero-trust security, all auto-scaling.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61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42062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Blockchain-backed audit logs for tamper-proof access history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4261104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261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11112" y="42062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for anomaly detection and early-warning diagnostics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946904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946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48920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to train models without moving raw patient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946904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946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11112" y="48920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Wearable/IoT integration for continuous vitals streaming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632704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632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55778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interoperability with national health stacks like ABDM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5632704"/>
            <a:ext cx="292608" cy="29260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5632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11112" y="55778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6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failover for even stronger disaster resilience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 healthcare, the system must be as resilient as the people it serves.”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034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Performance-Optimized Distributed Healthcare Records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Questions welcome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HEALTHCARE RECORDS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1746</Words>
  <Application>Microsoft Office PowerPoint</Application>
  <PresentationFormat>Widescreen</PresentationFormat>
  <Paragraphs>417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 GANESAN</cp:lastModifiedBy>
  <cp:revision>2</cp:revision>
  <dcterms:created xsi:type="dcterms:W3CDTF">2026-08-17T17:33:59Z</dcterms:created>
  <dcterms:modified xsi:type="dcterms:W3CDTF">2026-08-17T17:37:02Z</dcterms:modified>
</cp:coreProperties>
</file>